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7" r:id="rId2"/>
    <p:sldId id="266" r:id="rId3"/>
    <p:sldId id="268" r:id="rId4"/>
    <p:sldId id="258" r:id="rId5"/>
    <p:sldId id="259" r:id="rId6"/>
    <p:sldId id="260" r:id="rId7"/>
    <p:sldId id="261" r:id="rId8"/>
    <p:sldId id="269" r:id="rId9"/>
    <p:sldId id="270" r:id="rId10"/>
    <p:sldId id="272" r:id="rId11"/>
    <p:sldId id="273" r:id="rId12"/>
    <p:sldId id="271" r:id="rId13"/>
    <p:sldId id="262" r:id="rId14"/>
    <p:sldId id="274" r:id="rId15"/>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21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1E4B"/>
    <a:srgbClr val="8DC1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113CC8-E74D-A849-A834-4DBD31FD2580}" v="3" dt="2025-03-19T23:14:00.0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972"/>
    <p:restoredTop sz="94662"/>
  </p:normalViewPr>
  <p:slideViewPr>
    <p:cSldViewPr snapToGrid="0">
      <p:cViewPr varScale="1">
        <p:scale>
          <a:sx n="76" d="100"/>
          <a:sy n="76" d="100"/>
        </p:scale>
        <p:origin x="72" y="110"/>
      </p:cViewPr>
      <p:guideLst>
        <p:guide orient="horz" pos="1026"/>
        <p:guide pos="21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9FF634-912E-44BA-ADC6-4B76EC27A88C}" type="doc">
      <dgm:prSet loTypeId="urn:microsoft.com/office/officeart/2005/8/layout/pyramid1" loCatId="pyramid" qsTypeId="urn:microsoft.com/office/officeart/2005/8/quickstyle/simple1" qsCatId="simple" csTypeId="urn:microsoft.com/office/officeart/2005/8/colors/accent6_4" csCatId="accent6" phldr="1"/>
      <dgm:spPr/>
    </dgm:pt>
    <dgm:pt modelId="{2101ECE0-B89A-4B3F-B76D-D421F64FD988}">
      <dgm:prSet phldrT="[Text]" phldr="0" custT="1"/>
      <dgm:spPr/>
      <dgm:t>
        <a:bodyPr/>
        <a:lstStyle/>
        <a:p>
          <a:endParaRPr lang="en-US" sz="2400" b="1">
            <a:latin typeface="Aptos Display" panose="02110004020202020204"/>
          </a:endParaRPr>
        </a:p>
        <a:p>
          <a:r>
            <a:rPr lang="en-US" sz="2400" b="1">
              <a:latin typeface="Aptos Display" panose="02110004020202020204"/>
            </a:rPr>
            <a:t>Birds</a:t>
          </a:r>
          <a:endParaRPr lang="en-US" sz="3100" b="1"/>
        </a:p>
      </dgm:t>
    </dgm:pt>
    <dgm:pt modelId="{522CEB6F-B1AD-4533-A2C9-6D19A0930093}" type="parTrans" cxnId="{343366C3-9462-4578-96AF-FDBB9C2A49CB}">
      <dgm:prSet/>
      <dgm:spPr/>
      <dgm:t>
        <a:bodyPr/>
        <a:lstStyle/>
        <a:p>
          <a:endParaRPr lang="en-GB"/>
        </a:p>
      </dgm:t>
    </dgm:pt>
    <dgm:pt modelId="{2745F7F9-CF50-455B-ABBC-0840DC0117F5}" type="sibTrans" cxnId="{343366C3-9462-4578-96AF-FDBB9C2A49CB}">
      <dgm:prSet/>
      <dgm:spPr/>
      <dgm:t>
        <a:bodyPr/>
        <a:lstStyle/>
        <a:p>
          <a:endParaRPr lang="en-GB"/>
        </a:p>
      </dgm:t>
    </dgm:pt>
    <dgm:pt modelId="{568CAA82-66D4-4671-B950-988CA9E1F8F5}">
      <dgm:prSet phldrT="[Text]" phldr="0"/>
      <dgm:spPr/>
      <dgm:t>
        <a:bodyPr/>
        <a:lstStyle/>
        <a:p>
          <a:pPr rtl="0"/>
          <a:r>
            <a:rPr lang="en-US" b="1">
              <a:latin typeface="Calibri"/>
              <a:ea typeface="Calibri"/>
              <a:cs typeface="Calibri"/>
            </a:rPr>
            <a:t>Licenses and Permits</a:t>
          </a:r>
        </a:p>
      </dgm:t>
    </dgm:pt>
    <dgm:pt modelId="{B53D2D7D-D50A-485B-9309-C3FB4675E055}" type="parTrans" cxnId="{2286C042-2343-447A-9BC4-A31A4AF05DC2}">
      <dgm:prSet/>
      <dgm:spPr/>
      <dgm:t>
        <a:bodyPr/>
        <a:lstStyle/>
        <a:p>
          <a:endParaRPr lang="en-GB"/>
        </a:p>
      </dgm:t>
    </dgm:pt>
    <dgm:pt modelId="{80727DCB-228E-4713-96CC-D5A699864694}" type="sibTrans" cxnId="{2286C042-2343-447A-9BC4-A31A4AF05DC2}">
      <dgm:prSet/>
      <dgm:spPr/>
      <dgm:t>
        <a:bodyPr/>
        <a:lstStyle/>
        <a:p>
          <a:endParaRPr lang="en-GB"/>
        </a:p>
      </dgm:t>
    </dgm:pt>
    <dgm:pt modelId="{B00AB1DF-B821-4649-80F1-E594B23FA857}">
      <dgm:prSet phldrT="[Text]" phldr="0"/>
      <dgm:spPr/>
      <dgm:t>
        <a:bodyPr/>
        <a:lstStyle/>
        <a:p>
          <a:pPr rtl="0"/>
          <a:r>
            <a:rPr lang="en-US" b="1">
              <a:latin typeface="Calibri"/>
              <a:ea typeface="Calibri"/>
              <a:cs typeface="Calibri"/>
            </a:rPr>
            <a:t>Drone Damage</a:t>
          </a:r>
          <a:endParaRPr lang="en-US">
            <a:latin typeface="Calibri"/>
            <a:ea typeface="Calibri"/>
            <a:cs typeface="Calibri"/>
          </a:endParaRPr>
        </a:p>
      </dgm:t>
    </dgm:pt>
    <dgm:pt modelId="{66DF35B9-3062-4E3A-AA1B-4E7FBCFE947E}" type="parTrans" cxnId="{25B499B0-51F9-4B14-82F2-2C39EF728E55}">
      <dgm:prSet/>
      <dgm:spPr/>
      <dgm:t>
        <a:bodyPr/>
        <a:lstStyle/>
        <a:p>
          <a:endParaRPr lang="en-GB"/>
        </a:p>
      </dgm:t>
    </dgm:pt>
    <dgm:pt modelId="{3400B8D7-D44F-4377-9705-DF68D07D061A}" type="sibTrans" cxnId="{25B499B0-51F9-4B14-82F2-2C39EF728E55}">
      <dgm:prSet/>
      <dgm:spPr/>
      <dgm:t>
        <a:bodyPr/>
        <a:lstStyle/>
        <a:p>
          <a:endParaRPr lang="en-GB"/>
        </a:p>
      </dgm:t>
    </dgm:pt>
    <dgm:pt modelId="{8E575971-1C59-4A53-B1B5-FCD91A327366}">
      <dgm:prSet phldr="0"/>
      <dgm:spPr/>
      <dgm:t>
        <a:bodyPr/>
        <a:lstStyle/>
        <a:p>
          <a:pPr rtl="0"/>
          <a:r>
            <a:rPr lang="en-US" b="1">
              <a:latin typeface="Calibri"/>
              <a:ea typeface="Calibri"/>
              <a:cs typeface="Calibri"/>
            </a:rPr>
            <a:t>Weather </a:t>
          </a:r>
          <a:endParaRPr lang="en-US" b="1">
            <a:latin typeface="Aptos Display" panose="02110004020202020204"/>
          </a:endParaRPr>
        </a:p>
      </dgm:t>
    </dgm:pt>
    <dgm:pt modelId="{3959B404-1022-4ED4-95F1-9C20A00ABCF3}" type="parTrans" cxnId="{852BF8DE-12BA-4674-866E-E86838A13F19}">
      <dgm:prSet/>
      <dgm:spPr/>
      <dgm:t>
        <a:bodyPr/>
        <a:lstStyle/>
        <a:p>
          <a:endParaRPr lang="en-GB"/>
        </a:p>
      </dgm:t>
    </dgm:pt>
    <dgm:pt modelId="{0783108E-80FC-4009-B722-5602CE5383B8}" type="sibTrans" cxnId="{852BF8DE-12BA-4674-866E-E86838A13F19}">
      <dgm:prSet/>
      <dgm:spPr/>
      <dgm:t>
        <a:bodyPr/>
        <a:lstStyle/>
        <a:p>
          <a:endParaRPr lang="en-GB"/>
        </a:p>
      </dgm:t>
    </dgm:pt>
    <dgm:pt modelId="{49B60137-D1F4-472C-96AD-B3D424B40968}">
      <dgm:prSet phldr="0"/>
      <dgm:spPr/>
      <dgm:t>
        <a:bodyPr/>
        <a:lstStyle/>
        <a:p>
          <a:pPr rtl="0"/>
          <a:r>
            <a:rPr lang="en-US" b="1">
              <a:latin typeface="Calibri"/>
              <a:ea typeface="Calibri"/>
              <a:cs typeface="Calibri"/>
            </a:rPr>
            <a:t>Insurance</a:t>
          </a:r>
          <a:endParaRPr lang="en-US">
            <a:latin typeface="Aptos Display" panose="02110004020202020204"/>
          </a:endParaRPr>
        </a:p>
      </dgm:t>
    </dgm:pt>
    <dgm:pt modelId="{1D86BE72-DCD5-4804-AD1D-4028664C39F5}" type="parTrans" cxnId="{0094FC23-CB48-4264-8AE3-D08B130E8B70}">
      <dgm:prSet/>
      <dgm:spPr/>
      <dgm:t>
        <a:bodyPr/>
        <a:lstStyle/>
        <a:p>
          <a:endParaRPr lang="en-GB"/>
        </a:p>
      </dgm:t>
    </dgm:pt>
    <dgm:pt modelId="{523250FF-D51F-49D0-9999-D247B03F0FB5}" type="sibTrans" cxnId="{0094FC23-CB48-4264-8AE3-D08B130E8B70}">
      <dgm:prSet/>
      <dgm:spPr/>
      <dgm:t>
        <a:bodyPr/>
        <a:lstStyle/>
        <a:p>
          <a:endParaRPr lang="en-GB"/>
        </a:p>
      </dgm:t>
    </dgm:pt>
    <dgm:pt modelId="{78B89FFE-65B3-4EFC-AFD3-9B89FE254446}">
      <dgm:prSet phldr="0"/>
      <dgm:spPr/>
      <dgm:t>
        <a:bodyPr/>
        <a:lstStyle/>
        <a:p>
          <a:r>
            <a:rPr lang="en-US" b="1">
              <a:latin typeface="Calibri"/>
              <a:ea typeface="Calibri"/>
              <a:cs typeface="Calibri"/>
            </a:rPr>
            <a:t>Recycling</a:t>
          </a:r>
          <a:endParaRPr lang="en-US">
            <a:latin typeface="Aptos Display"/>
            <a:ea typeface="Calibri"/>
            <a:cs typeface="Calibri"/>
          </a:endParaRPr>
        </a:p>
      </dgm:t>
    </dgm:pt>
    <dgm:pt modelId="{990F6210-B917-4632-92D5-3FAC4CD41B4B}" type="parTrans" cxnId="{1518143D-FCFB-4B2E-8DBE-0F073404B82C}">
      <dgm:prSet/>
      <dgm:spPr/>
      <dgm:t>
        <a:bodyPr/>
        <a:lstStyle/>
        <a:p>
          <a:endParaRPr lang="en-GB"/>
        </a:p>
      </dgm:t>
    </dgm:pt>
    <dgm:pt modelId="{D7381307-F1DD-43B7-9353-270EC3D61E13}" type="sibTrans" cxnId="{1518143D-FCFB-4B2E-8DBE-0F073404B82C}">
      <dgm:prSet/>
      <dgm:spPr/>
      <dgm:t>
        <a:bodyPr/>
        <a:lstStyle/>
        <a:p>
          <a:endParaRPr lang="en-GB"/>
        </a:p>
      </dgm:t>
    </dgm:pt>
    <dgm:pt modelId="{C904DC9E-1D0A-42E8-8A36-A546C12FC6A9}" type="pres">
      <dgm:prSet presAssocID="{229FF634-912E-44BA-ADC6-4B76EC27A88C}" presName="Name0" presStyleCnt="0">
        <dgm:presLayoutVars>
          <dgm:dir/>
          <dgm:animLvl val="lvl"/>
          <dgm:resizeHandles val="exact"/>
        </dgm:presLayoutVars>
      </dgm:prSet>
      <dgm:spPr/>
    </dgm:pt>
    <dgm:pt modelId="{F4561E7A-6378-4FB8-89AB-8F7762BBE474}" type="pres">
      <dgm:prSet presAssocID="{2101ECE0-B89A-4B3F-B76D-D421F64FD988}" presName="Name8" presStyleCnt="0"/>
      <dgm:spPr/>
    </dgm:pt>
    <dgm:pt modelId="{47B7AC86-79C1-49AA-A15D-3E4C38CC7C1C}" type="pres">
      <dgm:prSet presAssocID="{2101ECE0-B89A-4B3F-B76D-D421F64FD988}" presName="level" presStyleLbl="node1" presStyleIdx="0" presStyleCnt="6" custLinFactNeighborY="3418">
        <dgm:presLayoutVars>
          <dgm:chMax val="1"/>
          <dgm:bulletEnabled val="1"/>
        </dgm:presLayoutVars>
      </dgm:prSet>
      <dgm:spPr/>
    </dgm:pt>
    <dgm:pt modelId="{B19FF810-3C00-48CD-9702-72476343E34D}" type="pres">
      <dgm:prSet presAssocID="{2101ECE0-B89A-4B3F-B76D-D421F64FD988}" presName="levelTx" presStyleLbl="revTx" presStyleIdx="0" presStyleCnt="0">
        <dgm:presLayoutVars>
          <dgm:chMax val="1"/>
          <dgm:bulletEnabled val="1"/>
        </dgm:presLayoutVars>
      </dgm:prSet>
      <dgm:spPr/>
    </dgm:pt>
    <dgm:pt modelId="{E130C575-8934-4CE3-B79D-D68C05D94E4E}" type="pres">
      <dgm:prSet presAssocID="{78B89FFE-65B3-4EFC-AFD3-9B89FE254446}" presName="Name8" presStyleCnt="0"/>
      <dgm:spPr/>
    </dgm:pt>
    <dgm:pt modelId="{A4044819-B772-4EA9-92BD-0FF6D5E12180}" type="pres">
      <dgm:prSet presAssocID="{78B89FFE-65B3-4EFC-AFD3-9B89FE254446}" presName="level" presStyleLbl="node1" presStyleIdx="1" presStyleCnt="6">
        <dgm:presLayoutVars>
          <dgm:chMax val="1"/>
          <dgm:bulletEnabled val="1"/>
        </dgm:presLayoutVars>
      </dgm:prSet>
      <dgm:spPr/>
    </dgm:pt>
    <dgm:pt modelId="{25103C4C-5B1A-46BE-BCA0-668E42233960}" type="pres">
      <dgm:prSet presAssocID="{78B89FFE-65B3-4EFC-AFD3-9B89FE254446}" presName="levelTx" presStyleLbl="revTx" presStyleIdx="0" presStyleCnt="0">
        <dgm:presLayoutVars>
          <dgm:chMax val="1"/>
          <dgm:bulletEnabled val="1"/>
        </dgm:presLayoutVars>
      </dgm:prSet>
      <dgm:spPr/>
    </dgm:pt>
    <dgm:pt modelId="{2A9E987D-F9B5-4C0F-A693-469C87CA02EB}" type="pres">
      <dgm:prSet presAssocID="{568CAA82-66D4-4671-B950-988CA9E1F8F5}" presName="Name8" presStyleCnt="0"/>
      <dgm:spPr/>
    </dgm:pt>
    <dgm:pt modelId="{9C5FF0A6-934B-4006-8D9F-6805DA0FBB06}" type="pres">
      <dgm:prSet presAssocID="{568CAA82-66D4-4671-B950-988CA9E1F8F5}" presName="level" presStyleLbl="node1" presStyleIdx="2" presStyleCnt="6">
        <dgm:presLayoutVars>
          <dgm:chMax val="1"/>
          <dgm:bulletEnabled val="1"/>
        </dgm:presLayoutVars>
      </dgm:prSet>
      <dgm:spPr/>
    </dgm:pt>
    <dgm:pt modelId="{01525D21-5541-4DD4-9E27-48CB44A45F75}" type="pres">
      <dgm:prSet presAssocID="{568CAA82-66D4-4671-B950-988CA9E1F8F5}" presName="levelTx" presStyleLbl="revTx" presStyleIdx="0" presStyleCnt="0">
        <dgm:presLayoutVars>
          <dgm:chMax val="1"/>
          <dgm:bulletEnabled val="1"/>
        </dgm:presLayoutVars>
      </dgm:prSet>
      <dgm:spPr/>
    </dgm:pt>
    <dgm:pt modelId="{DC79C869-3B82-4B2B-AA28-16AFDE1C2F86}" type="pres">
      <dgm:prSet presAssocID="{B00AB1DF-B821-4649-80F1-E594B23FA857}" presName="Name8" presStyleCnt="0"/>
      <dgm:spPr/>
    </dgm:pt>
    <dgm:pt modelId="{936DEFFB-C22A-4F62-B935-7E5D2776FE37}" type="pres">
      <dgm:prSet presAssocID="{B00AB1DF-B821-4649-80F1-E594B23FA857}" presName="level" presStyleLbl="node1" presStyleIdx="3" presStyleCnt="6">
        <dgm:presLayoutVars>
          <dgm:chMax val="1"/>
          <dgm:bulletEnabled val="1"/>
        </dgm:presLayoutVars>
      </dgm:prSet>
      <dgm:spPr/>
    </dgm:pt>
    <dgm:pt modelId="{3AC0E9B4-67D0-4CA3-B3C1-E16956DD2CA3}" type="pres">
      <dgm:prSet presAssocID="{B00AB1DF-B821-4649-80F1-E594B23FA857}" presName="levelTx" presStyleLbl="revTx" presStyleIdx="0" presStyleCnt="0">
        <dgm:presLayoutVars>
          <dgm:chMax val="1"/>
          <dgm:bulletEnabled val="1"/>
        </dgm:presLayoutVars>
      </dgm:prSet>
      <dgm:spPr/>
    </dgm:pt>
    <dgm:pt modelId="{FBBC3E90-2038-4C8F-BA6F-661ABDCB9847}" type="pres">
      <dgm:prSet presAssocID="{8E575971-1C59-4A53-B1B5-FCD91A327366}" presName="Name8" presStyleCnt="0"/>
      <dgm:spPr/>
    </dgm:pt>
    <dgm:pt modelId="{388AD237-C153-47C6-9666-3C735C4DA357}" type="pres">
      <dgm:prSet presAssocID="{8E575971-1C59-4A53-B1B5-FCD91A327366}" presName="level" presStyleLbl="node1" presStyleIdx="4" presStyleCnt="6">
        <dgm:presLayoutVars>
          <dgm:chMax val="1"/>
          <dgm:bulletEnabled val="1"/>
        </dgm:presLayoutVars>
      </dgm:prSet>
      <dgm:spPr/>
    </dgm:pt>
    <dgm:pt modelId="{5C754C77-9DC9-4936-8940-023338A85EAB}" type="pres">
      <dgm:prSet presAssocID="{8E575971-1C59-4A53-B1B5-FCD91A327366}" presName="levelTx" presStyleLbl="revTx" presStyleIdx="0" presStyleCnt="0">
        <dgm:presLayoutVars>
          <dgm:chMax val="1"/>
          <dgm:bulletEnabled val="1"/>
        </dgm:presLayoutVars>
      </dgm:prSet>
      <dgm:spPr/>
    </dgm:pt>
    <dgm:pt modelId="{CFCAC879-6B22-41A8-AAED-A50FA52C57D8}" type="pres">
      <dgm:prSet presAssocID="{49B60137-D1F4-472C-96AD-B3D424B40968}" presName="Name8" presStyleCnt="0"/>
      <dgm:spPr/>
    </dgm:pt>
    <dgm:pt modelId="{DAA22C83-1912-4D3A-921B-C76288B3A9EA}" type="pres">
      <dgm:prSet presAssocID="{49B60137-D1F4-472C-96AD-B3D424B40968}" presName="level" presStyleLbl="node1" presStyleIdx="5" presStyleCnt="6">
        <dgm:presLayoutVars>
          <dgm:chMax val="1"/>
          <dgm:bulletEnabled val="1"/>
        </dgm:presLayoutVars>
      </dgm:prSet>
      <dgm:spPr/>
    </dgm:pt>
    <dgm:pt modelId="{9C1FDF72-96B4-4E78-9824-F2FE39EC6593}" type="pres">
      <dgm:prSet presAssocID="{49B60137-D1F4-472C-96AD-B3D424B40968}" presName="levelTx" presStyleLbl="revTx" presStyleIdx="0" presStyleCnt="0">
        <dgm:presLayoutVars>
          <dgm:chMax val="1"/>
          <dgm:bulletEnabled val="1"/>
        </dgm:presLayoutVars>
      </dgm:prSet>
      <dgm:spPr/>
    </dgm:pt>
  </dgm:ptLst>
  <dgm:cxnLst>
    <dgm:cxn modelId="{2DECF105-2875-485B-8D17-1D44F6C2BBAF}" type="presOf" srcId="{568CAA82-66D4-4671-B950-988CA9E1F8F5}" destId="{01525D21-5541-4DD4-9E27-48CB44A45F75}" srcOrd="1" destOrd="0" presId="urn:microsoft.com/office/officeart/2005/8/layout/pyramid1"/>
    <dgm:cxn modelId="{A6C6340D-B040-428A-9BAF-61FE88410458}" type="presOf" srcId="{78B89FFE-65B3-4EFC-AFD3-9B89FE254446}" destId="{25103C4C-5B1A-46BE-BCA0-668E42233960}" srcOrd="1" destOrd="0" presId="urn:microsoft.com/office/officeart/2005/8/layout/pyramid1"/>
    <dgm:cxn modelId="{F34B1C17-FA8A-4228-803D-01384B6FFF13}" type="presOf" srcId="{49B60137-D1F4-472C-96AD-B3D424B40968}" destId="{DAA22C83-1912-4D3A-921B-C76288B3A9EA}" srcOrd="0" destOrd="0" presId="urn:microsoft.com/office/officeart/2005/8/layout/pyramid1"/>
    <dgm:cxn modelId="{0094FC23-CB48-4264-8AE3-D08B130E8B70}" srcId="{229FF634-912E-44BA-ADC6-4B76EC27A88C}" destId="{49B60137-D1F4-472C-96AD-B3D424B40968}" srcOrd="5" destOrd="0" parTransId="{1D86BE72-DCD5-4804-AD1D-4028664C39F5}" sibTransId="{523250FF-D51F-49D0-9999-D247B03F0FB5}"/>
    <dgm:cxn modelId="{6B98592B-D227-422A-826F-97DDC4CE8F4C}" type="presOf" srcId="{B00AB1DF-B821-4649-80F1-E594B23FA857}" destId="{3AC0E9B4-67D0-4CA3-B3C1-E16956DD2CA3}" srcOrd="1" destOrd="0" presId="urn:microsoft.com/office/officeart/2005/8/layout/pyramid1"/>
    <dgm:cxn modelId="{599DEB35-8DA3-40DB-BB61-5444CF1179B5}" type="presOf" srcId="{568CAA82-66D4-4671-B950-988CA9E1F8F5}" destId="{9C5FF0A6-934B-4006-8D9F-6805DA0FBB06}" srcOrd="0" destOrd="0" presId="urn:microsoft.com/office/officeart/2005/8/layout/pyramid1"/>
    <dgm:cxn modelId="{43BEBE3A-B990-4E60-A117-864D9C0A523A}" type="presOf" srcId="{229FF634-912E-44BA-ADC6-4B76EC27A88C}" destId="{C904DC9E-1D0A-42E8-8A36-A546C12FC6A9}" srcOrd="0" destOrd="0" presId="urn:microsoft.com/office/officeart/2005/8/layout/pyramid1"/>
    <dgm:cxn modelId="{1518143D-FCFB-4B2E-8DBE-0F073404B82C}" srcId="{229FF634-912E-44BA-ADC6-4B76EC27A88C}" destId="{78B89FFE-65B3-4EFC-AFD3-9B89FE254446}" srcOrd="1" destOrd="0" parTransId="{990F6210-B917-4632-92D5-3FAC4CD41B4B}" sibTransId="{D7381307-F1DD-43B7-9353-270EC3D61E13}"/>
    <dgm:cxn modelId="{2286C042-2343-447A-9BC4-A31A4AF05DC2}" srcId="{229FF634-912E-44BA-ADC6-4B76EC27A88C}" destId="{568CAA82-66D4-4671-B950-988CA9E1F8F5}" srcOrd="2" destOrd="0" parTransId="{B53D2D7D-D50A-485B-9309-C3FB4675E055}" sibTransId="{80727DCB-228E-4713-96CC-D5A699864694}"/>
    <dgm:cxn modelId="{A05CF16B-8493-4B1F-AACB-1051100DFAFA}" type="presOf" srcId="{49B60137-D1F4-472C-96AD-B3D424B40968}" destId="{9C1FDF72-96B4-4E78-9824-F2FE39EC6593}" srcOrd="1" destOrd="0" presId="urn:microsoft.com/office/officeart/2005/8/layout/pyramid1"/>
    <dgm:cxn modelId="{D0CE1653-9C3C-43AC-8A1C-501702586AD5}" type="presOf" srcId="{B00AB1DF-B821-4649-80F1-E594B23FA857}" destId="{936DEFFB-C22A-4F62-B935-7E5D2776FE37}" srcOrd="0" destOrd="0" presId="urn:microsoft.com/office/officeart/2005/8/layout/pyramid1"/>
    <dgm:cxn modelId="{859C7195-6F4A-4045-B719-E683F2B03E45}" type="presOf" srcId="{78B89FFE-65B3-4EFC-AFD3-9B89FE254446}" destId="{A4044819-B772-4EA9-92BD-0FF6D5E12180}" srcOrd="0" destOrd="0" presId="urn:microsoft.com/office/officeart/2005/8/layout/pyramid1"/>
    <dgm:cxn modelId="{25B499B0-51F9-4B14-82F2-2C39EF728E55}" srcId="{229FF634-912E-44BA-ADC6-4B76EC27A88C}" destId="{B00AB1DF-B821-4649-80F1-E594B23FA857}" srcOrd="3" destOrd="0" parTransId="{66DF35B9-3062-4E3A-AA1B-4E7FBCFE947E}" sibTransId="{3400B8D7-D44F-4377-9705-DF68D07D061A}"/>
    <dgm:cxn modelId="{A537C7BA-6556-4A47-86AB-502578E1BA11}" type="presOf" srcId="{8E575971-1C59-4A53-B1B5-FCD91A327366}" destId="{5C754C77-9DC9-4936-8940-023338A85EAB}" srcOrd="1" destOrd="0" presId="urn:microsoft.com/office/officeart/2005/8/layout/pyramid1"/>
    <dgm:cxn modelId="{B31B4CC2-4BF0-48A5-A0F3-F65180012676}" type="presOf" srcId="{2101ECE0-B89A-4B3F-B76D-D421F64FD988}" destId="{47B7AC86-79C1-49AA-A15D-3E4C38CC7C1C}" srcOrd="0" destOrd="0" presId="urn:microsoft.com/office/officeart/2005/8/layout/pyramid1"/>
    <dgm:cxn modelId="{343366C3-9462-4578-96AF-FDBB9C2A49CB}" srcId="{229FF634-912E-44BA-ADC6-4B76EC27A88C}" destId="{2101ECE0-B89A-4B3F-B76D-D421F64FD988}" srcOrd="0" destOrd="0" parTransId="{522CEB6F-B1AD-4533-A2C9-6D19A0930093}" sibTransId="{2745F7F9-CF50-455B-ABBC-0840DC0117F5}"/>
    <dgm:cxn modelId="{852BF8DE-12BA-4674-866E-E86838A13F19}" srcId="{229FF634-912E-44BA-ADC6-4B76EC27A88C}" destId="{8E575971-1C59-4A53-B1B5-FCD91A327366}" srcOrd="4" destOrd="0" parTransId="{3959B404-1022-4ED4-95F1-9C20A00ABCF3}" sibTransId="{0783108E-80FC-4009-B722-5602CE5383B8}"/>
    <dgm:cxn modelId="{BB9CC7E9-CA9F-4204-8A7F-F278CD214A65}" type="presOf" srcId="{2101ECE0-B89A-4B3F-B76D-D421F64FD988}" destId="{B19FF810-3C00-48CD-9702-72476343E34D}" srcOrd="1" destOrd="0" presId="urn:microsoft.com/office/officeart/2005/8/layout/pyramid1"/>
    <dgm:cxn modelId="{4CA5EBFD-667A-43D2-AD6A-FF460E6A4B4D}" type="presOf" srcId="{8E575971-1C59-4A53-B1B5-FCD91A327366}" destId="{388AD237-C153-47C6-9666-3C735C4DA357}" srcOrd="0" destOrd="0" presId="urn:microsoft.com/office/officeart/2005/8/layout/pyramid1"/>
    <dgm:cxn modelId="{7CA2800F-8F25-4432-A1A8-3534F8697C62}" type="presParOf" srcId="{C904DC9E-1D0A-42E8-8A36-A546C12FC6A9}" destId="{F4561E7A-6378-4FB8-89AB-8F7762BBE474}" srcOrd="0" destOrd="0" presId="urn:microsoft.com/office/officeart/2005/8/layout/pyramid1"/>
    <dgm:cxn modelId="{645138CB-BEBE-4389-9DBF-93CF9392F055}" type="presParOf" srcId="{F4561E7A-6378-4FB8-89AB-8F7762BBE474}" destId="{47B7AC86-79C1-49AA-A15D-3E4C38CC7C1C}" srcOrd="0" destOrd="0" presId="urn:microsoft.com/office/officeart/2005/8/layout/pyramid1"/>
    <dgm:cxn modelId="{39DDFD0E-D29B-4D68-B218-58387A110F56}" type="presParOf" srcId="{F4561E7A-6378-4FB8-89AB-8F7762BBE474}" destId="{B19FF810-3C00-48CD-9702-72476343E34D}" srcOrd="1" destOrd="0" presId="urn:microsoft.com/office/officeart/2005/8/layout/pyramid1"/>
    <dgm:cxn modelId="{33305375-918D-40E4-BB82-ADDBB26FE319}" type="presParOf" srcId="{C904DC9E-1D0A-42E8-8A36-A546C12FC6A9}" destId="{E130C575-8934-4CE3-B79D-D68C05D94E4E}" srcOrd="1" destOrd="0" presId="urn:microsoft.com/office/officeart/2005/8/layout/pyramid1"/>
    <dgm:cxn modelId="{D7E6A806-D763-4FC1-8A36-96382C18DC73}" type="presParOf" srcId="{E130C575-8934-4CE3-B79D-D68C05D94E4E}" destId="{A4044819-B772-4EA9-92BD-0FF6D5E12180}" srcOrd="0" destOrd="0" presId="urn:microsoft.com/office/officeart/2005/8/layout/pyramid1"/>
    <dgm:cxn modelId="{80D62AB9-CBCA-4CD3-BB02-978EB3149860}" type="presParOf" srcId="{E130C575-8934-4CE3-B79D-D68C05D94E4E}" destId="{25103C4C-5B1A-46BE-BCA0-668E42233960}" srcOrd="1" destOrd="0" presId="urn:microsoft.com/office/officeart/2005/8/layout/pyramid1"/>
    <dgm:cxn modelId="{F1EEB70C-AAEF-449E-82E8-C77AC92E7B10}" type="presParOf" srcId="{C904DC9E-1D0A-42E8-8A36-A546C12FC6A9}" destId="{2A9E987D-F9B5-4C0F-A693-469C87CA02EB}" srcOrd="2" destOrd="0" presId="urn:microsoft.com/office/officeart/2005/8/layout/pyramid1"/>
    <dgm:cxn modelId="{C53F95C4-EEB1-449C-81CC-2890989F3B28}" type="presParOf" srcId="{2A9E987D-F9B5-4C0F-A693-469C87CA02EB}" destId="{9C5FF0A6-934B-4006-8D9F-6805DA0FBB06}" srcOrd="0" destOrd="0" presId="urn:microsoft.com/office/officeart/2005/8/layout/pyramid1"/>
    <dgm:cxn modelId="{ED31AE20-A04B-448F-8BE4-C7A91AA1A6DA}" type="presParOf" srcId="{2A9E987D-F9B5-4C0F-A693-469C87CA02EB}" destId="{01525D21-5541-4DD4-9E27-48CB44A45F75}" srcOrd="1" destOrd="0" presId="urn:microsoft.com/office/officeart/2005/8/layout/pyramid1"/>
    <dgm:cxn modelId="{0C57FCC5-192E-4CDD-860F-89DB1A5E5AB1}" type="presParOf" srcId="{C904DC9E-1D0A-42E8-8A36-A546C12FC6A9}" destId="{DC79C869-3B82-4B2B-AA28-16AFDE1C2F86}" srcOrd="3" destOrd="0" presId="urn:microsoft.com/office/officeart/2005/8/layout/pyramid1"/>
    <dgm:cxn modelId="{9CA6E9A6-A140-41B6-8B53-3DF315653FB7}" type="presParOf" srcId="{DC79C869-3B82-4B2B-AA28-16AFDE1C2F86}" destId="{936DEFFB-C22A-4F62-B935-7E5D2776FE37}" srcOrd="0" destOrd="0" presId="urn:microsoft.com/office/officeart/2005/8/layout/pyramid1"/>
    <dgm:cxn modelId="{ABEC275A-1486-471D-AA9B-DED5C53665FC}" type="presParOf" srcId="{DC79C869-3B82-4B2B-AA28-16AFDE1C2F86}" destId="{3AC0E9B4-67D0-4CA3-B3C1-E16956DD2CA3}" srcOrd="1" destOrd="0" presId="urn:microsoft.com/office/officeart/2005/8/layout/pyramid1"/>
    <dgm:cxn modelId="{0599F691-CA5E-4498-96B7-1EF2CF556708}" type="presParOf" srcId="{C904DC9E-1D0A-42E8-8A36-A546C12FC6A9}" destId="{FBBC3E90-2038-4C8F-BA6F-661ABDCB9847}" srcOrd="4" destOrd="0" presId="urn:microsoft.com/office/officeart/2005/8/layout/pyramid1"/>
    <dgm:cxn modelId="{FA5C1879-4FDE-4AFB-A37E-B434B60A3D3C}" type="presParOf" srcId="{FBBC3E90-2038-4C8F-BA6F-661ABDCB9847}" destId="{388AD237-C153-47C6-9666-3C735C4DA357}" srcOrd="0" destOrd="0" presId="urn:microsoft.com/office/officeart/2005/8/layout/pyramid1"/>
    <dgm:cxn modelId="{8EADD39F-8986-452C-B46C-739E8A29FD3C}" type="presParOf" srcId="{FBBC3E90-2038-4C8F-BA6F-661ABDCB9847}" destId="{5C754C77-9DC9-4936-8940-023338A85EAB}" srcOrd="1" destOrd="0" presId="urn:microsoft.com/office/officeart/2005/8/layout/pyramid1"/>
    <dgm:cxn modelId="{7B8A8D93-6840-46AE-96AC-FA334318F63A}" type="presParOf" srcId="{C904DC9E-1D0A-42E8-8A36-A546C12FC6A9}" destId="{CFCAC879-6B22-41A8-AAED-A50FA52C57D8}" srcOrd="5" destOrd="0" presId="urn:microsoft.com/office/officeart/2005/8/layout/pyramid1"/>
    <dgm:cxn modelId="{C47EB21B-64D8-42AC-818B-1CBCCA85FD93}" type="presParOf" srcId="{CFCAC879-6B22-41A8-AAED-A50FA52C57D8}" destId="{DAA22C83-1912-4D3A-921B-C76288B3A9EA}" srcOrd="0" destOrd="0" presId="urn:microsoft.com/office/officeart/2005/8/layout/pyramid1"/>
    <dgm:cxn modelId="{0FA5C26E-2B74-41C3-AEB1-0738230B49C4}" type="presParOf" srcId="{CFCAC879-6B22-41A8-AAED-A50FA52C57D8}" destId="{9C1FDF72-96B4-4E78-9824-F2FE39EC6593}"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1B6FB4-56E5-4C7F-A6AA-50B5CCCCEDE5}" type="doc">
      <dgm:prSet loTypeId="urn:microsoft.com/office/officeart/2005/8/layout/hList1" loCatId="list" qsTypeId="urn:microsoft.com/office/officeart/2005/8/quickstyle/simple1" qsCatId="simple" csTypeId="urn:microsoft.com/office/officeart/2005/8/colors/accent1_1" csCatId="accent1" phldr="1"/>
      <dgm:spPr/>
      <dgm:t>
        <a:bodyPr/>
        <a:lstStyle/>
        <a:p>
          <a:endParaRPr lang="en-GB"/>
        </a:p>
      </dgm:t>
    </dgm:pt>
    <dgm:pt modelId="{115170D4-C383-420C-8EE5-339B5CB5C9B4}">
      <dgm:prSet phldrT="[Text]" phldr="0"/>
      <dgm:spPr>
        <a:solidFill>
          <a:srgbClr val="051E4B"/>
        </a:solidFill>
        <a:ln>
          <a:noFill/>
        </a:ln>
      </dgm:spPr>
      <dgm:t>
        <a:bodyPr/>
        <a:lstStyle/>
        <a:p>
          <a:r>
            <a:rPr lang="en-GB">
              <a:solidFill>
                <a:schemeClr val="bg1"/>
              </a:solidFill>
              <a:latin typeface="Aptos Display" panose="02110004020202020204"/>
            </a:rPr>
            <a:t>First</a:t>
          </a:r>
          <a:endParaRPr lang="en-GB">
            <a:solidFill>
              <a:schemeClr val="bg1"/>
            </a:solidFill>
          </a:endParaRPr>
        </a:p>
      </dgm:t>
    </dgm:pt>
    <dgm:pt modelId="{54B7C0C9-4F43-4298-8915-2B22DE012653}" type="parTrans" cxnId="{7C585AD3-7426-4DA1-86F4-67644FEC481F}">
      <dgm:prSet/>
      <dgm:spPr/>
      <dgm:t>
        <a:bodyPr/>
        <a:lstStyle/>
        <a:p>
          <a:endParaRPr lang="en-GB"/>
        </a:p>
      </dgm:t>
    </dgm:pt>
    <dgm:pt modelId="{AB34A47E-E83F-4F13-A8EC-BDC361F764EC}" type="sibTrans" cxnId="{7C585AD3-7426-4DA1-86F4-67644FEC481F}">
      <dgm:prSet/>
      <dgm:spPr/>
      <dgm:t>
        <a:bodyPr/>
        <a:lstStyle/>
        <a:p>
          <a:endParaRPr lang="en-GB"/>
        </a:p>
      </dgm:t>
    </dgm:pt>
    <dgm:pt modelId="{E1E56665-6607-466A-85CF-26BCB7632EBB}">
      <dgm:prSet phldrT="[Text]" phldr="0"/>
      <dgm:spPr>
        <a:solidFill>
          <a:srgbClr val="051E4B"/>
        </a:solidFill>
        <a:ln>
          <a:noFill/>
        </a:ln>
      </dgm:spPr>
      <dgm:t>
        <a:bodyPr/>
        <a:lstStyle/>
        <a:p>
          <a:pPr rtl="0"/>
          <a:r>
            <a:rPr lang="en-GB">
              <a:solidFill>
                <a:schemeClr val="bg1"/>
              </a:solidFill>
              <a:latin typeface="Aptos Display" panose="02110004020202020204"/>
            </a:rPr>
            <a:t>Second</a:t>
          </a:r>
          <a:endParaRPr lang="en-GB">
            <a:solidFill>
              <a:schemeClr val="bg1"/>
            </a:solidFill>
          </a:endParaRPr>
        </a:p>
      </dgm:t>
    </dgm:pt>
    <dgm:pt modelId="{5946D41A-5A0E-477A-8E09-D1C26201B3DB}" type="parTrans" cxnId="{AC7F62FE-E949-4DC3-B309-7804CD62AC92}">
      <dgm:prSet/>
      <dgm:spPr/>
      <dgm:t>
        <a:bodyPr/>
        <a:lstStyle/>
        <a:p>
          <a:endParaRPr lang="en-GB"/>
        </a:p>
      </dgm:t>
    </dgm:pt>
    <dgm:pt modelId="{48E28F4F-B9D6-4753-B9C5-1E63F6590273}" type="sibTrans" cxnId="{AC7F62FE-E949-4DC3-B309-7804CD62AC92}">
      <dgm:prSet/>
      <dgm:spPr/>
      <dgm:t>
        <a:bodyPr/>
        <a:lstStyle/>
        <a:p>
          <a:endParaRPr lang="en-GB"/>
        </a:p>
      </dgm:t>
    </dgm:pt>
    <dgm:pt modelId="{741FF0A2-500D-49CB-B1B2-426844E641AE}">
      <dgm:prSet phldrT="[Text]" phldr="0"/>
      <dgm:spPr>
        <a:solidFill>
          <a:srgbClr val="051E4B"/>
        </a:solidFill>
        <a:ln>
          <a:noFill/>
        </a:ln>
      </dgm:spPr>
      <dgm:t>
        <a:bodyPr/>
        <a:lstStyle/>
        <a:p>
          <a:pPr rtl="0"/>
          <a:r>
            <a:rPr lang="en-GB">
              <a:solidFill>
                <a:schemeClr val="bg1"/>
              </a:solidFill>
              <a:latin typeface="Aptos Display" panose="02110004020202020204"/>
            </a:rPr>
            <a:t>Third</a:t>
          </a:r>
          <a:endParaRPr lang="en-GB">
            <a:solidFill>
              <a:schemeClr val="bg1"/>
            </a:solidFill>
          </a:endParaRPr>
        </a:p>
      </dgm:t>
    </dgm:pt>
    <dgm:pt modelId="{C157166B-2055-4AEB-B2E6-D166BD6CB379}" type="parTrans" cxnId="{343E8AFC-4E80-40A2-A142-750B7326D71B}">
      <dgm:prSet/>
      <dgm:spPr/>
      <dgm:t>
        <a:bodyPr/>
        <a:lstStyle/>
        <a:p>
          <a:endParaRPr lang="en-GB"/>
        </a:p>
      </dgm:t>
    </dgm:pt>
    <dgm:pt modelId="{8E3D1257-B7E1-485B-A218-596902C63A92}" type="sibTrans" cxnId="{343E8AFC-4E80-40A2-A142-750B7326D71B}">
      <dgm:prSet/>
      <dgm:spPr/>
      <dgm:t>
        <a:bodyPr/>
        <a:lstStyle/>
        <a:p>
          <a:endParaRPr lang="en-GB"/>
        </a:p>
      </dgm:t>
    </dgm:pt>
    <dgm:pt modelId="{86D87687-4652-4509-BB75-075F7582A493}">
      <dgm:prSet phldrT="[Text]" phldr="0"/>
      <dgm:spPr>
        <a:solidFill>
          <a:srgbClr val="051E4B"/>
        </a:solidFill>
        <a:ln>
          <a:noFill/>
        </a:ln>
      </dgm:spPr>
      <dgm:t>
        <a:bodyPr/>
        <a:lstStyle/>
        <a:p>
          <a:pPr rtl="0"/>
          <a:r>
            <a:rPr lang="en-GB">
              <a:latin typeface="Calibri"/>
              <a:ea typeface="Calibri"/>
              <a:cs typeface="Calibri"/>
            </a:rPr>
            <a:t> </a:t>
          </a:r>
          <a:r>
            <a:rPr lang="en-GB">
              <a:solidFill>
                <a:schemeClr val="bg1"/>
              </a:solidFill>
              <a:latin typeface="Calibri"/>
              <a:ea typeface="Calibri"/>
              <a:cs typeface="Calibri"/>
            </a:rPr>
            <a:t>Fourth</a:t>
          </a:r>
        </a:p>
      </dgm:t>
    </dgm:pt>
    <dgm:pt modelId="{45FE21E6-D0F8-4608-BADC-8A0379E2C953}" type="parTrans" cxnId="{5795DBD6-F118-4959-A436-7FAC0B91058D}">
      <dgm:prSet/>
      <dgm:spPr/>
      <dgm:t>
        <a:bodyPr/>
        <a:lstStyle/>
        <a:p>
          <a:endParaRPr lang="en-GB"/>
        </a:p>
      </dgm:t>
    </dgm:pt>
    <dgm:pt modelId="{7F278E5E-4FDC-4301-9AC1-80A0D10867EC}" type="sibTrans" cxnId="{5795DBD6-F118-4959-A436-7FAC0B91058D}">
      <dgm:prSet/>
      <dgm:spPr/>
      <dgm:t>
        <a:bodyPr/>
        <a:lstStyle/>
        <a:p>
          <a:endParaRPr lang="en-GB"/>
        </a:p>
      </dgm:t>
    </dgm:pt>
    <dgm:pt modelId="{72EAF99A-0F88-4018-A4C4-93628C97450E}">
      <dgm:prSet phldr="0" custT="1"/>
      <dgm:spPr>
        <a:noFill/>
        <a:ln>
          <a:solidFill>
            <a:srgbClr val="051E4B">
              <a:alpha val="90000"/>
            </a:srgbClr>
          </a:solidFill>
        </a:ln>
      </dgm:spPr>
      <dgm:t>
        <a:bodyPr/>
        <a:lstStyle/>
        <a:p>
          <a:pPr rtl="0"/>
          <a:r>
            <a:rPr lang="en-GB" sz="2400"/>
            <a:t> Implement drones for small to medium-sized farms</a:t>
          </a:r>
          <a:endParaRPr lang="en-GB" sz="2400">
            <a:latin typeface="Aptos Display" panose="02110004020202020204"/>
          </a:endParaRPr>
        </a:p>
      </dgm:t>
    </dgm:pt>
    <dgm:pt modelId="{F4D8E91E-3948-4317-9BF7-9EC4455B9AE4}" type="parTrans" cxnId="{4578B5BC-DC0A-451D-98F8-58CBE879EFE1}">
      <dgm:prSet/>
      <dgm:spPr/>
      <dgm:t>
        <a:bodyPr/>
        <a:lstStyle/>
        <a:p>
          <a:endParaRPr lang="en-GB"/>
        </a:p>
      </dgm:t>
    </dgm:pt>
    <dgm:pt modelId="{A0A5E3DD-CC99-405A-B54F-41412B7CD6ED}" type="sibTrans" cxnId="{4578B5BC-DC0A-451D-98F8-58CBE879EFE1}">
      <dgm:prSet/>
      <dgm:spPr/>
      <dgm:t>
        <a:bodyPr/>
        <a:lstStyle/>
        <a:p>
          <a:endParaRPr lang="en-GB"/>
        </a:p>
      </dgm:t>
    </dgm:pt>
    <dgm:pt modelId="{BC6579D8-F324-4844-A7F3-AF59F8787FE6}">
      <dgm:prSet phldr="0" custT="1"/>
      <dgm:spPr>
        <a:ln>
          <a:solidFill>
            <a:srgbClr val="051E4B">
              <a:alpha val="90000"/>
            </a:srgbClr>
          </a:solidFill>
        </a:ln>
      </dgm:spPr>
      <dgm:t>
        <a:bodyPr/>
        <a:lstStyle/>
        <a:p>
          <a:pPr rtl="0"/>
          <a:r>
            <a:rPr lang="en-GB" sz="2400"/>
            <a:t>Cost-effective, efficient, and sustainable</a:t>
          </a:r>
        </a:p>
      </dgm:t>
    </dgm:pt>
    <dgm:pt modelId="{43C293D7-9A8C-4314-BB4C-BAF4C616A2FF}" type="parTrans" cxnId="{66EE4274-A1C0-40C3-BDD8-5BA8E6981446}">
      <dgm:prSet/>
      <dgm:spPr/>
      <dgm:t>
        <a:bodyPr/>
        <a:lstStyle/>
        <a:p>
          <a:endParaRPr lang="en-GB"/>
        </a:p>
      </dgm:t>
    </dgm:pt>
    <dgm:pt modelId="{C73E4610-33DD-4952-BCA5-275D3B1D4D71}" type="sibTrans" cxnId="{66EE4274-A1C0-40C3-BDD8-5BA8E6981446}">
      <dgm:prSet/>
      <dgm:spPr/>
      <dgm:t>
        <a:bodyPr/>
        <a:lstStyle/>
        <a:p>
          <a:endParaRPr lang="en-GB"/>
        </a:p>
      </dgm:t>
    </dgm:pt>
    <dgm:pt modelId="{63C0A8C5-717B-402D-82FF-6F110D4836FD}">
      <dgm:prSet phldr="0" custT="1"/>
      <dgm:spPr>
        <a:ln>
          <a:solidFill>
            <a:srgbClr val="051E4B">
              <a:alpha val="90000"/>
            </a:srgbClr>
          </a:solidFill>
        </a:ln>
      </dgm:spPr>
      <dgm:t>
        <a:bodyPr/>
        <a:lstStyle/>
        <a:p>
          <a:pPr rtl="0"/>
          <a:r>
            <a:rPr lang="en-GB" sz="2400"/>
            <a:t>Advanced drones with high-resolution cameras &amp; sensors</a:t>
          </a:r>
          <a:endParaRPr lang="en-GB" sz="2400">
            <a:latin typeface="Aptos Display" panose="02110004020202020204"/>
          </a:endParaRPr>
        </a:p>
      </dgm:t>
    </dgm:pt>
    <dgm:pt modelId="{432CEDAB-AE94-475F-B001-459055C041AA}" type="parTrans" cxnId="{0B538F15-CCB4-44D3-9CA3-91C903EB5563}">
      <dgm:prSet/>
      <dgm:spPr/>
      <dgm:t>
        <a:bodyPr/>
        <a:lstStyle/>
        <a:p>
          <a:endParaRPr lang="en-GB"/>
        </a:p>
      </dgm:t>
    </dgm:pt>
    <dgm:pt modelId="{FD69F4F8-ABB6-463F-83CB-12DC8A1B5F09}" type="sibTrans" cxnId="{0B538F15-CCB4-44D3-9CA3-91C903EB5563}">
      <dgm:prSet/>
      <dgm:spPr/>
      <dgm:t>
        <a:bodyPr/>
        <a:lstStyle/>
        <a:p>
          <a:endParaRPr lang="en-GB"/>
        </a:p>
      </dgm:t>
    </dgm:pt>
    <dgm:pt modelId="{C00E0B26-62FD-47BD-ADB8-45BBECF1E839}">
      <dgm:prSet phldr="0" custT="1"/>
      <dgm:spPr>
        <a:ln>
          <a:solidFill>
            <a:srgbClr val="051E4B">
              <a:alpha val="90000"/>
            </a:srgbClr>
          </a:solidFill>
        </a:ln>
      </dgm:spPr>
      <dgm:t>
        <a:bodyPr/>
        <a:lstStyle/>
        <a:p>
          <a:pPr rtl="0"/>
          <a:r>
            <a:rPr lang="en-GB" sz="2400"/>
            <a:t> Integrated with data analytics for decision-making</a:t>
          </a:r>
          <a:endParaRPr lang="en-GB" sz="2400">
            <a:latin typeface="Calibri"/>
            <a:ea typeface="Calibri"/>
            <a:cs typeface="Calibri"/>
          </a:endParaRPr>
        </a:p>
      </dgm:t>
    </dgm:pt>
    <dgm:pt modelId="{8343208E-AEA1-4A65-98D6-D8975BF54897}" type="parTrans" cxnId="{F7AB8217-8D0D-4C9B-B22C-D36F83523E77}">
      <dgm:prSet/>
      <dgm:spPr/>
      <dgm:t>
        <a:bodyPr/>
        <a:lstStyle/>
        <a:p>
          <a:endParaRPr lang="en-GB"/>
        </a:p>
      </dgm:t>
    </dgm:pt>
    <dgm:pt modelId="{07B5D7C7-9AE6-4A66-8067-D52FEE6A7CBF}" type="sibTrans" cxnId="{F7AB8217-8D0D-4C9B-B22C-D36F83523E77}">
      <dgm:prSet/>
      <dgm:spPr/>
      <dgm:t>
        <a:bodyPr/>
        <a:lstStyle/>
        <a:p>
          <a:endParaRPr lang="en-GB"/>
        </a:p>
      </dgm:t>
    </dgm:pt>
    <dgm:pt modelId="{5F1329AD-39DA-4D6B-BA6C-1A460C91D5FD}" type="pres">
      <dgm:prSet presAssocID="{821B6FB4-56E5-4C7F-A6AA-50B5CCCCEDE5}" presName="Name0" presStyleCnt="0">
        <dgm:presLayoutVars>
          <dgm:dir/>
          <dgm:animLvl val="lvl"/>
          <dgm:resizeHandles val="exact"/>
        </dgm:presLayoutVars>
      </dgm:prSet>
      <dgm:spPr/>
    </dgm:pt>
    <dgm:pt modelId="{2BD12223-D9C1-4467-B837-1AE1333C47A2}" type="pres">
      <dgm:prSet presAssocID="{115170D4-C383-420C-8EE5-339B5CB5C9B4}" presName="composite" presStyleCnt="0"/>
      <dgm:spPr/>
    </dgm:pt>
    <dgm:pt modelId="{B52C879B-963B-42B5-B79F-DD09C3B338BF}" type="pres">
      <dgm:prSet presAssocID="{115170D4-C383-420C-8EE5-339B5CB5C9B4}" presName="parTx" presStyleLbl="alignNode1" presStyleIdx="0" presStyleCnt="4">
        <dgm:presLayoutVars>
          <dgm:chMax val="0"/>
          <dgm:chPref val="0"/>
          <dgm:bulletEnabled val="1"/>
        </dgm:presLayoutVars>
      </dgm:prSet>
      <dgm:spPr/>
    </dgm:pt>
    <dgm:pt modelId="{DFE13A27-829A-46BA-96BB-DAE1FD858798}" type="pres">
      <dgm:prSet presAssocID="{115170D4-C383-420C-8EE5-339B5CB5C9B4}" presName="desTx" presStyleLbl="alignAccFollowNode1" presStyleIdx="0" presStyleCnt="4">
        <dgm:presLayoutVars>
          <dgm:bulletEnabled val="1"/>
        </dgm:presLayoutVars>
      </dgm:prSet>
      <dgm:spPr/>
    </dgm:pt>
    <dgm:pt modelId="{7723F268-28E5-42A6-966D-B20BFB03CDF8}" type="pres">
      <dgm:prSet presAssocID="{AB34A47E-E83F-4F13-A8EC-BDC361F764EC}" presName="space" presStyleCnt="0"/>
      <dgm:spPr/>
    </dgm:pt>
    <dgm:pt modelId="{4A0AD1B0-2AF3-4C47-A25F-5107E1560816}" type="pres">
      <dgm:prSet presAssocID="{E1E56665-6607-466A-85CF-26BCB7632EBB}" presName="composite" presStyleCnt="0"/>
      <dgm:spPr/>
    </dgm:pt>
    <dgm:pt modelId="{951B6874-5D1C-4374-997F-337201CB8241}" type="pres">
      <dgm:prSet presAssocID="{E1E56665-6607-466A-85CF-26BCB7632EBB}" presName="parTx" presStyleLbl="alignNode1" presStyleIdx="1" presStyleCnt="4">
        <dgm:presLayoutVars>
          <dgm:chMax val="0"/>
          <dgm:chPref val="0"/>
          <dgm:bulletEnabled val="1"/>
        </dgm:presLayoutVars>
      </dgm:prSet>
      <dgm:spPr/>
    </dgm:pt>
    <dgm:pt modelId="{AACDBC5D-8F78-453E-A4E4-20F86BB48A6C}" type="pres">
      <dgm:prSet presAssocID="{E1E56665-6607-466A-85CF-26BCB7632EBB}" presName="desTx" presStyleLbl="alignAccFollowNode1" presStyleIdx="1" presStyleCnt="4">
        <dgm:presLayoutVars>
          <dgm:bulletEnabled val="1"/>
        </dgm:presLayoutVars>
      </dgm:prSet>
      <dgm:spPr/>
    </dgm:pt>
    <dgm:pt modelId="{2C90AAD1-1F03-44DF-9F79-FCA074B62729}" type="pres">
      <dgm:prSet presAssocID="{48E28F4F-B9D6-4753-B9C5-1E63F6590273}" presName="space" presStyleCnt="0"/>
      <dgm:spPr/>
    </dgm:pt>
    <dgm:pt modelId="{012A3D38-54E7-4DEF-8D0C-CA82178584EA}" type="pres">
      <dgm:prSet presAssocID="{741FF0A2-500D-49CB-B1B2-426844E641AE}" presName="composite" presStyleCnt="0"/>
      <dgm:spPr/>
    </dgm:pt>
    <dgm:pt modelId="{D48D2497-F115-4939-9AE1-75906D4CA557}" type="pres">
      <dgm:prSet presAssocID="{741FF0A2-500D-49CB-B1B2-426844E641AE}" presName="parTx" presStyleLbl="alignNode1" presStyleIdx="2" presStyleCnt="4">
        <dgm:presLayoutVars>
          <dgm:chMax val="0"/>
          <dgm:chPref val="0"/>
          <dgm:bulletEnabled val="1"/>
        </dgm:presLayoutVars>
      </dgm:prSet>
      <dgm:spPr/>
    </dgm:pt>
    <dgm:pt modelId="{0A4DA08D-8ED8-4285-8493-B16248EE2572}" type="pres">
      <dgm:prSet presAssocID="{741FF0A2-500D-49CB-B1B2-426844E641AE}" presName="desTx" presStyleLbl="alignAccFollowNode1" presStyleIdx="2" presStyleCnt="4">
        <dgm:presLayoutVars>
          <dgm:bulletEnabled val="1"/>
        </dgm:presLayoutVars>
      </dgm:prSet>
      <dgm:spPr/>
    </dgm:pt>
    <dgm:pt modelId="{5A01089E-8961-4A35-82AE-718E700D9728}" type="pres">
      <dgm:prSet presAssocID="{8E3D1257-B7E1-485B-A218-596902C63A92}" presName="space" presStyleCnt="0"/>
      <dgm:spPr/>
    </dgm:pt>
    <dgm:pt modelId="{BC839BEE-FD3D-43BE-BBCA-89041E0B697A}" type="pres">
      <dgm:prSet presAssocID="{86D87687-4652-4509-BB75-075F7582A493}" presName="composite" presStyleCnt="0"/>
      <dgm:spPr/>
    </dgm:pt>
    <dgm:pt modelId="{9F41F085-8106-47B8-B7C6-855D452CC64B}" type="pres">
      <dgm:prSet presAssocID="{86D87687-4652-4509-BB75-075F7582A493}" presName="parTx" presStyleLbl="alignNode1" presStyleIdx="3" presStyleCnt="4">
        <dgm:presLayoutVars>
          <dgm:chMax val="0"/>
          <dgm:chPref val="0"/>
          <dgm:bulletEnabled val="1"/>
        </dgm:presLayoutVars>
      </dgm:prSet>
      <dgm:spPr/>
    </dgm:pt>
    <dgm:pt modelId="{207A23C7-3AA7-463C-BECD-56752CEB9139}" type="pres">
      <dgm:prSet presAssocID="{86D87687-4652-4509-BB75-075F7582A493}" presName="desTx" presStyleLbl="alignAccFollowNode1" presStyleIdx="3" presStyleCnt="4">
        <dgm:presLayoutVars>
          <dgm:bulletEnabled val="1"/>
        </dgm:presLayoutVars>
      </dgm:prSet>
      <dgm:spPr/>
    </dgm:pt>
  </dgm:ptLst>
  <dgm:cxnLst>
    <dgm:cxn modelId="{5DE24306-DA30-4422-ACDC-2DAF7DC3FF8E}" type="presOf" srcId="{821B6FB4-56E5-4C7F-A6AA-50B5CCCCEDE5}" destId="{5F1329AD-39DA-4D6B-BA6C-1A460C91D5FD}" srcOrd="0" destOrd="0" presId="urn:microsoft.com/office/officeart/2005/8/layout/hList1"/>
    <dgm:cxn modelId="{E9A77914-9F3D-4747-B865-AE3349BB1D59}" type="presOf" srcId="{86D87687-4652-4509-BB75-075F7582A493}" destId="{9F41F085-8106-47B8-B7C6-855D452CC64B}" srcOrd="0" destOrd="0" presId="urn:microsoft.com/office/officeart/2005/8/layout/hList1"/>
    <dgm:cxn modelId="{0B538F15-CCB4-44D3-9CA3-91C903EB5563}" srcId="{741FF0A2-500D-49CB-B1B2-426844E641AE}" destId="{63C0A8C5-717B-402D-82FF-6F110D4836FD}" srcOrd="0" destOrd="0" parTransId="{432CEDAB-AE94-475F-B001-459055C041AA}" sibTransId="{FD69F4F8-ABB6-463F-83CB-12DC8A1B5F09}"/>
    <dgm:cxn modelId="{F7AB8217-8D0D-4C9B-B22C-D36F83523E77}" srcId="{86D87687-4652-4509-BB75-075F7582A493}" destId="{C00E0B26-62FD-47BD-ADB8-45BBECF1E839}" srcOrd="0" destOrd="0" parTransId="{8343208E-AEA1-4A65-98D6-D8975BF54897}" sibTransId="{07B5D7C7-9AE6-4A66-8067-D52FEE6A7CBF}"/>
    <dgm:cxn modelId="{3B7C751B-0ADB-4E02-807C-0D277BE90269}" type="presOf" srcId="{63C0A8C5-717B-402D-82FF-6F110D4836FD}" destId="{0A4DA08D-8ED8-4285-8493-B16248EE2572}" srcOrd="0" destOrd="0" presId="urn:microsoft.com/office/officeart/2005/8/layout/hList1"/>
    <dgm:cxn modelId="{ACB9D171-346C-4F0E-A86A-C7492187B20C}" type="presOf" srcId="{C00E0B26-62FD-47BD-ADB8-45BBECF1E839}" destId="{207A23C7-3AA7-463C-BECD-56752CEB9139}" srcOrd="0" destOrd="0" presId="urn:microsoft.com/office/officeart/2005/8/layout/hList1"/>
    <dgm:cxn modelId="{66EE4274-A1C0-40C3-BDD8-5BA8E6981446}" srcId="{E1E56665-6607-466A-85CF-26BCB7632EBB}" destId="{BC6579D8-F324-4844-A7F3-AF59F8787FE6}" srcOrd="0" destOrd="0" parTransId="{43C293D7-9A8C-4314-BB4C-BAF4C616A2FF}" sibTransId="{C73E4610-33DD-4952-BCA5-275D3B1D4D71}"/>
    <dgm:cxn modelId="{F9DB5756-332D-41B6-8F95-EDBFE7EE7638}" type="presOf" srcId="{741FF0A2-500D-49CB-B1B2-426844E641AE}" destId="{D48D2497-F115-4939-9AE1-75906D4CA557}" srcOrd="0" destOrd="0" presId="urn:microsoft.com/office/officeart/2005/8/layout/hList1"/>
    <dgm:cxn modelId="{A5E1BFAA-9E9F-4EA3-81AD-81B240E68ED5}" type="presOf" srcId="{E1E56665-6607-466A-85CF-26BCB7632EBB}" destId="{951B6874-5D1C-4374-997F-337201CB8241}" srcOrd="0" destOrd="0" presId="urn:microsoft.com/office/officeart/2005/8/layout/hList1"/>
    <dgm:cxn modelId="{AE21CCAD-F3B7-4B00-8215-98A32D351D7B}" type="presOf" srcId="{BC6579D8-F324-4844-A7F3-AF59F8787FE6}" destId="{AACDBC5D-8F78-453E-A4E4-20F86BB48A6C}" srcOrd="0" destOrd="0" presId="urn:microsoft.com/office/officeart/2005/8/layout/hList1"/>
    <dgm:cxn modelId="{4578B5BC-DC0A-451D-98F8-58CBE879EFE1}" srcId="{115170D4-C383-420C-8EE5-339B5CB5C9B4}" destId="{72EAF99A-0F88-4018-A4C4-93628C97450E}" srcOrd="0" destOrd="0" parTransId="{F4D8E91E-3948-4317-9BF7-9EC4455B9AE4}" sibTransId="{A0A5E3DD-CC99-405A-B54F-41412B7CD6ED}"/>
    <dgm:cxn modelId="{7C585AD3-7426-4DA1-86F4-67644FEC481F}" srcId="{821B6FB4-56E5-4C7F-A6AA-50B5CCCCEDE5}" destId="{115170D4-C383-420C-8EE5-339B5CB5C9B4}" srcOrd="0" destOrd="0" parTransId="{54B7C0C9-4F43-4298-8915-2B22DE012653}" sibTransId="{AB34A47E-E83F-4F13-A8EC-BDC361F764EC}"/>
    <dgm:cxn modelId="{916875D6-BEDA-40DB-A770-5C74689BE0C0}" type="presOf" srcId="{115170D4-C383-420C-8EE5-339B5CB5C9B4}" destId="{B52C879B-963B-42B5-B79F-DD09C3B338BF}" srcOrd="0" destOrd="0" presId="urn:microsoft.com/office/officeart/2005/8/layout/hList1"/>
    <dgm:cxn modelId="{5795DBD6-F118-4959-A436-7FAC0B91058D}" srcId="{821B6FB4-56E5-4C7F-A6AA-50B5CCCCEDE5}" destId="{86D87687-4652-4509-BB75-075F7582A493}" srcOrd="3" destOrd="0" parTransId="{45FE21E6-D0F8-4608-BADC-8A0379E2C953}" sibTransId="{7F278E5E-4FDC-4301-9AC1-80A0D10867EC}"/>
    <dgm:cxn modelId="{62AF65DA-BAC1-4A82-BCA3-8D8853243D28}" type="presOf" srcId="{72EAF99A-0F88-4018-A4C4-93628C97450E}" destId="{DFE13A27-829A-46BA-96BB-DAE1FD858798}" srcOrd="0" destOrd="0" presId="urn:microsoft.com/office/officeart/2005/8/layout/hList1"/>
    <dgm:cxn modelId="{343E8AFC-4E80-40A2-A142-750B7326D71B}" srcId="{821B6FB4-56E5-4C7F-A6AA-50B5CCCCEDE5}" destId="{741FF0A2-500D-49CB-B1B2-426844E641AE}" srcOrd="2" destOrd="0" parTransId="{C157166B-2055-4AEB-B2E6-D166BD6CB379}" sibTransId="{8E3D1257-B7E1-485B-A218-596902C63A92}"/>
    <dgm:cxn modelId="{AC7F62FE-E949-4DC3-B309-7804CD62AC92}" srcId="{821B6FB4-56E5-4C7F-A6AA-50B5CCCCEDE5}" destId="{E1E56665-6607-466A-85CF-26BCB7632EBB}" srcOrd="1" destOrd="0" parTransId="{5946D41A-5A0E-477A-8E09-D1C26201B3DB}" sibTransId="{48E28F4F-B9D6-4753-B9C5-1E63F6590273}"/>
    <dgm:cxn modelId="{665E58AB-AB4B-47A1-991D-9B30D12CC8D3}" type="presParOf" srcId="{5F1329AD-39DA-4D6B-BA6C-1A460C91D5FD}" destId="{2BD12223-D9C1-4467-B837-1AE1333C47A2}" srcOrd="0" destOrd="0" presId="urn:microsoft.com/office/officeart/2005/8/layout/hList1"/>
    <dgm:cxn modelId="{921C8302-8421-448C-8D15-8B355F87854E}" type="presParOf" srcId="{2BD12223-D9C1-4467-B837-1AE1333C47A2}" destId="{B52C879B-963B-42B5-B79F-DD09C3B338BF}" srcOrd="0" destOrd="0" presId="urn:microsoft.com/office/officeart/2005/8/layout/hList1"/>
    <dgm:cxn modelId="{BF758790-A27D-437D-AE32-A065946E0A8B}" type="presParOf" srcId="{2BD12223-D9C1-4467-B837-1AE1333C47A2}" destId="{DFE13A27-829A-46BA-96BB-DAE1FD858798}" srcOrd="1" destOrd="0" presId="urn:microsoft.com/office/officeart/2005/8/layout/hList1"/>
    <dgm:cxn modelId="{CC9B82B2-3FE6-4A0A-B5D5-435F48009802}" type="presParOf" srcId="{5F1329AD-39DA-4D6B-BA6C-1A460C91D5FD}" destId="{7723F268-28E5-42A6-966D-B20BFB03CDF8}" srcOrd="1" destOrd="0" presId="urn:microsoft.com/office/officeart/2005/8/layout/hList1"/>
    <dgm:cxn modelId="{938C65FC-4FA5-4948-A930-12CBC6895B89}" type="presParOf" srcId="{5F1329AD-39DA-4D6B-BA6C-1A460C91D5FD}" destId="{4A0AD1B0-2AF3-4C47-A25F-5107E1560816}" srcOrd="2" destOrd="0" presId="urn:microsoft.com/office/officeart/2005/8/layout/hList1"/>
    <dgm:cxn modelId="{F562CEE5-F55C-4714-8549-A9C5B3FA1DFC}" type="presParOf" srcId="{4A0AD1B0-2AF3-4C47-A25F-5107E1560816}" destId="{951B6874-5D1C-4374-997F-337201CB8241}" srcOrd="0" destOrd="0" presId="urn:microsoft.com/office/officeart/2005/8/layout/hList1"/>
    <dgm:cxn modelId="{C0622C6F-D02E-42FC-962B-EDFC8CEDC835}" type="presParOf" srcId="{4A0AD1B0-2AF3-4C47-A25F-5107E1560816}" destId="{AACDBC5D-8F78-453E-A4E4-20F86BB48A6C}" srcOrd="1" destOrd="0" presId="urn:microsoft.com/office/officeart/2005/8/layout/hList1"/>
    <dgm:cxn modelId="{E2EC7DD8-11E1-4A42-999F-9CAE53A4EEAC}" type="presParOf" srcId="{5F1329AD-39DA-4D6B-BA6C-1A460C91D5FD}" destId="{2C90AAD1-1F03-44DF-9F79-FCA074B62729}" srcOrd="3" destOrd="0" presId="urn:microsoft.com/office/officeart/2005/8/layout/hList1"/>
    <dgm:cxn modelId="{094F6F0D-BE6C-49A1-A8EB-A889DBC75F28}" type="presParOf" srcId="{5F1329AD-39DA-4D6B-BA6C-1A460C91D5FD}" destId="{012A3D38-54E7-4DEF-8D0C-CA82178584EA}" srcOrd="4" destOrd="0" presId="urn:microsoft.com/office/officeart/2005/8/layout/hList1"/>
    <dgm:cxn modelId="{008A7047-2344-411B-986F-F412566B2122}" type="presParOf" srcId="{012A3D38-54E7-4DEF-8D0C-CA82178584EA}" destId="{D48D2497-F115-4939-9AE1-75906D4CA557}" srcOrd="0" destOrd="0" presId="urn:microsoft.com/office/officeart/2005/8/layout/hList1"/>
    <dgm:cxn modelId="{024E25F1-3F13-4BF0-AC32-35A94F496B2D}" type="presParOf" srcId="{012A3D38-54E7-4DEF-8D0C-CA82178584EA}" destId="{0A4DA08D-8ED8-4285-8493-B16248EE2572}" srcOrd="1" destOrd="0" presId="urn:microsoft.com/office/officeart/2005/8/layout/hList1"/>
    <dgm:cxn modelId="{7FEF2303-ED8F-46A6-AAA3-B3EC483E746C}" type="presParOf" srcId="{5F1329AD-39DA-4D6B-BA6C-1A460C91D5FD}" destId="{5A01089E-8961-4A35-82AE-718E700D9728}" srcOrd="5" destOrd="0" presId="urn:microsoft.com/office/officeart/2005/8/layout/hList1"/>
    <dgm:cxn modelId="{D505406D-96A6-4B5B-97F5-8A726D02A3B1}" type="presParOf" srcId="{5F1329AD-39DA-4D6B-BA6C-1A460C91D5FD}" destId="{BC839BEE-FD3D-43BE-BBCA-89041E0B697A}" srcOrd="6" destOrd="0" presId="urn:microsoft.com/office/officeart/2005/8/layout/hList1"/>
    <dgm:cxn modelId="{08BB450A-4546-4600-A28F-1034907D8190}" type="presParOf" srcId="{BC839BEE-FD3D-43BE-BBCA-89041E0B697A}" destId="{9F41F085-8106-47B8-B7C6-855D452CC64B}" srcOrd="0" destOrd="0" presId="urn:microsoft.com/office/officeart/2005/8/layout/hList1"/>
    <dgm:cxn modelId="{DAAF8D9C-4FD5-404D-B011-F3E7AD84F444}" type="presParOf" srcId="{BC839BEE-FD3D-43BE-BBCA-89041E0B697A}" destId="{207A23C7-3AA7-463C-BECD-56752CEB913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32BEBFE4-275D-4F18-9BB7-FF110708D35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7332F557-B743-4A0A-966F-858A8387E358}">
      <dgm:prSet phldrT="[Text]" phldr="0"/>
      <dgm:spPr>
        <a:solidFill>
          <a:srgbClr val="051E4B"/>
        </a:solidFill>
      </dgm:spPr>
      <dgm:t>
        <a:bodyPr/>
        <a:lstStyle/>
        <a:p>
          <a:pPr rtl="0"/>
          <a:r>
            <a:rPr lang="en-GB">
              <a:latin typeface="Aptos Display" panose="02110004020202020204"/>
            </a:rPr>
            <a:t>Faster &amp; Smarter Farming</a:t>
          </a:r>
          <a:endParaRPr lang="en-GB"/>
        </a:p>
      </dgm:t>
    </dgm:pt>
    <dgm:pt modelId="{41EF24A7-3DE5-451A-8956-40C5BBA12F10}" type="parTrans" cxnId="{52BF66A4-95E6-4032-B9D0-20C387172898}">
      <dgm:prSet/>
      <dgm:spPr/>
      <dgm:t>
        <a:bodyPr/>
        <a:lstStyle/>
        <a:p>
          <a:endParaRPr lang="en-GB"/>
        </a:p>
      </dgm:t>
    </dgm:pt>
    <dgm:pt modelId="{C2EFA029-44C7-4A00-AD03-F3A68DB6734A}" type="sibTrans" cxnId="{52BF66A4-95E6-4032-B9D0-20C387172898}">
      <dgm:prSet/>
      <dgm:spPr/>
      <dgm:t>
        <a:bodyPr/>
        <a:lstStyle/>
        <a:p>
          <a:endParaRPr lang="en-GB"/>
        </a:p>
      </dgm:t>
    </dgm:pt>
    <dgm:pt modelId="{168F3CCA-2475-4C70-BD57-BAB0A271105E}">
      <dgm:prSet phldrT="[Text]" phldr="0"/>
      <dgm:spPr>
        <a:solidFill>
          <a:srgbClr val="051E4B"/>
        </a:solidFill>
      </dgm:spPr>
      <dgm:t>
        <a:bodyPr/>
        <a:lstStyle/>
        <a:p>
          <a:pPr rtl="0"/>
          <a:r>
            <a:rPr lang="en-GB">
              <a:latin typeface="Aptos Display" panose="02110004020202020204"/>
            </a:rPr>
            <a:t>Sustainability</a:t>
          </a:r>
          <a:endParaRPr lang="en-GB"/>
        </a:p>
      </dgm:t>
    </dgm:pt>
    <dgm:pt modelId="{A08D229B-5B8B-4A86-A8F3-79A5A94C5C23}" type="parTrans" cxnId="{DA21A607-DE76-48FC-BDF2-E6BC6285743D}">
      <dgm:prSet/>
      <dgm:spPr/>
      <dgm:t>
        <a:bodyPr/>
        <a:lstStyle/>
        <a:p>
          <a:endParaRPr lang="en-GB"/>
        </a:p>
      </dgm:t>
    </dgm:pt>
    <dgm:pt modelId="{E8064E62-2087-4E37-B9B1-7BA43F063D87}" type="sibTrans" cxnId="{DA21A607-DE76-48FC-BDF2-E6BC6285743D}">
      <dgm:prSet/>
      <dgm:spPr/>
      <dgm:t>
        <a:bodyPr/>
        <a:lstStyle/>
        <a:p>
          <a:endParaRPr lang="en-GB"/>
        </a:p>
      </dgm:t>
    </dgm:pt>
    <dgm:pt modelId="{9C971986-951F-4CC6-BD5D-25100A109E67}">
      <dgm:prSet phldrT="[Text]" phldr="0"/>
      <dgm:spPr>
        <a:solidFill>
          <a:srgbClr val="051E4B"/>
        </a:solidFill>
      </dgm:spPr>
      <dgm:t>
        <a:bodyPr/>
        <a:lstStyle/>
        <a:p>
          <a:pPr rtl="0"/>
          <a:r>
            <a:rPr lang="en-GB">
              <a:latin typeface="Aptos Display" panose="02110004020202020204"/>
            </a:rPr>
            <a:t>Growing Demand</a:t>
          </a:r>
          <a:endParaRPr lang="en-GB"/>
        </a:p>
      </dgm:t>
    </dgm:pt>
    <dgm:pt modelId="{80DD9D2D-046B-4009-87C9-DA3E62AC36C6}" type="parTrans" cxnId="{BB307F0A-15EF-4B2F-B08C-FC37D9B51FCE}">
      <dgm:prSet/>
      <dgm:spPr/>
      <dgm:t>
        <a:bodyPr/>
        <a:lstStyle/>
        <a:p>
          <a:endParaRPr lang="en-GB"/>
        </a:p>
      </dgm:t>
    </dgm:pt>
    <dgm:pt modelId="{8CF44FA8-6C7B-4723-AA07-15EF7459F5C0}" type="sibTrans" cxnId="{BB307F0A-15EF-4B2F-B08C-FC37D9B51FCE}">
      <dgm:prSet/>
      <dgm:spPr/>
      <dgm:t>
        <a:bodyPr/>
        <a:lstStyle/>
        <a:p>
          <a:endParaRPr lang="en-GB"/>
        </a:p>
      </dgm:t>
    </dgm:pt>
    <dgm:pt modelId="{75702AEF-DF52-487A-A741-2D26F0DD245D}" type="pres">
      <dgm:prSet presAssocID="{32BEBFE4-275D-4F18-9BB7-FF110708D35E}" presName="diagram" presStyleCnt="0">
        <dgm:presLayoutVars>
          <dgm:dir/>
          <dgm:resizeHandles val="exact"/>
        </dgm:presLayoutVars>
      </dgm:prSet>
      <dgm:spPr/>
    </dgm:pt>
    <dgm:pt modelId="{4BB087FA-1F92-4D34-94B7-36C81C669EA7}" type="pres">
      <dgm:prSet presAssocID="{7332F557-B743-4A0A-966F-858A8387E358}" presName="node" presStyleLbl="node1" presStyleIdx="0" presStyleCnt="3">
        <dgm:presLayoutVars>
          <dgm:bulletEnabled val="1"/>
        </dgm:presLayoutVars>
      </dgm:prSet>
      <dgm:spPr/>
    </dgm:pt>
    <dgm:pt modelId="{C1AE5D6D-9D56-4D2A-A9F4-50AE54284E4F}" type="pres">
      <dgm:prSet presAssocID="{C2EFA029-44C7-4A00-AD03-F3A68DB6734A}" presName="sibTrans" presStyleCnt="0"/>
      <dgm:spPr/>
    </dgm:pt>
    <dgm:pt modelId="{81F8B75D-6826-481F-AD08-65D0066DC1A1}" type="pres">
      <dgm:prSet presAssocID="{168F3CCA-2475-4C70-BD57-BAB0A271105E}" presName="node" presStyleLbl="node1" presStyleIdx="1" presStyleCnt="3">
        <dgm:presLayoutVars>
          <dgm:bulletEnabled val="1"/>
        </dgm:presLayoutVars>
      </dgm:prSet>
      <dgm:spPr/>
    </dgm:pt>
    <dgm:pt modelId="{77C57FE1-278E-4177-8785-2DCE4F414337}" type="pres">
      <dgm:prSet presAssocID="{E8064E62-2087-4E37-B9B1-7BA43F063D87}" presName="sibTrans" presStyleCnt="0"/>
      <dgm:spPr/>
    </dgm:pt>
    <dgm:pt modelId="{91B346B2-B240-496F-AC86-063AEEC1CA35}" type="pres">
      <dgm:prSet presAssocID="{9C971986-951F-4CC6-BD5D-25100A109E67}" presName="node" presStyleLbl="node1" presStyleIdx="2" presStyleCnt="3">
        <dgm:presLayoutVars>
          <dgm:bulletEnabled val="1"/>
        </dgm:presLayoutVars>
      </dgm:prSet>
      <dgm:spPr/>
    </dgm:pt>
  </dgm:ptLst>
  <dgm:cxnLst>
    <dgm:cxn modelId="{DA21A607-DE76-48FC-BDF2-E6BC6285743D}" srcId="{32BEBFE4-275D-4F18-9BB7-FF110708D35E}" destId="{168F3CCA-2475-4C70-BD57-BAB0A271105E}" srcOrd="1" destOrd="0" parTransId="{A08D229B-5B8B-4A86-A8F3-79A5A94C5C23}" sibTransId="{E8064E62-2087-4E37-B9B1-7BA43F063D87}"/>
    <dgm:cxn modelId="{BB307F0A-15EF-4B2F-B08C-FC37D9B51FCE}" srcId="{32BEBFE4-275D-4F18-9BB7-FF110708D35E}" destId="{9C971986-951F-4CC6-BD5D-25100A109E67}" srcOrd="2" destOrd="0" parTransId="{80DD9D2D-046B-4009-87C9-DA3E62AC36C6}" sibTransId="{8CF44FA8-6C7B-4723-AA07-15EF7459F5C0}"/>
    <dgm:cxn modelId="{4B4D3837-345D-4E2B-8866-EDA28BB40FB3}" type="presOf" srcId="{32BEBFE4-275D-4F18-9BB7-FF110708D35E}" destId="{75702AEF-DF52-487A-A741-2D26F0DD245D}" srcOrd="0" destOrd="0" presId="urn:microsoft.com/office/officeart/2005/8/layout/default"/>
    <dgm:cxn modelId="{30FA017F-0401-4298-9DC4-F4F9BB1F8933}" type="presOf" srcId="{168F3CCA-2475-4C70-BD57-BAB0A271105E}" destId="{81F8B75D-6826-481F-AD08-65D0066DC1A1}" srcOrd="0" destOrd="0" presId="urn:microsoft.com/office/officeart/2005/8/layout/default"/>
    <dgm:cxn modelId="{9B713C95-7B84-42EE-9911-3447C6789C14}" type="presOf" srcId="{9C971986-951F-4CC6-BD5D-25100A109E67}" destId="{91B346B2-B240-496F-AC86-063AEEC1CA35}" srcOrd="0" destOrd="0" presId="urn:microsoft.com/office/officeart/2005/8/layout/default"/>
    <dgm:cxn modelId="{52BF66A4-95E6-4032-B9D0-20C387172898}" srcId="{32BEBFE4-275D-4F18-9BB7-FF110708D35E}" destId="{7332F557-B743-4A0A-966F-858A8387E358}" srcOrd="0" destOrd="0" parTransId="{41EF24A7-3DE5-451A-8956-40C5BBA12F10}" sibTransId="{C2EFA029-44C7-4A00-AD03-F3A68DB6734A}"/>
    <dgm:cxn modelId="{589E38B0-8D96-4A2D-961D-06900463248C}" type="presOf" srcId="{7332F557-B743-4A0A-966F-858A8387E358}" destId="{4BB087FA-1F92-4D34-94B7-36C81C669EA7}" srcOrd="0" destOrd="0" presId="urn:microsoft.com/office/officeart/2005/8/layout/default"/>
    <dgm:cxn modelId="{988B402B-B9FB-4431-A183-DD90FBFF6B9F}" type="presParOf" srcId="{75702AEF-DF52-487A-A741-2D26F0DD245D}" destId="{4BB087FA-1F92-4D34-94B7-36C81C669EA7}" srcOrd="0" destOrd="0" presId="urn:microsoft.com/office/officeart/2005/8/layout/default"/>
    <dgm:cxn modelId="{D45F43FA-1FB9-47E8-8D72-2711783AAFB5}" type="presParOf" srcId="{75702AEF-DF52-487A-A741-2D26F0DD245D}" destId="{C1AE5D6D-9D56-4D2A-A9F4-50AE54284E4F}" srcOrd="1" destOrd="0" presId="urn:microsoft.com/office/officeart/2005/8/layout/default"/>
    <dgm:cxn modelId="{150CD1C2-D147-4A01-BDAF-D6C90EB9C266}" type="presParOf" srcId="{75702AEF-DF52-487A-A741-2D26F0DD245D}" destId="{81F8B75D-6826-481F-AD08-65D0066DC1A1}" srcOrd="2" destOrd="0" presId="urn:microsoft.com/office/officeart/2005/8/layout/default"/>
    <dgm:cxn modelId="{2239DDF4-B7D2-491B-BC20-0E2A2DB10270}" type="presParOf" srcId="{75702AEF-DF52-487A-A741-2D26F0DD245D}" destId="{77C57FE1-278E-4177-8785-2DCE4F414337}" srcOrd="3" destOrd="0" presId="urn:microsoft.com/office/officeart/2005/8/layout/default"/>
    <dgm:cxn modelId="{44189B6F-2D02-4462-A2BE-F571F92F5160}" type="presParOf" srcId="{75702AEF-DF52-487A-A741-2D26F0DD245D}" destId="{91B346B2-B240-496F-AC86-063AEEC1CA35}"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C1C254-C071-42EC-82DD-F9AC8B4242A4}" type="doc">
      <dgm:prSet loTypeId="urn:microsoft.com/office/officeart/2017/3/layout/DropPinTimeline" loCatId="timeline" qsTypeId="urn:microsoft.com/office/officeart/2005/8/quickstyle/simple1" qsCatId="simple" csTypeId="urn:microsoft.com/office/officeart/2005/8/colors/accent0_1" csCatId="mainScheme" phldr="1"/>
      <dgm:spPr/>
      <dgm:t>
        <a:bodyPr/>
        <a:lstStyle/>
        <a:p>
          <a:endParaRPr lang="en-GB"/>
        </a:p>
      </dgm:t>
    </dgm:pt>
    <dgm:pt modelId="{811F7024-A1F6-4FE9-BF80-28B7FFFFA985}">
      <dgm:prSet phldrT="[Text]" phldr="0"/>
      <dgm:spPr/>
      <dgm:t>
        <a:bodyPr/>
        <a:lstStyle/>
        <a:p>
          <a:pPr>
            <a:defRPr b="1"/>
          </a:pPr>
          <a:r>
            <a:rPr lang="en-GB">
              <a:latin typeface="Aptos Display" panose="02110004020202020204"/>
            </a:rPr>
            <a:t> Market Research &amp; Farmer Engagement</a:t>
          </a:r>
          <a:endParaRPr lang="en-GB"/>
        </a:p>
      </dgm:t>
    </dgm:pt>
    <dgm:pt modelId="{6CB4DD5E-9FE7-4E55-964A-4B7E3DA032EE}" type="parTrans" cxnId="{78ADDCB8-DE18-4315-91C2-D9A841F8069F}">
      <dgm:prSet/>
      <dgm:spPr/>
      <dgm:t>
        <a:bodyPr/>
        <a:lstStyle/>
        <a:p>
          <a:endParaRPr lang="en-GB"/>
        </a:p>
      </dgm:t>
    </dgm:pt>
    <dgm:pt modelId="{68C712AB-A93C-4E7B-A6A1-47389DF28E65}" type="sibTrans" cxnId="{78ADDCB8-DE18-4315-91C2-D9A841F8069F}">
      <dgm:prSet/>
      <dgm:spPr/>
      <dgm:t>
        <a:bodyPr/>
        <a:lstStyle/>
        <a:p>
          <a:endParaRPr lang="en-GB"/>
        </a:p>
      </dgm:t>
    </dgm:pt>
    <dgm:pt modelId="{BC4050D3-7E3E-4744-A423-CDA77B52F64F}">
      <dgm:prSet phldrT="[Text]" phldr="0"/>
      <dgm:spPr/>
      <dgm:t>
        <a:bodyPr/>
        <a:lstStyle/>
        <a:p>
          <a:r>
            <a:rPr lang="en-GB">
              <a:latin typeface="Aptos Display" panose="02110004020202020204"/>
            </a:rPr>
            <a:t> </a:t>
          </a:r>
          <a:endParaRPr lang="en-GB"/>
        </a:p>
      </dgm:t>
    </dgm:pt>
    <dgm:pt modelId="{C0CAC0BB-FB09-47C5-9B78-3C9DFD6E07F7}" type="parTrans" cxnId="{25B624D7-E298-41CE-9C52-F9F5898E7BDC}">
      <dgm:prSet/>
      <dgm:spPr/>
      <dgm:t>
        <a:bodyPr/>
        <a:lstStyle/>
        <a:p>
          <a:endParaRPr lang="en-GB"/>
        </a:p>
      </dgm:t>
    </dgm:pt>
    <dgm:pt modelId="{F1A7BA0A-9106-4758-83DD-BE9AFB7698E2}" type="sibTrans" cxnId="{25B624D7-E298-41CE-9C52-F9F5898E7BDC}">
      <dgm:prSet/>
      <dgm:spPr/>
      <dgm:t>
        <a:bodyPr/>
        <a:lstStyle/>
        <a:p>
          <a:endParaRPr lang="en-GB"/>
        </a:p>
      </dgm:t>
    </dgm:pt>
    <dgm:pt modelId="{BDD052A9-E6FE-478F-A8E5-A9881E741E26}">
      <dgm:prSet phldrT="[Text]" phldr="0"/>
      <dgm:spPr/>
      <dgm:t>
        <a:bodyPr/>
        <a:lstStyle/>
        <a:p>
          <a:pPr>
            <a:defRPr b="1"/>
          </a:pPr>
          <a:r>
            <a:rPr lang="en-GB">
              <a:latin typeface="Aptos Display" panose="02110004020202020204"/>
            </a:rPr>
            <a:t> Regulatory Approvals &amp; Pilot Testing</a:t>
          </a:r>
          <a:endParaRPr lang="en-GB"/>
        </a:p>
      </dgm:t>
    </dgm:pt>
    <dgm:pt modelId="{65803573-7004-4CA0-9F12-CC6997C19E40}" type="parTrans" cxnId="{FE147DCA-7381-42F0-B8EF-C3F86E379291}">
      <dgm:prSet/>
      <dgm:spPr/>
      <dgm:t>
        <a:bodyPr/>
        <a:lstStyle/>
        <a:p>
          <a:endParaRPr lang="en-GB"/>
        </a:p>
      </dgm:t>
    </dgm:pt>
    <dgm:pt modelId="{E7946633-E0DC-490E-B872-3D55D3C9B2FE}" type="sibTrans" cxnId="{FE147DCA-7381-42F0-B8EF-C3F86E379291}">
      <dgm:prSet/>
      <dgm:spPr/>
      <dgm:t>
        <a:bodyPr/>
        <a:lstStyle/>
        <a:p>
          <a:endParaRPr lang="en-GB"/>
        </a:p>
      </dgm:t>
    </dgm:pt>
    <dgm:pt modelId="{E7CF24E5-79F7-4F4E-A815-E721CF90BEFC}">
      <dgm:prSet phldrT="[Text]" phldr="0"/>
      <dgm:spPr/>
      <dgm:t>
        <a:bodyPr/>
        <a:lstStyle/>
        <a:p>
          <a:r>
            <a:rPr lang="en-GB">
              <a:latin typeface="Aptos Display" panose="02110004020202020204"/>
            </a:rPr>
            <a:t> </a:t>
          </a:r>
          <a:endParaRPr lang="en-GB"/>
        </a:p>
      </dgm:t>
    </dgm:pt>
    <dgm:pt modelId="{3E437B96-012E-44FA-8631-9D96FD945BED}" type="parTrans" cxnId="{E44FB353-3043-4D95-B63F-658317EF6C59}">
      <dgm:prSet/>
      <dgm:spPr/>
      <dgm:t>
        <a:bodyPr/>
        <a:lstStyle/>
        <a:p>
          <a:endParaRPr lang="en-GB"/>
        </a:p>
      </dgm:t>
    </dgm:pt>
    <dgm:pt modelId="{BE36BA27-2968-44C2-979A-C6273926A006}" type="sibTrans" cxnId="{E44FB353-3043-4D95-B63F-658317EF6C59}">
      <dgm:prSet/>
      <dgm:spPr/>
      <dgm:t>
        <a:bodyPr/>
        <a:lstStyle/>
        <a:p>
          <a:endParaRPr lang="en-GB"/>
        </a:p>
      </dgm:t>
    </dgm:pt>
    <dgm:pt modelId="{A866C1CE-AE46-4008-9EA4-6D15FCC7B1D8}">
      <dgm:prSet phldrT="[Text]" phldr="0"/>
      <dgm:spPr/>
      <dgm:t>
        <a:bodyPr/>
        <a:lstStyle/>
        <a:p>
          <a:pPr>
            <a:defRPr b="1"/>
          </a:pPr>
          <a:r>
            <a:rPr lang="en-GB">
              <a:latin typeface="Aptos Display" panose="02110004020202020204"/>
            </a:rPr>
            <a:t> Launch Drone Services &amp; Training</a:t>
          </a:r>
          <a:endParaRPr lang="en-GB"/>
        </a:p>
      </dgm:t>
    </dgm:pt>
    <dgm:pt modelId="{DDD91610-67EA-449C-A15A-D170CD16A027}" type="parTrans" cxnId="{11AE89DB-4BD1-4FC2-9421-4F740B60EB4E}">
      <dgm:prSet/>
      <dgm:spPr/>
      <dgm:t>
        <a:bodyPr/>
        <a:lstStyle/>
        <a:p>
          <a:endParaRPr lang="en-GB"/>
        </a:p>
      </dgm:t>
    </dgm:pt>
    <dgm:pt modelId="{3AE5927E-333D-4625-886B-27939EE14283}" type="sibTrans" cxnId="{11AE89DB-4BD1-4FC2-9421-4F740B60EB4E}">
      <dgm:prSet/>
      <dgm:spPr/>
      <dgm:t>
        <a:bodyPr/>
        <a:lstStyle/>
        <a:p>
          <a:endParaRPr lang="en-GB"/>
        </a:p>
      </dgm:t>
    </dgm:pt>
    <dgm:pt modelId="{9DA6CADD-412F-4C1A-8B14-8AE59CD482FC}">
      <dgm:prSet phldrT="[Text]" phldr="0"/>
      <dgm:spPr/>
      <dgm:t>
        <a:bodyPr/>
        <a:lstStyle/>
        <a:p>
          <a:r>
            <a:rPr lang="en-GB">
              <a:latin typeface="Aptos Display" panose="02110004020202020204"/>
            </a:rPr>
            <a:t> </a:t>
          </a:r>
          <a:endParaRPr lang="en-GB"/>
        </a:p>
      </dgm:t>
    </dgm:pt>
    <dgm:pt modelId="{DE696730-4365-4830-A45A-E15F4F6AF40E}" type="parTrans" cxnId="{2FB928B3-825B-464D-ADF3-ABF6DC83646F}">
      <dgm:prSet/>
      <dgm:spPr/>
      <dgm:t>
        <a:bodyPr/>
        <a:lstStyle/>
        <a:p>
          <a:endParaRPr lang="en-GB"/>
        </a:p>
      </dgm:t>
    </dgm:pt>
    <dgm:pt modelId="{3071CF79-D57E-4178-A5E1-A9D72DDE85AF}" type="sibTrans" cxnId="{2FB928B3-825B-464D-ADF3-ABF6DC83646F}">
      <dgm:prSet/>
      <dgm:spPr/>
      <dgm:t>
        <a:bodyPr/>
        <a:lstStyle/>
        <a:p>
          <a:endParaRPr lang="en-GB"/>
        </a:p>
      </dgm:t>
    </dgm:pt>
    <dgm:pt modelId="{72631C83-F134-48A7-89D4-AB646D85466A}">
      <dgm:prSet phldr="0"/>
      <dgm:spPr/>
      <dgm:t>
        <a:bodyPr/>
        <a:lstStyle/>
        <a:p>
          <a:pPr>
            <a:defRPr b="1"/>
          </a:pPr>
          <a:r>
            <a:rPr lang="en-GB" b="1">
              <a:latin typeface="Aptos Display" panose="02110004020202020204"/>
            </a:rPr>
            <a:t> Full-Scale Implementation</a:t>
          </a:r>
        </a:p>
      </dgm:t>
    </dgm:pt>
    <dgm:pt modelId="{ADD999AC-6CBE-4CE2-B9B3-9DE72B685CC1}" type="parTrans" cxnId="{922D6E31-0E71-48E7-A347-64427AF431A4}">
      <dgm:prSet/>
      <dgm:spPr/>
      <dgm:t>
        <a:bodyPr/>
        <a:lstStyle/>
        <a:p>
          <a:endParaRPr lang="en-GB"/>
        </a:p>
      </dgm:t>
    </dgm:pt>
    <dgm:pt modelId="{D97503F6-0041-487A-B05B-FC6790043FF6}" type="sibTrans" cxnId="{922D6E31-0E71-48E7-A347-64427AF431A4}">
      <dgm:prSet/>
      <dgm:spPr/>
      <dgm:t>
        <a:bodyPr/>
        <a:lstStyle/>
        <a:p>
          <a:endParaRPr lang="en-GB"/>
        </a:p>
      </dgm:t>
    </dgm:pt>
    <dgm:pt modelId="{4181AB62-9C10-4F2B-99F9-2A1C62C0C47C}" type="pres">
      <dgm:prSet presAssocID="{ACC1C254-C071-42EC-82DD-F9AC8B4242A4}" presName="root" presStyleCnt="0">
        <dgm:presLayoutVars>
          <dgm:chMax/>
          <dgm:chPref/>
          <dgm:animLvl val="lvl"/>
        </dgm:presLayoutVars>
      </dgm:prSet>
      <dgm:spPr/>
    </dgm:pt>
    <dgm:pt modelId="{78078DF0-5030-434B-9E2B-14369E7A8E57}" type="pres">
      <dgm:prSet presAssocID="{ACC1C254-C071-42EC-82DD-F9AC8B4242A4}" presName="divider" presStyleLbl="fgAcc1" presStyleIdx="0" presStyleCnt="5"/>
      <dgm:spPr>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tailEnd type="triangle" w="lg" len="lg"/>
        </a:ln>
        <a:effectLst/>
      </dgm:spPr>
    </dgm:pt>
    <dgm:pt modelId="{60F72FBC-80CF-412C-9675-934826A61E19}" type="pres">
      <dgm:prSet presAssocID="{ACC1C254-C071-42EC-82DD-F9AC8B4242A4}" presName="nodes" presStyleCnt="0">
        <dgm:presLayoutVars>
          <dgm:chMax/>
          <dgm:chPref/>
          <dgm:animLvl val="lvl"/>
        </dgm:presLayoutVars>
      </dgm:prSet>
      <dgm:spPr/>
    </dgm:pt>
    <dgm:pt modelId="{30C057EF-5C2F-4D83-8ABE-AAC9BFEAAF0D}" type="pres">
      <dgm:prSet presAssocID="{811F7024-A1F6-4FE9-BF80-28B7FFFFA985}" presName="composite" presStyleCnt="0"/>
      <dgm:spPr/>
    </dgm:pt>
    <dgm:pt modelId="{FD36AC2D-D439-4ED4-9B6D-E8E0254D9ED5}" type="pres">
      <dgm:prSet presAssocID="{811F7024-A1F6-4FE9-BF80-28B7FFFFA985}" presName="ConnectorPoint" presStyleLbl="lnNode1" presStyleIdx="0" presStyleCnt="4"/>
      <dgm:spPr>
        <a:solidFill>
          <a:schemeClr val="lt1">
            <a:hueOff val="0"/>
            <a:satOff val="0"/>
            <a:lumOff val="0"/>
            <a:alphaOff val="0"/>
          </a:schemeClr>
        </a:solidFill>
        <a:ln w="6350" cap="flat" cmpd="sng" algn="ctr">
          <a:solidFill>
            <a:schemeClr val="dk1">
              <a:shade val="80000"/>
              <a:hueOff val="0"/>
              <a:satOff val="0"/>
              <a:lumOff val="0"/>
              <a:alphaOff val="0"/>
            </a:schemeClr>
          </a:solidFill>
          <a:prstDash val="solid"/>
          <a:miter lim="800000"/>
        </a:ln>
        <a:effectLst/>
      </dgm:spPr>
    </dgm:pt>
    <dgm:pt modelId="{9529318E-21A2-4D54-ADFD-6D64B325D9C0}" type="pres">
      <dgm:prSet presAssocID="{811F7024-A1F6-4FE9-BF80-28B7FFFFA985}" presName="DropPinPlaceHolder" presStyleCnt="0"/>
      <dgm:spPr/>
    </dgm:pt>
    <dgm:pt modelId="{D6D1925E-C740-487D-AF38-FCCE8E342919}" type="pres">
      <dgm:prSet presAssocID="{811F7024-A1F6-4FE9-BF80-28B7FFFFA985}" presName="DropPin" presStyleLbl="alignNode1" presStyleIdx="0" presStyleCnt="4"/>
      <dgm:spPr>
        <a:solidFill>
          <a:srgbClr val="051E4B"/>
        </a:solidFill>
        <a:ln>
          <a:noFill/>
        </a:ln>
      </dgm:spPr>
    </dgm:pt>
    <dgm:pt modelId="{72FFF98B-F18E-4F22-9B0D-F506749C9B78}" type="pres">
      <dgm:prSet presAssocID="{811F7024-A1F6-4FE9-BF80-28B7FFFFA985}" presName="Ellipse" presStyleLbl="fgAcc1" presStyleIdx="1" presStyleCnt="5"/>
      <dgm:spPr>
        <a:solidFill>
          <a:schemeClr val="dk1">
            <a:alpha val="90000"/>
            <a:tint val="40000"/>
            <a:hueOff val="0"/>
            <a:satOff val="0"/>
            <a:lumOff val="0"/>
            <a:alphaOff val="0"/>
          </a:schemeClr>
        </a:solidFill>
        <a:ln w="19050" cap="flat" cmpd="sng" algn="ctr">
          <a:noFill/>
          <a:prstDash val="solid"/>
          <a:miter lim="800000"/>
        </a:ln>
        <a:effectLst/>
      </dgm:spPr>
    </dgm:pt>
    <dgm:pt modelId="{C3649315-E54A-4795-9450-6DBB7BCFDB6D}" type="pres">
      <dgm:prSet presAssocID="{811F7024-A1F6-4FE9-BF80-28B7FFFFA985}" presName="L2TextContainer" presStyleLbl="revTx" presStyleIdx="0" presStyleCnt="8">
        <dgm:presLayoutVars>
          <dgm:bulletEnabled val="1"/>
        </dgm:presLayoutVars>
      </dgm:prSet>
      <dgm:spPr/>
    </dgm:pt>
    <dgm:pt modelId="{BE65A3F2-6941-4F7D-8B2E-BF651EA024DB}" type="pres">
      <dgm:prSet presAssocID="{811F7024-A1F6-4FE9-BF80-28B7FFFFA985}" presName="L1TextContainer" presStyleLbl="revTx" presStyleIdx="1" presStyleCnt="8">
        <dgm:presLayoutVars>
          <dgm:chMax val="1"/>
          <dgm:chPref val="1"/>
          <dgm:bulletEnabled val="1"/>
        </dgm:presLayoutVars>
      </dgm:prSet>
      <dgm:spPr/>
    </dgm:pt>
    <dgm:pt modelId="{1F615001-534C-4EE8-9E9E-3A365E924ABF}" type="pres">
      <dgm:prSet presAssocID="{811F7024-A1F6-4FE9-BF80-28B7FFFFA985}" presName="ConnectLine" presStyleLbl="sibTrans1D1" presStyleIdx="0" presStyleCnt="4"/>
      <dgm:spPr>
        <a:noFill/>
        <a:ln w="12700" cap="flat" cmpd="sng" algn="ctr">
          <a:solidFill>
            <a:schemeClr val="dk1">
              <a:hueOff val="0"/>
              <a:satOff val="0"/>
              <a:lumOff val="0"/>
              <a:alphaOff val="0"/>
            </a:schemeClr>
          </a:solidFill>
          <a:prstDash val="dash"/>
          <a:miter lim="800000"/>
        </a:ln>
        <a:effectLst/>
      </dgm:spPr>
    </dgm:pt>
    <dgm:pt modelId="{ED4CFC3B-8149-4514-BFE1-C0871E8D4576}" type="pres">
      <dgm:prSet presAssocID="{811F7024-A1F6-4FE9-BF80-28B7FFFFA985}" presName="EmptyPlaceHolder" presStyleCnt="0"/>
      <dgm:spPr/>
    </dgm:pt>
    <dgm:pt modelId="{B1C35410-A877-4AC4-9583-1AA9A64DBE33}" type="pres">
      <dgm:prSet presAssocID="{68C712AB-A93C-4E7B-A6A1-47389DF28E65}" presName="spaceBetweenRectangles" presStyleCnt="0"/>
      <dgm:spPr/>
    </dgm:pt>
    <dgm:pt modelId="{E83F8F4E-129E-43E6-95C7-F45C52F4E19E}" type="pres">
      <dgm:prSet presAssocID="{BDD052A9-E6FE-478F-A8E5-A9881E741E26}" presName="composite" presStyleCnt="0"/>
      <dgm:spPr/>
    </dgm:pt>
    <dgm:pt modelId="{321A2683-3C59-4015-B62F-9D5D5DE8DC6C}" type="pres">
      <dgm:prSet presAssocID="{BDD052A9-E6FE-478F-A8E5-A9881E741E26}" presName="ConnectorPoint" presStyleLbl="lnNode1" presStyleIdx="1" presStyleCnt="4"/>
      <dgm:spPr>
        <a:solidFill>
          <a:schemeClr val="lt1">
            <a:hueOff val="0"/>
            <a:satOff val="0"/>
            <a:lumOff val="0"/>
            <a:alphaOff val="0"/>
          </a:schemeClr>
        </a:solidFill>
        <a:ln w="6350" cap="flat" cmpd="sng" algn="ctr">
          <a:solidFill>
            <a:schemeClr val="dk1">
              <a:shade val="80000"/>
              <a:hueOff val="0"/>
              <a:satOff val="0"/>
              <a:lumOff val="0"/>
              <a:alphaOff val="0"/>
            </a:schemeClr>
          </a:solidFill>
          <a:prstDash val="solid"/>
          <a:miter lim="800000"/>
        </a:ln>
        <a:effectLst/>
      </dgm:spPr>
    </dgm:pt>
    <dgm:pt modelId="{FAB22D77-06BA-41E2-A614-C3D5E736F53A}" type="pres">
      <dgm:prSet presAssocID="{BDD052A9-E6FE-478F-A8E5-A9881E741E26}" presName="DropPinPlaceHolder" presStyleCnt="0"/>
      <dgm:spPr/>
    </dgm:pt>
    <dgm:pt modelId="{5424B689-1319-4A17-9DE5-A84B745797C2}" type="pres">
      <dgm:prSet presAssocID="{BDD052A9-E6FE-478F-A8E5-A9881E741E26}" presName="DropPin" presStyleLbl="alignNode1" presStyleIdx="1" presStyleCnt="4"/>
      <dgm:spPr>
        <a:solidFill>
          <a:srgbClr val="051E4B"/>
        </a:solidFill>
        <a:ln>
          <a:noFill/>
        </a:ln>
      </dgm:spPr>
    </dgm:pt>
    <dgm:pt modelId="{7F16CAF3-AFBD-49F1-9B0C-6CF99D413AA8}" type="pres">
      <dgm:prSet presAssocID="{BDD052A9-E6FE-478F-A8E5-A9881E741E26}" presName="Ellipse" presStyleLbl="fgAcc1" presStyleIdx="2" presStyleCnt="5"/>
      <dgm:spPr>
        <a:solidFill>
          <a:schemeClr val="dk1">
            <a:alpha val="90000"/>
            <a:tint val="40000"/>
            <a:hueOff val="0"/>
            <a:satOff val="0"/>
            <a:lumOff val="0"/>
            <a:alphaOff val="0"/>
          </a:schemeClr>
        </a:solidFill>
        <a:ln w="19050" cap="flat" cmpd="sng" algn="ctr">
          <a:noFill/>
          <a:prstDash val="solid"/>
          <a:miter lim="800000"/>
        </a:ln>
        <a:effectLst/>
      </dgm:spPr>
    </dgm:pt>
    <dgm:pt modelId="{6DB73B14-BC2F-4D40-B9D7-AB91249A4775}" type="pres">
      <dgm:prSet presAssocID="{BDD052A9-E6FE-478F-A8E5-A9881E741E26}" presName="L2TextContainer" presStyleLbl="revTx" presStyleIdx="2" presStyleCnt="8">
        <dgm:presLayoutVars>
          <dgm:bulletEnabled val="1"/>
        </dgm:presLayoutVars>
      </dgm:prSet>
      <dgm:spPr/>
    </dgm:pt>
    <dgm:pt modelId="{65544206-1A8A-4318-8EA5-7B79373D6843}" type="pres">
      <dgm:prSet presAssocID="{BDD052A9-E6FE-478F-A8E5-A9881E741E26}" presName="L1TextContainer" presStyleLbl="revTx" presStyleIdx="3" presStyleCnt="8">
        <dgm:presLayoutVars>
          <dgm:chMax val="1"/>
          <dgm:chPref val="1"/>
          <dgm:bulletEnabled val="1"/>
        </dgm:presLayoutVars>
      </dgm:prSet>
      <dgm:spPr/>
    </dgm:pt>
    <dgm:pt modelId="{2525EF37-2AC0-4C9B-83BB-03A2A0FF0616}" type="pres">
      <dgm:prSet presAssocID="{BDD052A9-E6FE-478F-A8E5-A9881E741E26}" presName="ConnectLine" presStyleLbl="sibTrans1D1" presStyleIdx="1" presStyleCnt="4"/>
      <dgm:spPr>
        <a:noFill/>
        <a:ln w="12700" cap="flat" cmpd="sng" algn="ctr">
          <a:solidFill>
            <a:schemeClr val="dk1">
              <a:hueOff val="0"/>
              <a:satOff val="0"/>
              <a:lumOff val="0"/>
              <a:alphaOff val="0"/>
            </a:schemeClr>
          </a:solidFill>
          <a:prstDash val="dash"/>
          <a:miter lim="800000"/>
        </a:ln>
        <a:effectLst/>
      </dgm:spPr>
    </dgm:pt>
    <dgm:pt modelId="{18A7C582-E28C-432B-8CBB-B7E02316578F}" type="pres">
      <dgm:prSet presAssocID="{BDD052A9-E6FE-478F-A8E5-A9881E741E26}" presName="EmptyPlaceHolder" presStyleCnt="0"/>
      <dgm:spPr/>
    </dgm:pt>
    <dgm:pt modelId="{3C098D5D-8CCC-4B60-8A6D-DD210E093339}" type="pres">
      <dgm:prSet presAssocID="{E7946633-E0DC-490E-B872-3D55D3C9B2FE}" presName="spaceBetweenRectangles" presStyleCnt="0"/>
      <dgm:spPr/>
    </dgm:pt>
    <dgm:pt modelId="{84EC9883-295F-4EE8-8FCE-93A0BDF568BA}" type="pres">
      <dgm:prSet presAssocID="{A866C1CE-AE46-4008-9EA4-6D15FCC7B1D8}" presName="composite" presStyleCnt="0"/>
      <dgm:spPr/>
    </dgm:pt>
    <dgm:pt modelId="{D1A76D83-9A1A-40FE-BC6F-607D2817C3AD}" type="pres">
      <dgm:prSet presAssocID="{A866C1CE-AE46-4008-9EA4-6D15FCC7B1D8}" presName="ConnectorPoint" presStyleLbl="lnNode1" presStyleIdx="2" presStyleCnt="4"/>
      <dgm:spPr>
        <a:solidFill>
          <a:schemeClr val="lt1">
            <a:hueOff val="0"/>
            <a:satOff val="0"/>
            <a:lumOff val="0"/>
            <a:alphaOff val="0"/>
          </a:schemeClr>
        </a:solidFill>
        <a:ln w="6350" cap="flat" cmpd="sng" algn="ctr">
          <a:solidFill>
            <a:schemeClr val="dk1">
              <a:shade val="80000"/>
              <a:hueOff val="0"/>
              <a:satOff val="0"/>
              <a:lumOff val="0"/>
              <a:alphaOff val="0"/>
            </a:schemeClr>
          </a:solidFill>
          <a:prstDash val="solid"/>
          <a:miter lim="800000"/>
        </a:ln>
        <a:effectLst/>
      </dgm:spPr>
    </dgm:pt>
    <dgm:pt modelId="{B18212CA-C97A-4324-AA5C-ABE91035A9AC}" type="pres">
      <dgm:prSet presAssocID="{A866C1CE-AE46-4008-9EA4-6D15FCC7B1D8}" presName="DropPinPlaceHolder" presStyleCnt="0"/>
      <dgm:spPr/>
    </dgm:pt>
    <dgm:pt modelId="{5A965D0D-7BB2-4A73-AF0C-FC3600C628B7}" type="pres">
      <dgm:prSet presAssocID="{A866C1CE-AE46-4008-9EA4-6D15FCC7B1D8}" presName="DropPin" presStyleLbl="alignNode1" presStyleIdx="2" presStyleCnt="4"/>
      <dgm:spPr>
        <a:solidFill>
          <a:srgbClr val="051E4B"/>
        </a:solidFill>
        <a:ln>
          <a:noFill/>
        </a:ln>
      </dgm:spPr>
    </dgm:pt>
    <dgm:pt modelId="{8333AB6D-66B8-4901-A4EC-FC6609112F5C}" type="pres">
      <dgm:prSet presAssocID="{A866C1CE-AE46-4008-9EA4-6D15FCC7B1D8}" presName="Ellipse" presStyleLbl="fgAcc1" presStyleIdx="3" presStyleCnt="5"/>
      <dgm:spPr>
        <a:solidFill>
          <a:schemeClr val="dk1">
            <a:alpha val="90000"/>
            <a:tint val="40000"/>
            <a:hueOff val="0"/>
            <a:satOff val="0"/>
            <a:lumOff val="0"/>
            <a:alphaOff val="0"/>
          </a:schemeClr>
        </a:solidFill>
        <a:ln w="19050" cap="flat" cmpd="sng" algn="ctr">
          <a:noFill/>
          <a:prstDash val="solid"/>
          <a:miter lim="800000"/>
        </a:ln>
        <a:effectLst/>
      </dgm:spPr>
    </dgm:pt>
    <dgm:pt modelId="{72230788-5BEC-4F86-8FA2-7EB9BA6F08D0}" type="pres">
      <dgm:prSet presAssocID="{A866C1CE-AE46-4008-9EA4-6D15FCC7B1D8}" presName="L2TextContainer" presStyleLbl="revTx" presStyleIdx="4" presStyleCnt="8">
        <dgm:presLayoutVars>
          <dgm:bulletEnabled val="1"/>
        </dgm:presLayoutVars>
      </dgm:prSet>
      <dgm:spPr/>
    </dgm:pt>
    <dgm:pt modelId="{CD51BF99-3F64-492A-95E0-7D06D8038BBB}" type="pres">
      <dgm:prSet presAssocID="{A866C1CE-AE46-4008-9EA4-6D15FCC7B1D8}" presName="L1TextContainer" presStyleLbl="revTx" presStyleIdx="5" presStyleCnt="8">
        <dgm:presLayoutVars>
          <dgm:chMax val="1"/>
          <dgm:chPref val="1"/>
          <dgm:bulletEnabled val="1"/>
        </dgm:presLayoutVars>
      </dgm:prSet>
      <dgm:spPr/>
    </dgm:pt>
    <dgm:pt modelId="{FDD75EB2-A00E-4453-9C6F-EA7A3FA9A808}" type="pres">
      <dgm:prSet presAssocID="{A866C1CE-AE46-4008-9EA4-6D15FCC7B1D8}" presName="ConnectLine" presStyleLbl="sibTrans1D1" presStyleIdx="2" presStyleCnt="4"/>
      <dgm:spPr>
        <a:noFill/>
        <a:ln w="12700" cap="flat" cmpd="sng" algn="ctr">
          <a:solidFill>
            <a:schemeClr val="dk1">
              <a:hueOff val="0"/>
              <a:satOff val="0"/>
              <a:lumOff val="0"/>
              <a:alphaOff val="0"/>
            </a:schemeClr>
          </a:solidFill>
          <a:prstDash val="dash"/>
          <a:miter lim="800000"/>
        </a:ln>
        <a:effectLst/>
      </dgm:spPr>
    </dgm:pt>
    <dgm:pt modelId="{394DE42A-7D50-491A-A08E-2F1683C2337B}" type="pres">
      <dgm:prSet presAssocID="{A866C1CE-AE46-4008-9EA4-6D15FCC7B1D8}" presName="EmptyPlaceHolder" presStyleCnt="0"/>
      <dgm:spPr/>
    </dgm:pt>
    <dgm:pt modelId="{DDC906C3-7C6C-4653-A8AD-B9641F04FFF8}" type="pres">
      <dgm:prSet presAssocID="{3AE5927E-333D-4625-886B-27939EE14283}" presName="spaceBetweenRectangles" presStyleCnt="0"/>
      <dgm:spPr/>
    </dgm:pt>
    <dgm:pt modelId="{9B4D8E23-1344-4917-87D0-A84CD3DEC2AA}" type="pres">
      <dgm:prSet presAssocID="{72631C83-F134-48A7-89D4-AB646D85466A}" presName="composite" presStyleCnt="0"/>
      <dgm:spPr/>
    </dgm:pt>
    <dgm:pt modelId="{62D458AA-066A-4A4D-8E9F-A6EE2F3CD21B}" type="pres">
      <dgm:prSet presAssocID="{72631C83-F134-48A7-89D4-AB646D85466A}" presName="ConnectorPoint" presStyleLbl="lnNode1" presStyleIdx="3" presStyleCnt="4"/>
      <dgm:spPr>
        <a:solidFill>
          <a:schemeClr val="lt1">
            <a:hueOff val="0"/>
            <a:satOff val="0"/>
            <a:lumOff val="0"/>
            <a:alphaOff val="0"/>
          </a:schemeClr>
        </a:solidFill>
        <a:ln w="6350" cap="flat" cmpd="sng" algn="ctr">
          <a:solidFill>
            <a:schemeClr val="dk1">
              <a:shade val="80000"/>
              <a:hueOff val="0"/>
              <a:satOff val="0"/>
              <a:lumOff val="0"/>
              <a:alphaOff val="0"/>
            </a:schemeClr>
          </a:solidFill>
          <a:prstDash val="solid"/>
          <a:miter lim="800000"/>
        </a:ln>
        <a:effectLst/>
      </dgm:spPr>
    </dgm:pt>
    <dgm:pt modelId="{C49D74F1-81C2-415E-9F5A-3B14BFD40A66}" type="pres">
      <dgm:prSet presAssocID="{72631C83-F134-48A7-89D4-AB646D85466A}" presName="DropPinPlaceHolder" presStyleCnt="0"/>
      <dgm:spPr/>
    </dgm:pt>
    <dgm:pt modelId="{75A25D61-2EFA-4362-8EC6-A63FCE13DE98}" type="pres">
      <dgm:prSet presAssocID="{72631C83-F134-48A7-89D4-AB646D85466A}" presName="DropPin" presStyleLbl="alignNode1" presStyleIdx="3" presStyleCnt="4"/>
      <dgm:spPr>
        <a:solidFill>
          <a:srgbClr val="051E4B"/>
        </a:solidFill>
        <a:ln>
          <a:noFill/>
        </a:ln>
      </dgm:spPr>
    </dgm:pt>
    <dgm:pt modelId="{9CEB6FCA-8757-4CD2-89C9-FB106103B830}" type="pres">
      <dgm:prSet presAssocID="{72631C83-F134-48A7-89D4-AB646D85466A}" presName="Ellipse" presStyleLbl="fgAcc1" presStyleIdx="4" presStyleCnt="5"/>
      <dgm:spPr>
        <a:solidFill>
          <a:schemeClr val="dk1">
            <a:alpha val="90000"/>
            <a:tint val="40000"/>
            <a:hueOff val="0"/>
            <a:satOff val="0"/>
            <a:lumOff val="0"/>
            <a:alphaOff val="0"/>
          </a:schemeClr>
        </a:solidFill>
        <a:ln w="19050" cap="flat" cmpd="sng" algn="ctr">
          <a:noFill/>
          <a:prstDash val="solid"/>
          <a:miter lim="800000"/>
        </a:ln>
        <a:effectLst/>
      </dgm:spPr>
    </dgm:pt>
    <dgm:pt modelId="{A0B4054C-CE4C-41A0-AFB4-B65F76E65627}" type="pres">
      <dgm:prSet presAssocID="{72631C83-F134-48A7-89D4-AB646D85466A}" presName="L2TextContainer" presStyleLbl="revTx" presStyleIdx="6" presStyleCnt="8">
        <dgm:presLayoutVars>
          <dgm:bulletEnabled val="1"/>
        </dgm:presLayoutVars>
      </dgm:prSet>
      <dgm:spPr/>
    </dgm:pt>
    <dgm:pt modelId="{76126AF9-9FF8-4B2D-B16F-EDA7F8971C8C}" type="pres">
      <dgm:prSet presAssocID="{72631C83-F134-48A7-89D4-AB646D85466A}" presName="L1TextContainer" presStyleLbl="revTx" presStyleIdx="7" presStyleCnt="8">
        <dgm:presLayoutVars>
          <dgm:chMax val="1"/>
          <dgm:chPref val="1"/>
          <dgm:bulletEnabled val="1"/>
        </dgm:presLayoutVars>
      </dgm:prSet>
      <dgm:spPr/>
    </dgm:pt>
    <dgm:pt modelId="{CA7B9FE4-B71C-4DEB-A3E6-0E9AA87BF003}" type="pres">
      <dgm:prSet presAssocID="{72631C83-F134-48A7-89D4-AB646D85466A}" presName="ConnectLine" presStyleLbl="sibTrans1D1" presStyleIdx="3" presStyleCnt="4"/>
      <dgm:spPr>
        <a:noFill/>
        <a:ln w="12700" cap="flat" cmpd="sng" algn="ctr">
          <a:solidFill>
            <a:schemeClr val="dk1">
              <a:hueOff val="0"/>
              <a:satOff val="0"/>
              <a:lumOff val="0"/>
              <a:alphaOff val="0"/>
            </a:schemeClr>
          </a:solidFill>
          <a:prstDash val="dash"/>
          <a:miter lim="800000"/>
        </a:ln>
        <a:effectLst/>
      </dgm:spPr>
    </dgm:pt>
    <dgm:pt modelId="{C8A462DE-9D63-4338-84E4-F6E5F8F27017}" type="pres">
      <dgm:prSet presAssocID="{72631C83-F134-48A7-89D4-AB646D85466A}" presName="EmptyPlaceHolder" presStyleCnt="0"/>
      <dgm:spPr/>
    </dgm:pt>
  </dgm:ptLst>
  <dgm:cxnLst>
    <dgm:cxn modelId="{B1926D11-1B0B-49A1-AE29-8A1A56E35475}" type="presOf" srcId="{9DA6CADD-412F-4C1A-8B14-8AE59CD482FC}" destId="{72230788-5BEC-4F86-8FA2-7EB9BA6F08D0}" srcOrd="0" destOrd="0" presId="urn:microsoft.com/office/officeart/2017/3/layout/DropPinTimeline"/>
    <dgm:cxn modelId="{EAA4C719-9433-437F-B0E4-618285B64F5A}" type="presOf" srcId="{ACC1C254-C071-42EC-82DD-F9AC8B4242A4}" destId="{4181AB62-9C10-4F2B-99F9-2A1C62C0C47C}" srcOrd="0" destOrd="0" presId="urn:microsoft.com/office/officeart/2017/3/layout/DropPinTimeline"/>
    <dgm:cxn modelId="{922D6E31-0E71-48E7-A347-64427AF431A4}" srcId="{ACC1C254-C071-42EC-82DD-F9AC8B4242A4}" destId="{72631C83-F134-48A7-89D4-AB646D85466A}" srcOrd="3" destOrd="0" parTransId="{ADD999AC-6CBE-4CE2-B9B3-9DE72B685CC1}" sibTransId="{D97503F6-0041-487A-B05B-FC6790043FF6}"/>
    <dgm:cxn modelId="{F34EDA34-B6B2-4A40-A7A7-F57DEBD0AF03}" type="presOf" srcId="{A866C1CE-AE46-4008-9EA4-6D15FCC7B1D8}" destId="{CD51BF99-3F64-492A-95E0-7D06D8038BBB}" srcOrd="0" destOrd="0" presId="urn:microsoft.com/office/officeart/2017/3/layout/DropPinTimeline"/>
    <dgm:cxn modelId="{4297103C-19E2-4DA0-BC65-7B375F556D24}" type="presOf" srcId="{BC4050D3-7E3E-4744-A423-CDA77B52F64F}" destId="{C3649315-E54A-4795-9450-6DBB7BCFDB6D}" srcOrd="0" destOrd="0" presId="urn:microsoft.com/office/officeart/2017/3/layout/DropPinTimeline"/>
    <dgm:cxn modelId="{C6E2FE5F-F78D-4CCE-8444-6CD83076ABDA}" type="presOf" srcId="{E7CF24E5-79F7-4F4E-A815-E721CF90BEFC}" destId="{6DB73B14-BC2F-4D40-B9D7-AB91249A4775}" srcOrd="0" destOrd="0" presId="urn:microsoft.com/office/officeart/2017/3/layout/DropPinTimeline"/>
    <dgm:cxn modelId="{9379ED4B-867C-4B05-BFF5-18AB48EFC2F9}" type="presOf" srcId="{72631C83-F134-48A7-89D4-AB646D85466A}" destId="{76126AF9-9FF8-4B2D-B16F-EDA7F8971C8C}" srcOrd="0" destOrd="0" presId="urn:microsoft.com/office/officeart/2017/3/layout/DropPinTimeline"/>
    <dgm:cxn modelId="{C1AE2873-CECF-499C-89D1-B8BCF1A43EBA}" type="presOf" srcId="{811F7024-A1F6-4FE9-BF80-28B7FFFFA985}" destId="{BE65A3F2-6941-4F7D-8B2E-BF651EA024DB}" srcOrd="0" destOrd="0" presId="urn:microsoft.com/office/officeart/2017/3/layout/DropPinTimeline"/>
    <dgm:cxn modelId="{E44FB353-3043-4D95-B63F-658317EF6C59}" srcId="{BDD052A9-E6FE-478F-A8E5-A9881E741E26}" destId="{E7CF24E5-79F7-4F4E-A815-E721CF90BEFC}" srcOrd="0" destOrd="0" parTransId="{3E437B96-012E-44FA-8631-9D96FD945BED}" sibTransId="{BE36BA27-2968-44C2-979A-C6273926A006}"/>
    <dgm:cxn modelId="{2FB928B3-825B-464D-ADF3-ABF6DC83646F}" srcId="{A866C1CE-AE46-4008-9EA4-6D15FCC7B1D8}" destId="{9DA6CADD-412F-4C1A-8B14-8AE59CD482FC}" srcOrd="0" destOrd="0" parTransId="{DE696730-4365-4830-A45A-E15F4F6AF40E}" sibTransId="{3071CF79-D57E-4178-A5E1-A9D72DDE85AF}"/>
    <dgm:cxn modelId="{78ADDCB8-DE18-4315-91C2-D9A841F8069F}" srcId="{ACC1C254-C071-42EC-82DD-F9AC8B4242A4}" destId="{811F7024-A1F6-4FE9-BF80-28B7FFFFA985}" srcOrd="0" destOrd="0" parTransId="{6CB4DD5E-9FE7-4E55-964A-4B7E3DA032EE}" sibTransId="{68C712AB-A93C-4E7B-A6A1-47389DF28E65}"/>
    <dgm:cxn modelId="{8A6C66C2-6346-4D29-9A08-AD8837CAA8AA}" type="presOf" srcId="{BDD052A9-E6FE-478F-A8E5-A9881E741E26}" destId="{65544206-1A8A-4318-8EA5-7B79373D6843}" srcOrd="0" destOrd="0" presId="urn:microsoft.com/office/officeart/2017/3/layout/DropPinTimeline"/>
    <dgm:cxn modelId="{FE147DCA-7381-42F0-B8EF-C3F86E379291}" srcId="{ACC1C254-C071-42EC-82DD-F9AC8B4242A4}" destId="{BDD052A9-E6FE-478F-A8E5-A9881E741E26}" srcOrd="1" destOrd="0" parTransId="{65803573-7004-4CA0-9F12-CC6997C19E40}" sibTransId="{E7946633-E0DC-490E-B872-3D55D3C9B2FE}"/>
    <dgm:cxn modelId="{25B624D7-E298-41CE-9C52-F9F5898E7BDC}" srcId="{811F7024-A1F6-4FE9-BF80-28B7FFFFA985}" destId="{BC4050D3-7E3E-4744-A423-CDA77B52F64F}" srcOrd="0" destOrd="0" parTransId="{C0CAC0BB-FB09-47C5-9B78-3C9DFD6E07F7}" sibTransId="{F1A7BA0A-9106-4758-83DD-BE9AFB7698E2}"/>
    <dgm:cxn modelId="{11AE89DB-4BD1-4FC2-9421-4F740B60EB4E}" srcId="{ACC1C254-C071-42EC-82DD-F9AC8B4242A4}" destId="{A866C1CE-AE46-4008-9EA4-6D15FCC7B1D8}" srcOrd="2" destOrd="0" parTransId="{DDD91610-67EA-449C-A15A-D170CD16A027}" sibTransId="{3AE5927E-333D-4625-886B-27939EE14283}"/>
    <dgm:cxn modelId="{1333BDD4-7EF3-42BB-B7C7-A120BA900E0A}" type="presParOf" srcId="{4181AB62-9C10-4F2B-99F9-2A1C62C0C47C}" destId="{78078DF0-5030-434B-9E2B-14369E7A8E57}" srcOrd="0" destOrd="0" presId="urn:microsoft.com/office/officeart/2017/3/layout/DropPinTimeline"/>
    <dgm:cxn modelId="{7EC9D129-410D-4007-BF0E-2AF06E51615B}" type="presParOf" srcId="{4181AB62-9C10-4F2B-99F9-2A1C62C0C47C}" destId="{60F72FBC-80CF-412C-9675-934826A61E19}" srcOrd="1" destOrd="0" presId="urn:microsoft.com/office/officeart/2017/3/layout/DropPinTimeline"/>
    <dgm:cxn modelId="{774C92BF-F081-4468-91B9-F86CBC18AC40}" type="presParOf" srcId="{60F72FBC-80CF-412C-9675-934826A61E19}" destId="{30C057EF-5C2F-4D83-8ABE-AAC9BFEAAF0D}" srcOrd="0" destOrd="0" presId="urn:microsoft.com/office/officeart/2017/3/layout/DropPinTimeline"/>
    <dgm:cxn modelId="{E7018192-3C40-4A2E-98CD-38B86251FECF}" type="presParOf" srcId="{30C057EF-5C2F-4D83-8ABE-AAC9BFEAAF0D}" destId="{FD36AC2D-D439-4ED4-9B6D-E8E0254D9ED5}" srcOrd="0" destOrd="0" presId="urn:microsoft.com/office/officeart/2017/3/layout/DropPinTimeline"/>
    <dgm:cxn modelId="{A0141D73-F35E-4D7F-8907-9F1AE8C143F4}" type="presParOf" srcId="{30C057EF-5C2F-4D83-8ABE-AAC9BFEAAF0D}" destId="{9529318E-21A2-4D54-ADFD-6D64B325D9C0}" srcOrd="1" destOrd="0" presId="urn:microsoft.com/office/officeart/2017/3/layout/DropPinTimeline"/>
    <dgm:cxn modelId="{D87FA755-4D1F-4F3A-9B6D-8B879C47E2F4}" type="presParOf" srcId="{9529318E-21A2-4D54-ADFD-6D64B325D9C0}" destId="{D6D1925E-C740-487D-AF38-FCCE8E342919}" srcOrd="0" destOrd="0" presId="urn:microsoft.com/office/officeart/2017/3/layout/DropPinTimeline"/>
    <dgm:cxn modelId="{06BD4D56-79D1-4A07-BDB3-651603128B3A}" type="presParOf" srcId="{9529318E-21A2-4D54-ADFD-6D64B325D9C0}" destId="{72FFF98B-F18E-4F22-9B0D-F506749C9B78}" srcOrd="1" destOrd="0" presId="urn:microsoft.com/office/officeart/2017/3/layout/DropPinTimeline"/>
    <dgm:cxn modelId="{87A1631D-7AD1-42D9-BB17-518D346662FA}" type="presParOf" srcId="{30C057EF-5C2F-4D83-8ABE-AAC9BFEAAF0D}" destId="{C3649315-E54A-4795-9450-6DBB7BCFDB6D}" srcOrd="2" destOrd="0" presId="urn:microsoft.com/office/officeart/2017/3/layout/DropPinTimeline"/>
    <dgm:cxn modelId="{F1FDC3AF-6EC2-4726-9CBE-AF0F7242164A}" type="presParOf" srcId="{30C057EF-5C2F-4D83-8ABE-AAC9BFEAAF0D}" destId="{BE65A3F2-6941-4F7D-8B2E-BF651EA024DB}" srcOrd="3" destOrd="0" presId="urn:microsoft.com/office/officeart/2017/3/layout/DropPinTimeline"/>
    <dgm:cxn modelId="{CA41E82D-280F-4465-BCD5-DC19512423DA}" type="presParOf" srcId="{30C057EF-5C2F-4D83-8ABE-AAC9BFEAAF0D}" destId="{1F615001-534C-4EE8-9E9E-3A365E924ABF}" srcOrd="4" destOrd="0" presId="urn:microsoft.com/office/officeart/2017/3/layout/DropPinTimeline"/>
    <dgm:cxn modelId="{151B0C6F-B36C-4880-A194-7C920D61605E}" type="presParOf" srcId="{30C057EF-5C2F-4D83-8ABE-AAC9BFEAAF0D}" destId="{ED4CFC3B-8149-4514-BFE1-C0871E8D4576}" srcOrd="5" destOrd="0" presId="urn:microsoft.com/office/officeart/2017/3/layout/DropPinTimeline"/>
    <dgm:cxn modelId="{DAF14BB5-6585-4EEE-9791-72BBCF7221B5}" type="presParOf" srcId="{60F72FBC-80CF-412C-9675-934826A61E19}" destId="{B1C35410-A877-4AC4-9583-1AA9A64DBE33}" srcOrd="1" destOrd="0" presId="urn:microsoft.com/office/officeart/2017/3/layout/DropPinTimeline"/>
    <dgm:cxn modelId="{B17C6EE3-DE0A-4193-8770-F4C100C02731}" type="presParOf" srcId="{60F72FBC-80CF-412C-9675-934826A61E19}" destId="{E83F8F4E-129E-43E6-95C7-F45C52F4E19E}" srcOrd="2" destOrd="0" presId="urn:microsoft.com/office/officeart/2017/3/layout/DropPinTimeline"/>
    <dgm:cxn modelId="{80CBE6C9-90FD-4E18-BE0D-950AFAA4D463}" type="presParOf" srcId="{E83F8F4E-129E-43E6-95C7-F45C52F4E19E}" destId="{321A2683-3C59-4015-B62F-9D5D5DE8DC6C}" srcOrd="0" destOrd="0" presId="urn:microsoft.com/office/officeart/2017/3/layout/DropPinTimeline"/>
    <dgm:cxn modelId="{FA613592-2E35-4C7F-83DD-4B87820AD7C1}" type="presParOf" srcId="{E83F8F4E-129E-43E6-95C7-F45C52F4E19E}" destId="{FAB22D77-06BA-41E2-A614-C3D5E736F53A}" srcOrd="1" destOrd="0" presId="urn:microsoft.com/office/officeart/2017/3/layout/DropPinTimeline"/>
    <dgm:cxn modelId="{19EF44E8-229A-4524-B05D-EE36081FD459}" type="presParOf" srcId="{FAB22D77-06BA-41E2-A614-C3D5E736F53A}" destId="{5424B689-1319-4A17-9DE5-A84B745797C2}" srcOrd="0" destOrd="0" presId="urn:microsoft.com/office/officeart/2017/3/layout/DropPinTimeline"/>
    <dgm:cxn modelId="{ACC062E8-1D71-4CA4-B3BE-BEB89509C908}" type="presParOf" srcId="{FAB22D77-06BA-41E2-A614-C3D5E736F53A}" destId="{7F16CAF3-AFBD-49F1-9B0C-6CF99D413AA8}" srcOrd="1" destOrd="0" presId="urn:microsoft.com/office/officeart/2017/3/layout/DropPinTimeline"/>
    <dgm:cxn modelId="{109744B0-312B-4419-8C1E-ABF277D01E16}" type="presParOf" srcId="{E83F8F4E-129E-43E6-95C7-F45C52F4E19E}" destId="{6DB73B14-BC2F-4D40-B9D7-AB91249A4775}" srcOrd="2" destOrd="0" presId="urn:microsoft.com/office/officeart/2017/3/layout/DropPinTimeline"/>
    <dgm:cxn modelId="{AF986D13-6EBF-4C8D-9B44-6CECF0A2A0E6}" type="presParOf" srcId="{E83F8F4E-129E-43E6-95C7-F45C52F4E19E}" destId="{65544206-1A8A-4318-8EA5-7B79373D6843}" srcOrd="3" destOrd="0" presId="urn:microsoft.com/office/officeart/2017/3/layout/DropPinTimeline"/>
    <dgm:cxn modelId="{753EF64A-55D8-45C7-85D4-362245DBBE39}" type="presParOf" srcId="{E83F8F4E-129E-43E6-95C7-F45C52F4E19E}" destId="{2525EF37-2AC0-4C9B-83BB-03A2A0FF0616}" srcOrd="4" destOrd="0" presId="urn:microsoft.com/office/officeart/2017/3/layout/DropPinTimeline"/>
    <dgm:cxn modelId="{26305075-BBCE-4FD0-A679-44A586EF4AEA}" type="presParOf" srcId="{E83F8F4E-129E-43E6-95C7-F45C52F4E19E}" destId="{18A7C582-E28C-432B-8CBB-B7E02316578F}" srcOrd="5" destOrd="0" presId="urn:microsoft.com/office/officeart/2017/3/layout/DropPinTimeline"/>
    <dgm:cxn modelId="{DEE8B6A5-00B5-47A5-8723-6C1CB20B8E8C}" type="presParOf" srcId="{60F72FBC-80CF-412C-9675-934826A61E19}" destId="{3C098D5D-8CCC-4B60-8A6D-DD210E093339}" srcOrd="3" destOrd="0" presId="urn:microsoft.com/office/officeart/2017/3/layout/DropPinTimeline"/>
    <dgm:cxn modelId="{E6598363-63FD-424F-B4AB-9E7F3A280173}" type="presParOf" srcId="{60F72FBC-80CF-412C-9675-934826A61E19}" destId="{84EC9883-295F-4EE8-8FCE-93A0BDF568BA}" srcOrd="4" destOrd="0" presId="urn:microsoft.com/office/officeart/2017/3/layout/DropPinTimeline"/>
    <dgm:cxn modelId="{A98AF57E-F0CD-4A11-8238-BB3853A08411}" type="presParOf" srcId="{84EC9883-295F-4EE8-8FCE-93A0BDF568BA}" destId="{D1A76D83-9A1A-40FE-BC6F-607D2817C3AD}" srcOrd="0" destOrd="0" presId="urn:microsoft.com/office/officeart/2017/3/layout/DropPinTimeline"/>
    <dgm:cxn modelId="{9A1B5919-25D1-4CBC-8322-9D6AF8F2388D}" type="presParOf" srcId="{84EC9883-295F-4EE8-8FCE-93A0BDF568BA}" destId="{B18212CA-C97A-4324-AA5C-ABE91035A9AC}" srcOrd="1" destOrd="0" presId="urn:microsoft.com/office/officeart/2017/3/layout/DropPinTimeline"/>
    <dgm:cxn modelId="{CB7FC163-6657-409D-A373-CEDAB09ED479}" type="presParOf" srcId="{B18212CA-C97A-4324-AA5C-ABE91035A9AC}" destId="{5A965D0D-7BB2-4A73-AF0C-FC3600C628B7}" srcOrd="0" destOrd="0" presId="urn:microsoft.com/office/officeart/2017/3/layout/DropPinTimeline"/>
    <dgm:cxn modelId="{4604865A-F038-40CA-8381-6C21DFFE6F87}" type="presParOf" srcId="{B18212CA-C97A-4324-AA5C-ABE91035A9AC}" destId="{8333AB6D-66B8-4901-A4EC-FC6609112F5C}" srcOrd="1" destOrd="0" presId="urn:microsoft.com/office/officeart/2017/3/layout/DropPinTimeline"/>
    <dgm:cxn modelId="{4136B810-F4E0-4C1F-A46F-886F40AD8743}" type="presParOf" srcId="{84EC9883-295F-4EE8-8FCE-93A0BDF568BA}" destId="{72230788-5BEC-4F86-8FA2-7EB9BA6F08D0}" srcOrd="2" destOrd="0" presId="urn:microsoft.com/office/officeart/2017/3/layout/DropPinTimeline"/>
    <dgm:cxn modelId="{CC697DC0-C677-4860-8C0C-016D80A206E7}" type="presParOf" srcId="{84EC9883-295F-4EE8-8FCE-93A0BDF568BA}" destId="{CD51BF99-3F64-492A-95E0-7D06D8038BBB}" srcOrd="3" destOrd="0" presId="urn:microsoft.com/office/officeart/2017/3/layout/DropPinTimeline"/>
    <dgm:cxn modelId="{3B6E3D54-4F87-4F8C-8343-88468DC39263}" type="presParOf" srcId="{84EC9883-295F-4EE8-8FCE-93A0BDF568BA}" destId="{FDD75EB2-A00E-4453-9C6F-EA7A3FA9A808}" srcOrd="4" destOrd="0" presId="urn:microsoft.com/office/officeart/2017/3/layout/DropPinTimeline"/>
    <dgm:cxn modelId="{8FC8F757-0137-4AEC-9FDA-C4FE86966EC2}" type="presParOf" srcId="{84EC9883-295F-4EE8-8FCE-93A0BDF568BA}" destId="{394DE42A-7D50-491A-A08E-2F1683C2337B}" srcOrd="5" destOrd="0" presId="urn:microsoft.com/office/officeart/2017/3/layout/DropPinTimeline"/>
    <dgm:cxn modelId="{0D995C0C-ECB1-4A16-9E68-3EF10D3D3DC6}" type="presParOf" srcId="{60F72FBC-80CF-412C-9675-934826A61E19}" destId="{DDC906C3-7C6C-4653-A8AD-B9641F04FFF8}" srcOrd="5" destOrd="0" presId="urn:microsoft.com/office/officeart/2017/3/layout/DropPinTimeline"/>
    <dgm:cxn modelId="{012551A6-2C55-4EF4-B8EE-A71613C8D992}" type="presParOf" srcId="{60F72FBC-80CF-412C-9675-934826A61E19}" destId="{9B4D8E23-1344-4917-87D0-A84CD3DEC2AA}" srcOrd="6" destOrd="0" presId="urn:microsoft.com/office/officeart/2017/3/layout/DropPinTimeline"/>
    <dgm:cxn modelId="{A9B0F97C-6CEE-4F9A-A529-7B092EF21DFB}" type="presParOf" srcId="{9B4D8E23-1344-4917-87D0-A84CD3DEC2AA}" destId="{62D458AA-066A-4A4D-8E9F-A6EE2F3CD21B}" srcOrd="0" destOrd="0" presId="urn:microsoft.com/office/officeart/2017/3/layout/DropPinTimeline"/>
    <dgm:cxn modelId="{70E49090-2DCE-4778-B555-1D03218DAF4B}" type="presParOf" srcId="{9B4D8E23-1344-4917-87D0-A84CD3DEC2AA}" destId="{C49D74F1-81C2-415E-9F5A-3B14BFD40A66}" srcOrd="1" destOrd="0" presId="urn:microsoft.com/office/officeart/2017/3/layout/DropPinTimeline"/>
    <dgm:cxn modelId="{8197DB7F-B37B-48AF-9FF2-6774E4421FA8}" type="presParOf" srcId="{C49D74F1-81C2-415E-9F5A-3B14BFD40A66}" destId="{75A25D61-2EFA-4362-8EC6-A63FCE13DE98}" srcOrd="0" destOrd="0" presId="urn:microsoft.com/office/officeart/2017/3/layout/DropPinTimeline"/>
    <dgm:cxn modelId="{FCFD906A-7705-46B2-9CBC-BB62EC43669C}" type="presParOf" srcId="{C49D74F1-81C2-415E-9F5A-3B14BFD40A66}" destId="{9CEB6FCA-8757-4CD2-89C9-FB106103B830}" srcOrd="1" destOrd="0" presId="urn:microsoft.com/office/officeart/2017/3/layout/DropPinTimeline"/>
    <dgm:cxn modelId="{A69F4548-FE8C-4B41-9906-FB6AED822FC3}" type="presParOf" srcId="{9B4D8E23-1344-4917-87D0-A84CD3DEC2AA}" destId="{A0B4054C-CE4C-41A0-AFB4-B65F76E65627}" srcOrd="2" destOrd="0" presId="urn:microsoft.com/office/officeart/2017/3/layout/DropPinTimeline"/>
    <dgm:cxn modelId="{2BE79CF1-2CFD-423E-9245-08899E5C29E0}" type="presParOf" srcId="{9B4D8E23-1344-4917-87D0-A84CD3DEC2AA}" destId="{76126AF9-9FF8-4B2D-B16F-EDA7F8971C8C}" srcOrd="3" destOrd="0" presId="urn:microsoft.com/office/officeart/2017/3/layout/DropPinTimeline"/>
    <dgm:cxn modelId="{990C200D-CB05-4E97-BA66-3D2DD6C40CC6}" type="presParOf" srcId="{9B4D8E23-1344-4917-87D0-A84CD3DEC2AA}" destId="{CA7B9FE4-B71C-4DEB-A3E6-0E9AA87BF003}" srcOrd="4" destOrd="0" presId="urn:microsoft.com/office/officeart/2017/3/layout/DropPinTimeline"/>
    <dgm:cxn modelId="{46A2D75C-4C8D-4D0F-988A-78BEA17D02E5}" type="presParOf" srcId="{9B4D8E23-1344-4917-87D0-A84CD3DEC2AA}" destId="{C8A462DE-9D63-4338-84E4-F6E5F8F27017}" srcOrd="5" destOrd="0" presId="urn:microsoft.com/office/officeart/2017/3/layout/DropPinTimeline"/>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B7AC86-79C1-49AA-A15D-3E4C38CC7C1C}">
      <dsp:nvSpPr>
        <dsp:cNvPr id="0" name=""/>
        <dsp:cNvSpPr/>
      </dsp:nvSpPr>
      <dsp:spPr>
        <a:xfrm>
          <a:off x="3003801" y="34502"/>
          <a:ext cx="1201520" cy="1009438"/>
        </a:xfrm>
        <a:prstGeom prst="trapezoid">
          <a:avLst>
            <a:gd name="adj" fmla="val 59514"/>
          </a:avLst>
        </a:prstGeom>
        <a:solidFill>
          <a:schemeClr val="accent6">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b="1" kern="1200">
            <a:latin typeface="Aptos Display" panose="02110004020202020204"/>
          </a:endParaRPr>
        </a:p>
        <a:p>
          <a:pPr marL="0" lvl="0" indent="0" algn="ctr" defTabSz="1066800">
            <a:lnSpc>
              <a:spcPct val="90000"/>
            </a:lnSpc>
            <a:spcBef>
              <a:spcPct val="0"/>
            </a:spcBef>
            <a:spcAft>
              <a:spcPct val="35000"/>
            </a:spcAft>
            <a:buNone/>
          </a:pPr>
          <a:r>
            <a:rPr lang="en-US" sz="2400" b="1" kern="1200">
              <a:latin typeface="Aptos Display" panose="02110004020202020204"/>
            </a:rPr>
            <a:t>Birds</a:t>
          </a:r>
          <a:endParaRPr lang="en-US" sz="3100" b="1" kern="1200"/>
        </a:p>
      </dsp:txBody>
      <dsp:txXfrm>
        <a:off x="3003801" y="34502"/>
        <a:ext cx="1201520" cy="1009438"/>
      </dsp:txXfrm>
    </dsp:sp>
    <dsp:sp modelId="{A4044819-B772-4EA9-92BD-0FF6D5E12180}">
      <dsp:nvSpPr>
        <dsp:cNvPr id="0" name=""/>
        <dsp:cNvSpPr/>
      </dsp:nvSpPr>
      <dsp:spPr>
        <a:xfrm>
          <a:off x="2403041" y="1009438"/>
          <a:ext cx="2403041" cy="1009438"/>
        </a:xfrm>
        <a:prstGeom prst="trapezoid">
          <a:avLst>
            <a:gd name="adj" fmla="val 59514"/>
          </a:avLst>
        </a:prstGeom>
        <a:solidFill>
          <a:schemeClr val="accent6">
            <a:shade val="50000"/>
            <a:hueOff val="138623"/>
            <a:satOff val="-10871"/>
            <a:lumOff val="157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b="1" kern="1200">
              <a:latin typeface="Calibri"/>
              <a:ea typeface="Calibri"/>
              <a:cs typeface="Calibri"/>
            </a:rPr>
            <a:t>Recycling</a:t>
          </a:r>
          <a:endParaRPr lang="en-US" sz="3000" kern="1200">
            <a:latin typeface="Aptos Display"/>
            <a:ea typeface="Calibri"/>
            <a:cs typeface="Calibri"/>
          </a:endParaRPr>
        </a:p>
      </dsp:txBody>
      <dsp:txXfrm>
        <a:off x="2823573" y="1009438"/>
        <a:ext cx="1561976" cy="1009438"/>
      </dsp:txXfrm>
    </dsp:sp>
    <dsp:sp modelId="{9C5FF0A6-934B-4006-8D9F-6805DA0FBB06}">
      <dsp:nvSpPr>
        <dsp:cNvPr id="0" name=""/>
        <dsp:cNvSpPr/>
      </dsp:nvSpPr>
      <dsp:spPr>
        <a:xfrm>
          <a:off x="1802280" y="2018877"/>
          <a:ext cx="3604561" cy="1009438"/>
        </a:xfrm>
        <a:prstGeom prst="trapezoid">
          <a:avLst>
            <a:gd name="adj" fmla="val 59514"/>
          </a:avLst>
        </a:prstGeom>
        <a:solidFill>
          <a:schemeClr val="accent6">
            <a:shade val="50000"/>
            <a:hueOff val="277245"/>
            <a:satOff val="-21741"/>
            <a:lumOff val="315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rtl="0">
            <a:lnSpc>
              <a:spcPct val="90000"/>
            </a:lnSpc>
            <a:spcBef>
              <a:spcPct val="0"/>
            </a:spcBef>
            <a:spcAft>
              <a:spcPct val="35000"/>
            </a:spcAft>
            <a:buNone/>
          </a:pPr>
          <a:r>
            <a:rPr lang="en-US" sz="3000" b="1" kern="1200">
              <a:latin typeface="Calibri"/>
              <a:ea typeface="Calibri"/>
              <a:cs typeface="Calibri"/>
            </a:rPr>
            <a:t>Licenses and Permits</a:t>
          </a:r>
        </a:p>
      </dsp:txBody>
      <dsp:txXfrm>
        <a:off x="2433079" y="2018877"/>
        <a:ext cx="2342964" cy="1009438"/>
      </dsp:txXfrm>
    </dsp:sp>
    <dsp:sp modelId="{936DEFFB-C22A-4F62-B935-7E5D2776FE37}">
      <dsp:nvSpPr>
        <dsp:cNvPr id="0" name=""/>
        <dsp:cNvSpPr/>
      </dsp:nvSpPr>
      <dsp:spPr>
        <a:xfrm>
          <a:off x="1201520" y="3028316"/>
          <a:ext cx="4806082" cy="1009438"/>
        </a:xfrm>
        <a:prstGeom prst="trapezoid">
          <a:avLst>
            <a:gd name="adj" fmla="val 59514"/>
          </a:avLst>
        </a:prstGeom>
        <a:solidFill>
          <a:schemeClr val="accent6">
            <a:shade val="50000"/>
            <a:hueOff val="415868"/>
            <a:satOff val="-32612"/>
            <a:lumOff val="473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rtl="0">
            <a:lnSpc>
              <a:spcPct val="90000"/>
            </a:lnSpc>
            <a:spcBef>
              <a:spcPct val="0"/>
            </a:spcBef>
            <a:spcAft>
              <a:spcPct val="35000"/>
            </a:spcAft>
            <a:buNone/>
          </a:pPr>
          <a:r>
            <a:rPr lang="en-US" sz="3000" b="1" kern="1200">
              <a:latin typeface="Calibri"/>
              <a:ea typeface="Calibri"/>
              <a:cs typeface="Calibri"/>
            </a:rPr>
            <a:t>Drone Damage</a:t>
          </a:r>
          <a:endParaRPr lang="en-US" sz="3000" kern="1200">
            <a:latin typeface="Calibri"/>
            <a:ea typeface="Calibri"/>
            <a:cs typeface="Calibri"/>
          </a:endParaRPr>
        </a:p>
      </dsp:txBody>
      <dsp:txXfrm>
        <a:off x="2042584" y="3028316"/>
        <a:ext cx="3123953" cy="1009438"/>
      </dsp:txXfrm>
    </dsp:sp>
    <dsp:sp modelId="{388AD237-C153-47C6-9666-3C735C4DA357}">
      <dsp:nvSpPr>
        <dsp:cNvPr id="0" name=""/>
        <dsp:cNvSpPr/>
      </dsp:nvSpPr>
      <dsp:spPr>
        <a:xfrm>
          <a:off x="600760" y="4037754"/>
          <a:ext cx="6007602" cy="1009438"/>
        </a:xfrm>
        <a:prstGeom prst="trapezoid">
          <a:avLst>
            <a:gd name="adj" fmla="val 59514"/>
          </a:avLst>
        </a:prstGeom>
        <a:solidFill>
          <a:schemeClr val="accent6">
            <a:shade val="50000"/>
            <a:hueOff val="277245"/>
            <a:satOff val="-21741"/>
            <a:lumOff val="315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rtl="0">
            <a:lnSpc>
              <a:spcPct val="90000"/>
            </a:lnSpc>
            <a:spcBef>
              <a:spcPct val="0"/>
            </a:spcBef>
            <a:spcAft>
              <a:spcPct val="35000"/>
            </a:spcAft>
            <a:buNone/>
          </a:pPr>
          <a:r>
            <a:rPr lang="en-US" sz="3000" b="1" kern="1200">
              <a:latin typeface="Calibri"/>
              <a:ea typeface="Calibri"/>
              <a:cs typeface="Calibri"/>
            </a:rPr>
            <a:t>Weather </a:t>
          </a:r>
          <a:endParaRPr lang="en-US" sz="3000" b="1" kern="1200">
            <a:latin typeface="Aptos Display" panose="02110004020202020204"/>
          </a:endParaRPr>
        </a:p>
      </dsp:txBody>
      <dsp:txXfrm>
        <a:off x="1652090" y="4037754"/>
        <a:ext cx="3904941" cy="1009438"/>
      </dsp:txXfrm>
    </dsp:sp>
    <dsp:sp modelId="{DAA22C83-1912-4D3A-921B-C76288B3A9EA}">
      <dsp:nvSpPr>
        <dsp:cNvPr id="0" name=""/>
        <dsp:cNvSpPr/>
      </dsp:nvSpPr>
      <dsp:spPr>
        <a:xfrm>
          <a:off x="0" y="5047193"/>
          <a:ext cx="7209123" cy="1009438"/>
        </a:xfrm>
        <a:prstGeom prst="trapezoid">
          <a:avLst>
            <a:gd name="adj" fmla="val 59514"/>
          </a:avLst>
        </a:prstGeom>
        <a:solidFill>
          <a:schemeClr val="accent6">
            <a:shade val="50000"/>
            <a:hueOff val="138623"/>
            <a:satOff val="-10871"/>
            <a:lumOff val="157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rtl="0">
            <a:lnSpc>
              <a:spcPct val="90000"/>
            </a:lnSpc>
            <a:spcBef>
              <a:spcPct val="0"/>
            </a:spcBef>
            <a:spcAft>
              <a:spcPct val="35000"/>
            </a:spcAft>
            <a:buNone/>
          </a:pPr>
          <a:r>
            <a:rPr lang="en-US" sz="3000" b="1" kern="1200">
              <a:latin typeface="Calibri"/>
              <a:ea typeface="Calibri"/>
              <a:cs typeface="Calibri"/>
            </a:rPr>
            <a:t>Insurance</a:t>
          </a:r>
          <a:endParaRPr lang="en-US" sz="3000" kern="1200">
            <a:latin typeface="Aptos Display" panose="02110004020202020204"/>
          </a:endParaRPr>
        </a:p>
      </dsp:txBody>
      <dsp:txXfrm>
        <a:off x="1261596" y="5047193"/>
        <a:ext cx="4685929" cy="10094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2C879B-963B-42B5-B79F-DD09C3B338BF}">
      <dsp:nvSpPr>
        <dsp:cNvPr id="0" name=""/>
        <dsp:cNvSpPr/>
      </dsp:nvSpPr>
      <dsp:spPr>
        <a:xfrm>
          <a:off x="3769" y="1809078"/>
          <a:ext cx="2266816" cy="906726"/>
        </a:xfrm>
        <a:prstGeom prst="rect">
          <a:avLst/>
        </a:prstGeom>
        <a:solidFill>
          <a:srgbClr val="051E4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None/>
          </a:pPr>
          <a:r>
            <a:rPr lang="en-GB" sz="4000" kern="1200">
              <a:solidFill>
                <a:schemeClr val="bg1"/>
              </a:solidFill>
              <a:latin typeface="Aptos Display" panose="02110004020202020204"/>
            </a:rPr>
            <a:t>First</a:t>
          </a:r>
          <a:endParaRPr lang="en-GB" sz="4000" kern="1200">
            <a:solidFill>
              <a:schemeClr val="bg1"/>
            </a:solidFill>
          </a:endParaRPr>
        </a:p>
      </dsp:txBody>
      <dsp:txXfrm>
        <a:off x="3769" y="1809078"/>
        <a:ext cx="2266816" cy="906726"/>
      </dsp:txXfrm>
    </dsp:sp>
    <dsp:sp modelId="{DFE13A27-829A-46BA-96BB-DAE1FD858798}">
      <dsp:nvSpPr>
        <dsp:cNvPr id="0" name=""/>
        <dsp:cNvSpPr/>
      </dsp:nvSpPr>
      <dsp:spPr>
        <a:xfrm>
          <a:off x="3769" y="2715805"/>
          <a:ext cx="2266816" cy="2348690"/>
        </a:xfrm>
        <a:prstGeom prst="rect">
          <a:avLst/>
        </a:prstGeom>
        <a:noFill/>
        <a:ln w="19050" cap="flat" cmpd="sng" algn="ctr">
          <a:solidFill>
            <a:srgbClr val="051E4B">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rtl="0">
            <a:lnSpc>
              <a:spcPct val="90000"/>
            </a:lnSpc>
            <a:spcBef>
              <a:spcPct val="0"/>
            </a:spcBef>
            <a:spcAft>
              <a:spcPct val="15000"/>
            </a:spcAft>
            <a:buChar char="•"/>
          </a:pPr>
          <a:r>
            <a:rPr lang="en-GB" sz="2400" kern="1200"/>
            <a:t> Implement drones for small to medium-sized farms</a:t>
          </a:r>
          <a:endParaRPr lang="en-GB" sz="2400" kern="1200">
            <a:latin typeface="Aptos Display" panose="02110004020202020204"/>
          </a:endParaRPr>
        </a:p>
      </dsp:txBody>
      <dsp:txXfrm>
        <a:off x="3769" y="2715805"/>
        <a:ext cx="2266816" cy="2348690"/>
      </dsp:txXfrm>
    </dsp:sp>
    <dsp:sp modelId="{951B6874-5D1C-4374-997F-337201CB8241}">
      <dsp:nvSpPr>
        <dsp:cNvPr id="0" name=""/>
        <dsp:cNvSpPr/>
      </dsp:nvSpPr>
      <dsp:spPr>
        <a:xfrm>
          <a:off x="2587940" y="1809078"/>
          <a:ext cx="2266816" cy="906726"/>
        </a:xfrm>
        <a:prstGeom prst="rect">
          <a:avLst/>
        </a:prstGeom>
        <a:solidFill>
          <a:srgbClr val="051E4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rtl="0">
            <a:lnSpc>
              <a:spcPct val="90000"/>
            </a:lnSpc>
            <a:spcBef>
              <a:spcPct val="0"/>
            </a:spcBef>
            <a:spcAft>
              <a:spcPct val="35000"/>
            </a:spcAft>
            <a:buNone/>
          </a:pPr>
          <a:r>
            <a:rPr lang="en-GB" sz="4000" kern="1200">
              <a:solidFill>
                <a:schemeClr val="bg1"/>
              </a:solidFill>
              <a:latin typeface="Aptos Display" panose="02110004020202020204"/>
            </a:rPr>
            <a:t>Second</a:t>
          </a:r>
          <a:endParaRPr lang="en-GB" sz="4000" kern="1200">
            <a:solidFill>
              <a:schemeClr val="bg1"/>
            </a:solidFill>
          </a:endParaRPr>
        </a:p>
      </dsp:txBody>
      <dsp:txXfrm>
        <a:off x="2587940" y="1809078"/>
        <a:ext cx="2266816" cy="906726"/>
      </dsp:txXfrm>
    </dsp:sp>
    <dsp:sp modelId="{AACDBC5D-8F78-453E-A4E4-20F86BB48A6C}">
      <dsp:nvSpPr>
        <dsp:cNvPr id="0" name=""/>
        <dsp:cNvSpPr/>
      </dsp:nvSpPr>
      <dsp:spPr>
        <a:xfrm>
          <a:off x="2587940" y="2715805"/>
          <a:ext cx="2266816" cy="2348690"/>
        </a:xfrm>
        <a:prstGeom prst="rect">
          <a:avLst/>
        </a:prstGeom>
        <a:solidFill>
          <a:schemeClr val="lt1">
            <a:alpha val="90000"/>
            <a:tint val="40000"/>
            <a:hueOff val="0"/>
            <a:satOff val="0"/>
            <a:lumOff val="0"/>
            <a:alphaOff val="0"/>
          </a:schemeClr>
        </a:solidFill>
        <a:ln w="19050" cap="flat" cmpd="sng" algn="ctr">
          <a:solidFill>
            <a:srgbClr val="051E4B">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rtl="0">
            <a:lnSpc>
              <a:spcPct val="90000"/>
            </a:lnSpc>
            <a:spcBef>
              <a:spcPct val="0"/>
            </a:spcBef>
            <a:spcAft>
              <a:spcPct val="15000"/>
            </a:spcAft>
            <a:buChar char="•"/>
          </a:pPr>
          <a:r>
            <a:rPr lang="en-GB" sz="2400" kern="1200"/>
            <a:t>Cost-effective, efficient, and sustainable</a:t>
          </a:r>
        </a:p>
      </dsp:txBody>
      <dsp:txXfrm>
        <a:off x="2587940" y="2715805"/>
        <a:ext cx="2266816" cy="2348690"/>
      </dsp:txXfrm>
    </dsp:sp>
    <dsp:sp modelId="{D48D2497-F115-4939-9AE1-75906D4CA557}">
      <dsp:nvSpPr>
        <dsp:cNvPr id="0" name=""/>
        <dsp:cNvSpPr/>
      </dsp:nvSpPr>
      <dsp:spPr>
        <a:xfrm>
          <a:off x="5172111" y="1809078"/>
          <a:ext cx="2266816" cy="906726"/>
        </a:xfrm>
        <a:prstGeom prst="rect">
          <a:avLst/>
        </a:prstGeom>
        <a:solidFill>
          <a:srgbClr val="051E4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rtl="0">
            <a:lnSpc>
              <a:spcPct val="90000"/>
            </a:lnSpc>
            <a:spcBef>
              <a:spcPct val="0"/>
            </a:spcBef>
            <a:spcAft>
              <a:spcPct val="35000"/>
            </a:spcAft>
            <a:buNone/>
          </a:pPr>
          <a:r>
            <a:rPr lang="en-GB" sz="4000" kern="1200">
              <a:solidFill>
                <a:schemeClr val="bg1"/>
              </a:solidFill>
              <a:latin typeface="Aptos Display" panose="02110004020202020204"/>
            </a:rPr>
            <a:t>Third</a:t>
          </a:r>
          <a:endParaRPr lang="en-GB" sz="4000" kern="1200">
            <a:solidFill>
              <a:schemeClr val="bg1"/>
            </a:solidFill>
          </a:endParaRPr>
        </a:p>
      </dsp:txBody>
      <dsp:txXfrm>
        <a:off x="5172111" y="1809078"/>
        <a:ext cx="2266816" cy="906726"/>
      </dsp:txXfrm>
    </dsp:sp>
    <dsp:sp modelId="{0A4DA08D-8ED8-4285-8493-B16248EE2572}">
      <dsp:nvSpPr>
        <dsp:cNvPr id="0" name=""/>
        <dsp:cNvSpPr/>
      </dsp:nvSpPr>
      <dsp:spPr>
        <a:xfrm>
          <a:off x="5172111" y="2715805"/>
          <a:ext cx="2266816" cy="2348690"/>
        </a:xfrm>
        <a:prstGeom prst="rect">
          <a:avLst/>
        </a:prstGeom>
        <a:solidFill>
          <a:schemeClr val="lt1">
            <a:alpha val="90000"/>
            <a:tint val="40000"/>
            <a:hueOff val="0"/>
            <a:satOff val="0"/>
            <a:lumOff val="0"/>
            <a:alphaOff val="0"/>
          </a:schemeClr>
        </a:solidFill>
        <a:ln w="19050" cap="flat" cmpd="sng" algn="ctr">
          <a:solidFill>
            <a:srgbClr val="051E4B">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rtl="0">
            <a:lnSpc>
              <a:spcPct val="90000"/>
            </a:lnSpc>
            <a:spcBef>
              <a:spcPct val="0"/>
            </a:spcBef>
            <a:spcAft>
              <a:spcPct val="15000"/>
            </a:spcAft>
            <a:buChar char="•"/>
          </a:pPr>
          <a:r>
            <a:rPr lang="en-GB" sz="2400" kern="1200"/>
            <a:t>Advanced drones with high-resolution cameras &amp; sensors</a:t>
          </a:r>
          <a:endParaRPr lang="en-GB" sz="2400" kern="1200">
            <a:latin typeface="Aptos Display" panose="02110004020202020204"/>
          </a:endParaRPr>
        </a:p>
      </dsp:txBody>
      <dsp:txXfrm>
        <a:off x="5172111" y="2715805"/>
        <a:ext cx="2266816" cy="2348690"/>
      </dsp:txXfrm>
    </dsp:sp>
    <dsp:sp modelId="{9F41F085-8106-47B8-B7C6-855D452CC64B}">
      <dsp:nvSpPr>
        <dsp:cNvPr id="0" name=""/>
        <dsp:cNvSpPr/>
      </dsp:nvSpPr>
      <dsp:spPr>
        <a:xfrm>
          <a:off x="7756282" y="1809078"/>
          <a:ext cx="2266816" cy="906726"/>
        </a:xfrm>
        <a:prstGeom prst="rect">
          <a:avLst/>
        </a:prstGeom>
        <a:solidFill>
          <a:srgbClr val="051E4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rtl="0">
            <a:lnSpc>
              <a:spcPct val="90000"/>
            </a:lnSpc>
            <a:spcBef>
              <a:spcPct val="0"/>
            </a:spcBef>
            <a:spcAft>
              <a:spcPct val="35000"/>
            </a:spcAft>
            <a:buNone/>
          </a:pPr>
          <a:r>
            <a:rPr lang="en-GB" sz="4000" kern="1200">
              <a:latin typeface="Calibri"/>
              <a:ea typeface="Calibri"/>
              <a:cs typeface="Calibri"/>
            </a:rPr>
            <a:t> </a:t>
          </a:r>
          <a:r>
            <a:rPr lang="en-GB" sz="4000" kern="1200">
              <a:solidFill>
                <a:schemeClr val="bg1"/>
              </a:solidFill>
              <a:latin typeface="Calibri"/>
              <a:ea typeface="Calibri"/>
              <a:cs typeface="Calibri"/>
            </a:rPr>
            <a:t>Fourth</a:t>
          </a:r>
        </a:p>
      </dsp:txBody>
      <dsp:txXfrm>
        <a:off x="7756282" y="1809078"/>
        <a:ext cx="2266816" cy="906726"/>
      </dsp:txXfrm>
    </dsp:sp>
    <dsp:sp modelId="{207A23C7-3AA7-463C-BECD-56752CEB9139}">
      <dsp:nvSpPr>
        <dsp:cNvPr id="0" name=""/>
        <dsp:cNvSpPr/>
      </dsp:nvSpPr>
      <dsp:spPr>
        <a:xfrm>
          <a:off x="7756282" y="2715805"/>
          <a:ext cx="2266816" cy="2348690"/>
        </a:xfrm>
        <a:prstGeom prst="rect">
          <a:avLst/>
        </a:prstGeom>
        <a:solidFill>
          <a:schemeClr val="lt1">
            <a:alpha val="90000"/>
            <a:tint val="40000"/>
            <a:hueOff val="0"/>
            <a:satOff val="0"/>
            <a:lumOff val="0"/>
            <a:alphaOff val="0"/>
          </a:schemeClr>
        </a:solidFill>
        <a:ln w="19050" cap="flat" cmpd="sng" algn="ctr">
          <a:solidFill>
            <a:srgbClr val="051E4B">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rtl="0">
            <a:lnSpc>
              <a:spcPct val="90000"/>
            </a:lnSpc>
            <a:spcBef>
              <a:spcPct val="0"/>
            </a:spcBef>
            <a:spcAft>
              <a:spcPct val="15000"/>
            </a:spcAft>
            <a:buChar char="•"/>
          </a:pPr>
          <a:r>
            <a:rPr lang="en-GB" sz="2400" kern="1200"/>
            <a:t> Integrated with data analytics for decision-making</a:t>
          </a:r>
          <a:endParaRPr lang="en-GB" sz="2400" kern="1200">
            <a:latin typeface="Calibri"/>
            <a:ea typeface="Calibri"/>
            <a:cs typeface="Calibri"/>
          </a:endParaRPr>
        </a:p>
      </dsp:txBody>
      <dsp:txXfrm>
        <a:off x="7756282" y="2715805"/>
        <a:ext cx="2266816" cy="23486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087FA-1F92-4D34-94B7-36C81C669EA7}">
      <dsp:nvSpPr>
        <dsp:cNvPr id="0" name=""/>
        <dsp:cNvSpPr/>
      </dsp:nvSpPr>
      <dsp:spPr>
        <a:xfrm>
          <a:off x="715" y="520941"/>
          <a:ext cx="2789286" cy="1673571"/>
        </a:xfrm>
        <a:prstGeom prst="rect">
          <a:avLst/>
        </a:prstGeom>
        <a:solidFill>
          <a:srgbClr val="051E4B"/>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GB" sz="3300" kern="1200">
              <a:latin typeface="Aptos Display" panose="02110004020202020204"/>
            </a:rPr>
            <a:t>Faster &amp; Smarter Farming</a:t>
          </a:r>
          <a:endParaRPr lang="en-GB" sz="3300" kern="1200"/>
        </a:p>
      </dsp:txBody>
      <dsp:txXfrm>
        <a:off x="715" y="520941"/>
        <a:ext cx="2789286" cy="1673571"/>
      </dsp:txXfrm>
    </dsp:sp>
    <dsp:sp modelId="{81F8B75D-6826-481F-AD08-65D0066DC1A1}">
      <dsp:nvSpPr>
        <dsp:cNvPr id="0" name=""/>
        <dsp:cNvSpPr/>
      </dsp:nvSpPr>
      <dsp:spPr>
        <a:xfrm>
          <a:off x="3068930" y="520941"/>
          <a:ext cx="2789286" cy="1673571"/>
        </a:xfrm>
        <a:prstGeom prst="rect">
          <a:avLst/>
        </a:prstGeom>
        <a:solidFill>
          <a:srgbClr val="051E4B"/>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GB" sz="3300" kern="1200">
              <a:latin typeface="Aptos Display" panose="02110004020202020204"/>
            </a:rPr>
            <a:t>Sustainability</a:t>
          </a:r>
          <a:endParaRPr lang="en-GB" sz="3300" kern="1200"/>
        </a:p>
      </dsp:txBody>
      <dsp:txXfrm>
        <a:off x="3068930" y="520941"/>
        <a:ext cx="2789286" cy="1673571"/>
      </dsp:txXfrm>
    </dsp:sp>
    <dsp:sp modelId="{91B346B2-B240-496F-AC86-063AEEC1CA35}">
      <dsp:nvSpPr>
        <dsp:cNvPr id="0" name=""/>
        <dsp:cNvSpPr/>
      </dsp:nvSpPr>
      <dsp:spPr>
        <a:xfrm>
          <a:off x="1534822" y="2473441"/>
          <a:ext cx="2789286" cy="1673571"/>
        </a:xfrm>
        <a:prstGeom prst="rect">
          <a:avLst/>
        </a:prstGeom>
        <a:solidFill>
          <a:srgbClr val="051E4B"/>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GB" sz="3300" kern="1200">
              <a:latin typeface="Aptos Display" panose="02110004020202020204"/>
            </a:rPr>
            <a:t>Growing Demand</a:t>
          </a:r>
          <a:endParaRPr lang="en-GB" sz="3300" kern="1200"/>
        </a:p>
      </dsp:txBody>
      <dsp:txXfrm>
        <a:off x="1534822" y="2473441"/>
        <a:ext cx="2789286" cy="167357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078DF0-5030-434B-9E2B-14369E7A8E57}">
      <dsp:nvSpPr>
        <dsp:cNvPr id="0" name=""/>
        <dsp:cNvSpPr/>
      </dsp:nvSpPr>
      <dsp:spPr>
        <a:xfrm>
          <a:off x="0" y="2274711"/>
          <a:ext cx="5689600" cy="0"/>
        </a:xfrm>
        <a:prstGeom prst="line">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D6D1925E-C740-487D-AF38-FCCE8E342919}">
      <dsp:nvSpPr>
        <dsp:cNvPr id="0" name=""/>
        <dsp:cNvSpPr/>
      </dsp:nvSpPr>
      <dsp:spPr>
        <a:xfrm rot="8100000">
          <a:off x="67004" y="530196"/>
          <a:ext cx="322630" cy="322630"/>
        </a:xfrm>
        <a:prstGeom prst="teardrop">
          <a:avLst>
            <a:gd name="adj" fmla="val 115000"/>
          </a:avLst>
        </a:prstGeom>
        <a:solidFill>
          <a:srgbClr val="051E4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FFF98B-F18E-4F22-9B0D-F506749C9B78}">
      <dsp:nvSpPr>
        <dsp:cNvPr id="0" name=""/>
        <dsp:cNvSpPr/>
      </dsp:nvSpPr>
      <dsp:spPr>
        <a:xfrm>
          <a:off x="102845" y="566038"/>
          <a:ext cx="250947" cy="250947"/>
        </a:xfrm>
        <a:prstGeom prst="ellipse">
          <a:avLst/>
        </a:prstGeom>
        <a:solidFill>
          <a:schemeClr val="dk1">
            <a:alpha val="90000"/>
            <a:tint val="4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C3649315-E54A-4795-9450-6DBB7BCFDB6D}">
      <dsp:nvSpPr>
        <dsp:cNvPr id="0" name=""/>
        <dsp:cNvSpPr/>
      </dsp:nvSpPr>
      <dsp:spPr>
        <a:xfrm>
          <a:off x="456454" y="928082"/>
          <a:ext cx="1829688" cy="1346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3500" rIns="63500" bIns="95250" numCol="1" spcCol="1270" anchor="t" anchorCtr="0">
          <a:noAutofit/>
        </a:bodyPr>
        <a:lstStyle/>
        <a:p>
          <a:pPr marL="0" lvl="0" indent="0" algn="l" defTabSz="444500">
            <a:lnSpc>
              <a:spcPct val="90000"/>
            </a:lnSpc>
            <a:spcBef>
              <a:spcPct val="0"/>
            </a:spcBef>
            <a:spcAft>
              <a:spcPct val="35000"/>
            </a:spcAft>
            <a:buNone/>
          </a:pPr>
          <a:r>
            <a:rPr lang="en-GB" sz="1000" kern="1200">
              <a:latin typeface="Aptos Display" panose="02110004020202020204"/>
            </a:rPr>
            <a:t> </a:t>
          </a:r>
          <a:endParaRPr lang="en-GB" sz="1000" kern="1200"/>
        </a:p>
      </dsp:txBody>
      <dsp:txXfrm>
        <a:off x="456454" y="928082"/>
        <a:ext cx="1829688" cy="1346628"/>
      </dsp:txXfrm>
    </dsp:sp>
    <dsp:sp modelId="{BE65A3F2-6941-4F7D-8B2E-BF651EA024DB}">
      <dsp:nvSpPr>
        <dsp:cNvPr id="0" name=""/>
        <dsp:cNvSpPr/>
      </dsp:nvSpPr>
      <dsp:spPr>
        <a:xfrm>
          <a:off x="456454" y="454942"/>
          <a:ext cx="1829688" cy="473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GB" sz="1400" kern="1200">
              <a:latin typeface="Aptos Display" panose="02110004020202020204"/>
            </a:rPr>
            <a:t> Market Research &amp; Farmer Engagement</a:t>
          </a:r>
          <a:endParaRPr lang="en-GB" sz="1400" kern="1200"/>
        </a:p>
      </dsp:txBody>
      <dsp:txXfrm>
        <a:off x="456454" y="454942"/>
        <a:ext cx="1829688" cy="473139"/>
      </dsp:txXfrm>
    </dsp:sp>
    <dsp:sp modelId="{1F615001-534C-4EE8-9E9E-3A365E924ABF}">
      <dsp:nvSpPr>
        <dsp:cNvPr id="0" name=""/>
        <dsp:cNvSpPr/>
      </dsp:nvSpPr>
      <dsp:spPr>
        <a:xfrm>
          <a:off x="228319" y="928082"/>
          <a:ext cx="0" cy="1346628"/>
        </a:xfrm>
        <a:prstGeom prst="line">
          <a:avLst/>
        </a:prstGeom>
        <a:noFill/>
        <a:ln w="12700" cap="flat" cmpd="sng" algn="ctr">
          <a:solidFill>
            <a:schemeClr val="dk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D36AC2D-D439-4ED4-9B6D-E8E0254D9ED5}">
      <dsp:nvSpPr>
        <dsp:cNvPr id="0" name=""/>
        <dsp:cNvSpPr/>
      </dsp:nvSpPr>
      <dsp:spPr>
        <a:xfrm>
          <a:off x="195691" y="2232128"/>
          <a:ext cx="82128" cy="85165"/>
        </a:xfrm>
        <a:prstGeom prst="ellipse">
          <a:avLst/>
        </a:prstGeom>
        <a:solidFill>
          <a:schemeClr val="lt1">
            <a:hueOff val="0"/>
            <a:satOff val="0"/>
            <a:lumOff val="0"/>
            <a:alphaOff val="0"/>
          </a:schemeClr>
        </a:solidFill>
        <a:ln w="63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24B689-1319-4A17-9DE5-A84B745797C2}">
      <dsp:nvSpPr>
        <dsp:cNvPr id="0" name=""/>
        <dsp:cNvSpPr/>
      </dsp:nvSpPr>
      <dsp:spPr>
        <a:xfrm rot="18900000">
          <a:off x="1201428" y="3696594"/>
          <a:ext cx="322630" cy="322630"/>
        </a:xfrm>
        <a:prstGeom prst="teardrop">
          <a:avLst>
            <a:gd name="adj" fmla="val 115000"/>
          </a:avLst>
        </a:prstGeom>
        <a:solidFill>
          <a:srgbClr val="051E4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16CAF3-AFBD-49F1-9B0C-6CF99D413AA8}">
      <dsp:nvSpPr>
        <dsp:cNvPr id="0" name=""/>
        <dsp:cNvSpPr/>
      </dsp:nvSpPr>
      <dsp:spPr>
        <a:xfrm>
          <a:off x="1237269" y="3732436"/>
          <a:ext cx="250947" cy="250947"/>
        </a:xfrm>
        <a:prstGeom prst="ellipse">
          <a:avLst/>
        </a:prstGeom>
        <a:solidFill>
          <a:schemeClr val="dk1">
            <a:alpha val="90000"/>
            <a:tint val="4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6DB73B14-BC2F-4D40-B9D7-AB91249A4775}">
      <dsp:nvSpPr>
        <dsp:cNvPr id="0" name=""/>
        <dsp:cNvSpPr/>
      </dsp:nvSpPr>
      <dsp:spPr>
        <a:xfrm>
          <a:off x="1590878" y="2274711"/>
          <a:ext cx="1829688" cy="1346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0" bIns="63500" numCol="1" spcCol="1270" anchor="b" anchorCtr="0">
          <a:noAutofit/>
        </a:bodyPr>
        <a:lstStyle/>
        <a:p>
          <a:pPr marL="0" lvl="0" indent="0" algn="l" defTabSz="444500">
            <a:lnSpc>
              <a:spcPct val="90000"/>
            </a:lnSpc>
            <a:spcBef>
              <a:spcPct val="0"/>
            </a:spcBef>
            <a:spcAft>
              <a:spcPct val="35000"/>
            </a:spcAft>
            <a:buNone/>
          </a:pPr>
          <a:r>
            <a:rPr lang="en-GB" sz="1000" kern="1200">
              <a:latin typeface="Aptos Display" panose="02110004020202020204"/>
            </a:rPr>
            <a:t> </a:t>
          </a:r>
          <a:endParaRPr lang="en-GB" sz="1000" kern="1200"/>
        </a:p>
      </dsp:txBody>
      <dsp:txXfrm>
        <a:off x="1590878" y="2274711"/>
        <a:ext cx="1829688" cy="1346628"/>
      </dsp:txXfrm>
    </dsp:sp>
    <dsp:sp modelId="{65544206-1A8A-4318-8EA5-7B79373D6843}">
      <dsp:nvSpPr>
        <dsp:cNvPr id="0" name=""/>
        <dsp:cNvSpPr/>
      </dsp:nvSpPr>
      <dsp:spPr>
        <a:xfrm>
          <a:off x="1590878" y="3621339"/>
          <a:ext cx="1829688" cy="473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GB" sz="1400" kern="1200">
              <a:latin typeface="Aptos Display" panose="02110004020202020204"/>
            </a:rPr>
            <a:t> Regulatory Approvals &amp; Pilot Testing</a:t>
          </a:r>
          <a:endParaRPr lang="en-GB" sz="1400" kern="1200"/>
        </a:p>
      </dsp:txBody>
      <dsp:txXfrm>
        <a:off x="1590878" y="3621339"/>
        <a:ext cx="1829688" cy="473139"/>
      </dsp:txXfrm>
    </dsp:sp>
    <dsp:sp modelId="{2525EF37-2AC0-4C9B-83BB-03A2A0FF0616}">
      <dsp:nvSpPr>
        <dsp:cNvPr id="0" name=""/>
        <dsp:cNvSpPr/>
      </dsp:nvSpPr>
      <dsp:spPr>
        <a:xfrm>
          <a:off x="1362743" y="2274711"/>
          <a:ext cx="0" cy="1346628"/>
        </a:xfrm>
        <a:prstGeom prst="line">
          <a:avLst/>
        </a:prstGeom>
        <a:noFill/>
        <a:ln w="12700" cap="flat" cmpd="sng" algn="ctr">
          <a:solidFill>
            <a:schemeClr val="dk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21A2683-3C59-4015-B62F-9D5D5DE8DC6C}">
      <dsp:nvSpPr>
        <dsp:cNvPr id="0" name=""/>
        <dsp:cNvSpPr/>
      </dsp:nvSpPr>
      <dsp:spPr>
        <a:xfrm>
          <a:off x="1330115" y="2232128"/>
          <a:ext cx="82128" cy="85165"/>
        </a:xfrm>
        <a:prstGeom prst="ellipse">
          <a:avLst/>
        </a:prstGeom>
        <a:solidFill>
          <a:schemeClr val="lt1">
            <a:hueOff val="0"/>
            <a:satOff val="0"/>
            <a:lumOff val="0"/>
            <a:alphaOff val="0"/>
          </a:schemeClr>
        </a:solidFill>
        <a:ln w="63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965D0D-7BB2-4A73-AF0C-FC3600C628B7}">
      <dsp:nvSpPr>
        <dsp:cNvPr id="0" name=""/>
        <dsp:cNvSpPr/>
      </dsp:nvSpPr>
      <dsp:spPr>
        <a:xfrm rot="8100000">
          <a:off x="2335852" y="530196"/>
          <a:ext cx="322630" cy="322630"/>
        </a:xfrm>
        <a:prstGeom prst="teardrop">
          <a:avLst>
            <a:gd name="adj" fmla="val 115000"/>
          </a:avLst>
        </a:prstGeom>
        <a:solidFill>
          <a:srgbClr val="051E4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33AB6D-66B8-4901-A4EC-FC6609112F5C}">
      <dsp:nvSpPr>
        <dsp:cNvPr id="0" name=""/>
        <dsp:cNvSpPr/>
      </dsp:nvSpPr>
      <dsp:spPr>
        <a:xfrm>
          <a:off x="2371694" y="566038"/>
          <a:ext cx="250947" cy="250947"/>
        </a:xfrm>
        <a:prstGeom prst="ellipse">
          <a:avLst/>
        </a:prstGeom>
        <a:solidFill>
          <a:schemeClr val="dk1">
            <a:alpha val="90000"/>
            <a:tint val="4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72230788-5BEC-4F86-8FA2-7EB9BA6F08D0}">
      <dsp:nvSpPr>
        <dsp:cNvPr id="0" name=""/>
        <dsp:cNvSpPr/>
      </dsp:nvSpPr>
      <dsp:spPr>
        <a:xfrm>
          <a:off x="2725302" y="928082"/>
          <a:ext cx="1829688" cy="1346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3500" rIns="63500" bIns="95250" numCol="1" spcCol="1270" anchor="t" anchorCtr="0">
          <a:noAutofit/>
        </a:bodyPr>
        <a:lstStyle/>
        <a:p>
          <a:pPr marL="0" lvl="0" indent="0" algn="l" defTabSz="444500">
            <a:lnSpc>
              <a:spcPct val="90000"/>
            </a:lnSpc>
            <a:spcBef>
              <a:spcPct val="0"/>
            </a:spcBef>
            <a:spcAft>
              <a:spcPct val="35000"/>
            </a:spcAft>
            <a:buNone/>
          </a:pPr>
          <a:r>
            <a:rPr lang="en-GB" sz="1000" kern="1200">
              <a:latin typeface="Aptos Display" panose="02110004020202020204"/>
            </a:rPr>
            <a:t> </a:t>
          </a:r>
          <a:endParaRPr lang="en-GB" sz="1000" kern="1200"/>
        </a:p>
      </dsp:txBody>
      <dsp:txXfrm>
        <a:off x="2725302" y="928082"/>
        <a:ext cx="1829688" cy="1346628"/>
      </dsp:txXfrm>
    </dsp:sp>
    <dsp:sp modelId="{CD51BF99-3F64-492A-95E0-7D06D8038BBB}">
      <dsp:nvSpPr>
        <dsp:cNvPr id="0" name=""/>
        <dsp:cNvSpPr/>
      </dsp:nvSpPr>
      <dsp:spPr>
        <a:xfrm>
          <a:off x="2725302" y="454942"/>
          <a:ext cx="1829688" cy="473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GB" sz="1400" kern="1200">
              <a:latin typeface="Aptos Display" panose="02110004020202020204"/>
            </a:rPr>
            <a:t> Launch Drone Services &amp; Training</a:t>
          </a:r>
          <a:endParaRPr lang="en-GB" sz="1400" kern="1200"/>
        </a:p>
      </dsp:txBody>
      <dsp:txXfrm>
        <a:off x="2725302" y="454942"/>
        <a:ext cx="1829688" cy="473139"/>
      </dsp:txXfrm>
    </dsp:sp>
    <dsp:sp modelId="{FDD75EB2-A00E-4453-9C6F-EA7A3FA9A808}">
      <dsp:nvSpPr>
        <dsp:cNvPr id="0" name=""/>
        <dsp:cNvSpPr/>
      </dsp:nvSpPr>
      <dsp:spPr>
        <a:xfrm>
          <a:off x="2497167" y="928082"/>
          <a:ext cx="0" cy="1346628"/>
        </a:xfrm>
        <a:prstGeom prst="line">
          <a:avLst/>
        </a:prstGeom>
        <a:noFill/>
        <a:ln w="12700" cap="flat" cmpd="sng" algn="ctr">
          <a:solidFill>
            <a:schemeClr val="dk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1A76D83-9A1A-40FE-BC6F-607D2817C3AD}">
      <dsp:nvSpPr>
        <dsp:cNvPr id="0" name=""/>
        <dsp:cNvSpPr/>
      </dsp:nvSpPr>
      <dsp:spPr>
        <a:xfrm>
          <a:off x="2464539" y="2232128"/>
          <a:ext cx="82128" cy="85165"/>
        </a:xfrm>
        <a:prstGeom prst="ellipse">
          <a:avLst/>
        </a:prstGeom>
        <a:solidFill>
          <a:schemeClr val="lt1">
            <a:hueOff val="0"/>
            <a:satOff val="0"/>
            <a:lumOff val="0"/>
            <a:alphaOff val="0"/>
          </a:schemeClr>
        </a:solidFill>
        <a:ln w="63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A25D61-2EFA-4362-8EC6-A63FCE13DE98}">
      <dsp:nvSpPr>
        <dsp:cNvPr id="0" name=""/>
        <dsp:cNvSpPr/>
      </dsp:nvSpPr>
      <dsp:spPr>
        <a:xfrm rot="18900000">
          <a:off x="3470276" y="3696594"/>
          <a:ext cx="322630" cy="322630"/>
        </a:xfrm>
        <a:prstGeom prst="teardrop">
          <a:avLst>
            <a:gd name="adj" fmla="val 115000"/>
          </a:avLst>
        </a:prstGeom>
        <a:solidFill>
          <a:srgbClr val="051E4B"/>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EB6FCA-8757-4CD2-89C9-FB106103B830}">
      <dsp:nvSpPr>
        <dsp:cNvPr id="0" name=""/>
        <dsp:cNvSpPr/>
      </dsp:nvSpPr>
      <dsp:spPr>
        <a:xfrm>
          <a:off x="3506118" y="3732436"/>
          <a:ext cx="250947" cy="250947"/>
        </a:xfrm>
        <a:prstGeom prst="ellipse">
          <a:avLst/>
        </a:prstGeom>
        <a:solidFill>
          <a:schemeClr val="dk1">
            <a:alpha val="90000"/>
            <a:tint val="4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A0B4054C-CE4C-41A0-AFB4-B65F76E65627}">
      <dsp:nvSpPr>
        <dsp:cNvPr id="0" name=""/>
        <dsp:cNvSpPr/>
      </dsp:nvSpPr>
      <dsp:spPr>
        <a:xfrm>
          <a:off x="3859726" y="2274711"/>
          <a:ext cx="1829688" cy="1346628"/>
        </a:xfrm>
        <a:prstGeom prst="rect">
          <a:avLst/>
        </a:prstGeom>
        <a:noFill/>
        <a:ln>
          <a:noFill/>
        </a:ln>
        <a:effectLst/>
      </dsp:spPr>
      <dsp:style>
        <a:lnRef idx="0">
          <a:scrgbClr r="0" g="0" b="0"/>
        </a:lnRef>
        <a:fillRef idx="0">
          <a:scrgbClr r="0" g="0" b="0"/>
        </a:fillRef>
        <a:effectRef idx="0">
          <a:scrgbClr r="0" g="0" b="0"/>
        </a:effectRef>
        <a:fontRef idx="minor"/>
      </dsp:style>
    </dsp:sp>
    <dsp:sp modelId="{76126AF9-9FF8-4B2D-B16F-EDA7F8971C8C}">
      <dsp:nvSpPr>
        <dsp:cNvPr id="0" name=""/>
        <dsp:cNvSpPr/>
      </dsp:nvSpPr>
      <dsp:spPr>
        <a:xfrm>
          <a:off x="3859726" y="3621339"/>
          <a:ext cx="1829688" cy="473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GB" sz="1400" b="1" kern="1200">
              <a:latin typeface="Aptos Display" panose="02110004020202020204"/>
            </a:rPr>
            <a:t> Full-Scale Implementation</a:t>
          </a:r>
        </a:p>
      </dsp:txBody>
      <dsp:txXfrm>
        <a:off x="3859726" y="3621339"/>
        <a:ext cx="1829688" cy="473139"/>
      </dsp:txXfrm>
    </dsp:sp>
    <dsp:sp modelId="{CA7B9FE4-B71C-4DEB-A3E6-0E9AA87BF003}">
      <dsp:nvSpPr>
        <dsp:cNvPr id="0" name=""/>
        <dsp:cNvSpPr/>
      </dsp:nvSpPr>
      <dsp:spPr>
        <a:xfrm>
          <a:off x="3631591" y="2274711"/>
          <a:ext cx="0" cy="1346628"/>
        </a:xfrm>
        <a:prstGeom prst="line">
          <a:avLst/>
        </a:prstGeom>
        <a:noFill/>
        <a:ln w="12700" cap="flat" cmpd="sng" algn="ctr">
          <a:solidFill>
            <a:schemeClr val="dk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2D458AA-066A-4A4D-8E9F-A6EE2F3CD21B}">
      <dsp:nvSpPr>
        <dsp:cNvPr id="0" name=""/>
        <dsp:cNvSpPr/>
      </dsp:nvSpPr>
      <dsp:spPr>
        <a:xfrm>
          <a:off x="3598963" y="2232128"/>
          <a:ext cx="82128" cy="85165"/>
        </a:xfrm>
        <a:prstGeom prst="ellipse">
          <a:avLst/>
        </a:prstGeom>
        <a:solidFill>
          <a:schemeClr val="lt1">
            <a:hueOff val="0"/>
            <a:satOff val="0"/>
            <a:lumOff val="0"/>
            <a:alphaOff val="0"/>
          </a:schemeClr>
        </a:solidFill>
        <a:ln w="63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840C0-9078-3A41-88FD-0C9C9E5D31E8}" type="datetimeFigureOut">
              <a:rPr lang="en-DE" smtClean="0"/>
              <a:t>05/24/2026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CD8E67-5CC0-BE47-832B-368A4FAA1099}" type="slidenum">
              <a:rPr lang="en-DE" smtClean="0"/>
              <a:t>‹#›</a:t>
            </a:fld>
            <a:endParaRPr lang="en-DE"/>
          </a:p>
        </p:txBody>
      </p:sp>
    </p:spTree>
    <p:extLst>
      <p:ext uri="{BB962C8B-B14F-4D97-AF65-F5344CB8AC3E}">
        <p14:creationId xmlns:p14="http://schemas.microsoft.com/office/powerpoint/2010/main" val="3008316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Presented by Dani</a:t>
            </a:r>
          </a:p>
          <a:p>
            <a:br>
              <a:rPr lang="en-DE">
                <a:cs typeface="+mn-lt"/>
              </a:rPr>
            </a:br>
            <a:r>
              <a:rPr lang="en-US"/>
              <a:t>Script: Our project delivers a drone-powered crop monitoring system specifically designed </a:t>
            </a:r>
            <a:endParaRPr lang="en-DE"/>
          </a:p>
          <a:p>
            <a:r>
              <a:rPr lang="en-US"/>
              <a:t>for small to medium-sized farmers that addresses critical challenges facing the agricultural sector.</a:t>
            </a:r>
            <a:endParaRPr lang="en-DE"/>
          </a:p>
          <a:p>
            <a:endParaRPr lang="en-US"/>
          </a:p>
          <a:p>
            <a:r>
              <a:rPr lang="en-US"/>
              <a:t>Many small to medium-sized farmers struggle with manual monitoring and time-consuming tasks due to outdated methods </a:t>
            </a:r>
            <a:endParaRPr lang="en-DE"/>
          </a:p>
          <a:p>
            <a:r>
              <a:rPr lang="en-US"/>
              <a:t>and limited labor. Our solution provides an affordable system allowing access to advanced technologies without high upfront costs.</a:t>
            </a:r>
            <a:endParaRPr lang="en-DE"/>
          </a:p>
          <a:p>
            <a:endParaRPr lang="en-US"/>
          </a:p>
          <a:p>
            <a:r>
              <a:rPr lang="en-US"/>
              <a:t>Using drones equipped with high-resolution cameras and multispectral sensors, farmers can monitor plant health, </a:t>
            </a:r>
            <a:endParaRPr lang="en-DE"/>
          </a:p>
          <a:p>
            <a:r>
              <a:rPr lang="en-US"/>
              <a:t>detect pests and diseases early, and optimize resource usage. Our cost-benefit analysis shows compelling financial advantages, </a:t>
            </a:r>
            <a:endParaRPr lang="en-DE"/>
          </a:p>
          <a:p>
            <a:r>
              <a:rPr lang="en-US"/>
              <a:t>with small farms achieving break-even in approximately 8.6 months and medium-sized farms in just 3.7 months.</a:t>
            </a:r>
            <a:endParaRPr lang="en-DE"/>
          </a:p>
          <a:p>
            <a:endParaRPr lang="en-US"/>
          </a:p>
          <a:p>
            <a:r>
              <a:rPr lang="en-US"/>
              <a:t>Key objectives include providing an affordable option for small to medium-sized farm owners, reducing manual labor for inspections, cutting costs through early issue detection, improving crop yields through data-driven decisions, and promoting sustainable farming by minimizing chemical overuse.</a:t>
            </a:r>
            <a:endParaRPr lang="en-DE"/>
          </a:p>
          <a:p>
            <a:endParaRPr lang="en-US"/>
          </a:p>
          <a:p>
            <a:r>
              <a:rPr lang="en-US"/>
              <a:t>The expected benefits extend beyond individual farms to include increased agricultural productivity </a:t>
            </a:r>
            <a:endParaRPr lang="en-DE"/>
          </a:p>
          <a:p>
            <a:r>
              <a:rPr lang="en-US"/>
              <a:t>across the sector, significant cost savings through waste reduction and time optimization, and enhanced </a:t>
            </a:r>
            <a:endParaRPr lang="en-DE"/>
          </a:p>
          <a:p>
            <a:r>
              <a:rPr lang="en-US"/>
              <a:t>environmental sustainability through precision farming techniques.</a:t>
            </a:r>
            <a:endParaRPr lang="en-DE"/>
          </a:p>
          <a:p>
            <a:r>
              <a:rPr lang="en-US"/>
              <a:t>Our system represents an efficient, sustainable, and financially viable solution that modernizes farming </a:t>
            </a:r>
            <a:endParaRPr lang="en-DE"/>
          </a:p>
          <a:p>
            <a:r>
              <a:rPr lang="en-US"/>
              <a:t>practices while addressing the labor shortages, environmental regulations, and resource optimization </a:t>
            </a:r>
            <a:endParaRPr lang="en-DE"/>
          </a:p>
          <a:p>
            <a:r>
              <a:rPr lang="en-US"/>
              <a:t>challenges that the agricultural sector currently faces.</a:t>
            </a:r>
            <a:endParaRPr lang="en-DE"/>
          </a:p>
          <a:p>
            <a:endParaRPr lang="en-DE">
              <a:cs typeface="+mn-lt"/>
            </a:endParaRPr>
          </a:p>
        </p:txBody>
      </p:sp>
      <p:sp>
        <p:nvSpPr>
          <p:cNvPr id="4" name="Slide Number Placeholder 3"/>
          <p:cNvSpPr>
            <a:spLocks noGrp="1"/>
          </p:cNvSpPr>
          <p:nvPr>
            <p:ph type="sldNum" sz="quarter" idx="5"/>
          </p:nvPr>
        </p:nvSpPr>
        <p:spPr/>
        <p:txBody>
          <a:bodyPr/>
          <a:lstStyle/>
          <a:p>
            <a:fld id="{81CD8E67-5CC0-BE47-832B-368A4FAA1099}" type="slidenum">
              <a:rPr lang="en-DE" smtClean="0"/>
              <a:t>1</a:t>
            </a:fld>
            <a:endParaRPr lang="en-DE"/>
          </a:p>
        </p:txBody>
      </p:sp>
    </p:spTree>
    <p:extLst>
      <p:ext uri="{BB962C8B-B14F-4D97-AF65-F5344CB8AC3E}">
        <p14:creationId xmlns:p14="http://schemas.microsoft.com/office/powerpoint/2010/main" val="643104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Presented by Dani</a:t>
            </a:r>
          </a:p>
        </p:txBody>
      </p:sp>
      <p:sp>
        <p:nvSpPr>
          <p:cNvPr id="4" name="Slide Number Placeholder 3"/>
          <p:cNvSpPr>
            <a:spLocks noGrp="1"/>
          </p:cNvSpPr>
          <p:nvPr>
            <p:ph type="sldNum" sz="quarter" idx="5"/>
          </p:nvPr>
        </p:nvSpPr>
        <p:spPr/>
        <p:txBody>
          <a:bodyPr/>
          <a:lstStyle/>
          <a:p>
            <a:fld id="{81CD8E67-5CC0-BE47-832B-368A4FAA1099}" type="slidenum">
              <a:rPr lang="en-DE" smtClean="0"/>
              <a:t>2</a:t>
            </a:fld>
            <a:endParaRPr lang="en-DE"/>
          </a:p>
        </p:txBody>
      </p:sp>
    </p:spTree>
    <p:extLst>
      <p:ext uri="{BB962C8B-B14F-4D97-AF65-F5344CB8AC3E}">
        <p14:creationId xmlns:p14="http://schemas.microsoft.com/office/powerpoint/2010/main" val="204158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Presented by Yelyzaveta</a:t>
            </a:r>
          </a:p>
          <a:p>
            <a:endParaRPr lang="en-DE"/>
          </a:p>
          <a:p>
            <a:r>
              <a:rPr lang="en-DE"/>
              <a:t>Script : </a:t>
            </a:r>
          </a:p>
          <a:p>
            <a:r>
              <a:rPr lang="en-US"/>
              <a:t>The agricultural sector faces significant challenges, including compliance with environmental regulations, climate risks, and labor shortages. Our project leverages drone technology to provide innovative solutions to these issues.</a:t>
            </a:r>
            <a:endParaRPr lang="en-DE"/>
          </a:p>
          <a:p>
            <a:endParaRPr lang="en-US"/>
          </a:p>
          <a:p>
            <a:r>
              <a:rPr lang="en-US" b="1"/>
              <a:t>Environmental Regulations and Emissions Reduction</a:t>
            </a:r>
            <a:r>
              <a:rPr lang="en-US"/>
              <a:t>: Our drones, equipped with advanced sensors, will track CO2 emissions and monitor the ecological footprint. This will allow farmers to analyze soil and crop conditions in real time, adjust fertilizer and water use more efficiently, and comply with environmental standards such as the European CSRD directives. This approach will enhance productivity while minimizing environmental impact and optimizing costs.</a:t>
            </a:r>
          </a:p>
          <a:p>
            <a:endParaRPr lang="en-US"/>
          </a:p>
          <a:p>
            <a:r>
              <a:rPr lang="en-US" b="1"/>
              <a:t>Climate Risk Management</a:t>
            </a:r>
            <a:r>
              <a:rPr lang="en-US"/>
              <a:t>: By integrating a weather monitoring system into the drones, we can analyze climate forecasts and observe crop conditions in real time. This will enable early warnings for drought or flooding, allowing farmers to quickly adapt their irrigation and resource management, thereby protecting crops and securing income.</a:t>
            </a:r>
          </a:p>
          <a:p>
            <a:endParaRPr lang="en-US"/>
          </a:p>
          <a:p>
            <a:r>
              <a:rPr lang="en-US" b="1"/>
              <a:t>Reducing Labor Shortages</a:t>
            </a:r>
            <a:r>
              <a:rPr lang="en-US"/>
              <a:t>: Drones will perform inspections and data collection, reducing the need for human labor. Through soil analysis, crop humidity monitoring, and disease detection, drones will address the shortage of manual labor while creating new job opportunities in data analysis and drone maintenance.</a:t>
            </a:r>
          </a:p>
          <a:p>
            <a:endParaRPr lang="en-US"/>
          </a:p>
          <a:p>
            <a:r>
              <a:rPr lang="en-US"/>
              <a:t>Our project offers innovative solutions to address the challenges in the agricultural sector. Through drone technology, we will reduce the ecological footprint, optimize resources, and comply with environmental regulations. By combining efficiency and innovation, we will modernize agriculture while maintaining productivity, providing significant support to farmers.</a:t>
            </a:r>
          </a:p>
        </p:txBody>
      </p:sp>
      <p:sp>
        <p:nvSpPr>
          <p:cNvPr id="4" name="Slide Number Placeholder 3"/>
          <p:cNvSpPr>
            <a:spLocks noGrp="1"/>
          </p:cNvSpPr>
          <p:nvPr>
            <p:ph type="sldNum" sz="quarter" idx="5"/>
          </p:nvPr>
        </p:nvSpPr>
        <p:spPr/>
        <p:txBody>
          <a:bodyPr/>
          <a:lstStyle/>
          <a:p>
            <a:fld id="{81CD8E67-5CC0-BE47-832B-368A4FAA1099}" type="slidenum">
              <a:rPr lang="en-DE" smtClean="0"/>
              <a:t>3</a:t>
            </a:fld>
            <a:endParaRPr lang="en-DE"/>
          </a:p>
        </p:txBody>
      </p:sp>
    </p:spTree>
    <p:extLst>
      <p:ext uri="{BB962C8B-B14F-4D97-AF65-F5344CB8AC3E}">
        <p14:creationId xmlns:p14="http://schemas.microsoft.com/office/powerpoint/2010/main" val="3239823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Presented by Nur</a:t>
            </a:r>
          </a:p>
          <a:p>
            <a:endParaRPr lang="en-DE"/>
          </a:p>
          <a:p>
            <a:r>
              <a:rPr lang="en-DE"/>
              <a:t>Script:</a:t>
            </a:r>
          </a:p>
          <a:p>
            <a:pPr algn="just"/>
            <a:r>
              <a:rPr lang="en-GB" sz="1800">
                <a:solidFill>
                  <a:srgbClr val="000000"/>
                </a:solidFill>
                <a:effectLst/>
                <a:latin typeface="Calibri" panose="020F0502020204030204" pitchFamily="34" charset="0"/>
                <a:ea typeface="Calibri" panose="020F0502020204030204" pitchFamily="34" charset="0"/>
                <a:cs typeface="Arial" panose="020B0604020202020204" pitchFamily="34" charset="0"/>
              </a:rPr>
              <a:t>This analysis compares the costs and benefits of drone adaptation for farmers to traditional </a:t>
            </a:r>
            <a:r>
              <a:rPr lang="en-US" sz="180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manual inspection methods and assesses our company's financial viability for this project.</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 </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There are multiple </a:t>
            </a:r>
            <a:r>
              <a:rPr lang="en-US" sz="1800" b="1">
                <a:solidFill>
                  <a:srgbClr val="000000"/>
                </a:solidFill>
                <a:effectLst/>
                <a:latin typeface="Calibri" panose="020F0502020204030204" pitchFamily="34" charset="0"/>
                <a:ea typeface="Times New Roman" panose="02020603050405020304" pitchFamily="18" charset="0"/>
              </a:rPr>
              <a:t>one-off costs </a:t>
            </a:r>
            <a:r>
              <a:rPr lang="en-US" sz="1800">
                <a:solidFill>
                  <a:srgbClr val="000000"/>
                </a:solidFill>
                <a:effectLst/>
                <a:latin typeface="Calibri" panose="020F0502020204030204" pitchFamily="34" charset="0"/>
                <a:ea typeface="Times New Roman" panose="02020603050405020304" pitchFamily="18" charset="0"/>
              </a:rPr>
              <a:t>for the farmers when investing in a drone. </a:t>
            </a:r>
            <a:endParaRPr lang="en-DE" sz="1800">
              <a:solidFill>
                <a:srgbClr val="094329"/>
              </a:solidFill>
              <a:effectLst/>
              <a:latin typeface="Arial" panose="020B0604020202020204" pitchFamily="34" charset="0"/>
              <a:ea typeface="Times New Roman" panose="02020603050405020304" pitchFamily="18" charset="0"/>
            </a:endParaRPr>
          </a:p>
          <a:p>
            <a:pPr marL="342900" lvl="0" indent="-342900" algn="just">
              <a:buFont typeface="+mj-lt"/>
              <a:buAutoNum type="arabicPeriod"/>
            </a:pPr>
            <a:r>
              <a:rPr lang="en-US" sz="180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Drone Purchase (around 10,000€)</a:t>
            </a:r>
            <a:endParaRPr lang="en-DE" sz="1800">
              <a:solidFill>
                <a:srgbClr val="094329"/>
              </a:solidFill>
              <a:effectLst/>
              <a:latin typeface="Arial" panose="020B0604020202020204" pitchFamily="34" charset="0"/>
              <a:ea typeface="Times New Roman" panose="02020603050405020304" pitchFamily="18" charset="0"/>
            </a:endParaRPr>
          </a:p>
          <a:p>
            <a:pPr marL="342900" lvl="0" indent="-342900" algn="just">
              <a:buFont typeface="+mj-lt"/>
              <a:buAutoNum type="arabicPeriod"/>
            </a:pPr>
            <a:r>
              <a:rPr lang="en-US" sz="180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Training &amp; Certification (500€)</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 </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There will be recurring costs for farmers to maintain the usage of drones.</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For example:</a:t>
            </a:r>
            <a:endParaRPr lang="en-DE" sz="1800">
              <a:solidFill>
                <a:srgbClr val="094329"/>
              </a:solidFill>
              <a:effectLst/>
              <a:latin typeface="Arial" panose="020B0604020202020204" pitchFamily="34" charset="0"/>
              <a:ea typeface="Times New Roman" panose="02020603050405020304" pitchFamily="18" charset="0"/>
            </a:endParaRPr>
          </a:p>
          <a:p>
            <a:pPr marL="342900" lvl="0" indent="-342900" algn="just">
              <a:buFont typeface="+mj-lt"/>
              <a:buAutoNum type="arabicPeriod"/>
            </a:pPr>
            <a:r>
              <a:rPr lang="en-US" sz="1800">
                <a:solidFill>
                  <a:srgbClr val="000000"/>
                </a:solidFill>
                <a:effectLst/>
                <a:latin typeface="Calibri" panose="020F0502020204030204" pitchFamily="34" charset="0"/>
                <a:ea typeface="Times New Roman" panose="02020603050405020304" pitchFamily="18" charset="0"/>
              </a:rPr>
              <a:t>Maintenance &amp; Repairs </a:t>
            </a:r>
          </a:p>
          <a:p>
            <a:pPr marL="342900" lvl="0" indent="-342900" algn="just">
              <a:buFont typeface="+mj-lt"/>
              <a:buAutoNum type="arabicPeriod"/>
            </a:pPr>
            <a:r>
              <a:rPr lang="en-US" sz="1800">
                <a:solidFill>
                  <a:srgbClr val="000000"/>
                </a:solidFill>
                <a:effectLst/>
                <a:latin typeface="Calibri" panose="020F0502020204030204" pitchFamily="34" charset="0"/>
                <a:ea typeface="Times New Roman" panose="02020603050405020304" pitchFamily="18" charset="0"/>
              </a:rPr>
              <a:t>Insurance </a:t>
            </a:r>
          </a:p>
          <a:p>
            <a:pPr marL="342900" lvl="0" indent="-342900" algn="just">
              <a:buFont typeface="+mj-lt"/>
              <a:buAutoNum type="arabicPeriod"/>
            </a:pPr>
            <a:r>
              <a:rPr lang="en-US" sz="1800" b="0">
                <a:solidFill>
                  <a:srgbClr val="000000"/>
                </a:solidFill>
                <a:effectLst/>
                <a:latin typeface="Calibri" panose="020F0502020204030204" pitchFamily="34" charset="0"/>
                <a:ea typeface="Yu Gothic Light" panose="020B0300000000000000" pitchFamily="34" charset="-128"/>
              </a:rPr>
              <a:t>IAA Drone Operator Registration/ License </a:t>
            </a:r>
            <a:r>
              <a:rPr lang="en-US" sz="1800">
                <a:solidFill>
                  <a:srgbClr val="FF0000"/>
                </a:solidFill>
                <a:effectLst/>
                <a:latin typeface="Calibri" panose="020F0502020204030204" pitchFamily="34" charset="0"/>
                <a:ea typeface="Times New Roman" panose="02020603050405020304" pitchFamily="18" charset="0"/>
              </a:rPr>
              <a:t> </a:t>
            </a:r>
            <a:endParaRPr lang="en-DE" sz="1800">
              <a:solidFill>
                <a:srgbClr val="094329"/>
              </a:solidFill>
              <a:effectLst/>
              <a:latin typeface="Arial" panose="020B0604020202020204" pitchFamily="34" charset="0"/>
              <a:ea typeface="Times New Roman" panose="02020603050405020304" pitchFamily="18" charset="0"/>
            </a:endParaRPr>
          </a:p>
          <a:p>
            <a:pPr algn="just"/>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Overall, implementing a drone would cost the farmer </a:t>
            </a:r>
            <a:r>
              <a:rPr lang="en-US" sz="1800" b="1">
                <a:solidFill>
                  <a:srgbClr val="000000"/>
                </a:solidFill>
                <a:effectLst/>
                <a:latin typeface="Calibri" panose="020F0502020204030204" pitchFamily="34" charset="0"/>
                <a:ea typeface="Times New Roman" panose="02020603050405020304" pitchFamily="18" charset="0"/>
              </a:rPr>
              <a:t>around 10,500€ in the first year </a:t>
            </a:r>
            <a:r>
              <a:rPr lang="en-US" sz="1800">
                <a:solidFill>
                  <a:srgbClr val="000000"/>
                </a:solidFill>
                <a:effectLst/>
                <a:latin typeface="Calibri" panose="020F0502020204030204" pitchFamily="34" charset="0"/>
                <a:ea typeface="Times New Roman" panose="02020603050405020304" pitchFamily="18" charset="0"/>
              </a:rPr>
              <a:t>and </a:t>
            </a:r>
            <a:r>
              <a:rPr lang="en-US" sz="1800" b="1">
                <a:solidFill>
                  <a:srgbClr val="000000"/>
                </a:solidFill>
                <a:effectLst/>
                <a:latin typeface="Calibri" panose="020F0502020204030204" pitchFamily="34" charset="0"/>
                <a:ea typeface="Times New Roman" panose="02020603050405020304" pitchFamily="18" charset="0"/>
              </a:rPr>
              <a:t>7,265€ every following year</a:t>
            </a:r>
            <a:r>
              <a:rPr lang="en-US" sz="1800">
                <a:solidFill>
                  <a:srgbClr val="000000"/>
                </a:solidFill>
                <a:effectLst/>
                <a:latin typeface="Calibri" panose="020F0502020204030204" pitchFamily="34" charset="0"/>
                <a:ea typeface="Times New Roman" panose="02020603050405020304" pitchFamily="18" charset="0"/>
              </a:rPr>
              <a:t>.</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 </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Looking at traditional manual inspection methods, there is </a:t>
            </a:r>
            <a:r>
              <a:rPr lang="en-US" sz="1800" b="1">
                <a:solidFill>
                  <a:srgbClr val="000000"/>
                </a:solidFill>
                <a:effectLst/>
                <a:latin typeface="Calibri" panose="020F0502020204030204" pitchFamily="34" charset="0"/>
                <a:ea typeface="Times New Roman" panose="02020603050405020304" pitchFamily="18" charset="0"/>
              </a:rPr>
              <a:t>a labor cost reduction of about 2,500€ </a:t>
            </a:r>
            <a:r>
              <a:rPr lang="en-US" sz="1800">
                <a:solidFill>
                  <a:srgbClr val="000000"/>
                </a:solidFill>
                <a:effectLst/>
                <a:latin typeface="Calibri" panose="020F0502020204030204" pitchFamily="34" charset="0"/>
                <a:ea typeface="Times New Roman" panose="02020603050405020304" pitchFamily="18" charset="0"/>
              </a:rPr>
              <a:t>for small farmers and </a:t>
            </a:r>
            <a:r>
              <a:rPr lang="en-US" sz="1800" b="1">
                <a:solidFill>
                  <a:srgbClr val="000000"/>
                </a:solidFill>
                <a:effectLst/>
                <a:latin typeface="Calibri" panose="020F0502020204030204" pitchFamily="34" charset="0"/>
                <a:ea typeface="Times New Roman" panose="02020603050405020304" pitchFamily="18" charset="0"/>
              </a:rPr>
              <a:t>7,000€ </a:t>
            </a:r>
            <a:r>
              <a:rPr lang="en-US" sz="1800">
                <a:solidFill>
                  <a:srgbClr val="000000"/>
                </a:solidFill>
                <a:effectLst/>
                <a:latin typeface="Calibri" panose="020F0502020204030204" pitchFamily="34" charset="0"/>
                <a:ea typeface="Times New Roman" panose="02020603050405020304" pitchFamily="18" charset="0"/>
              </a:rPr>
              <a:t>for medium-sized farmers a year. </a:t>
            </a:r>
          </a:p>
          <a:p>
            <a:pPr algn="just"/>
            <a:endParaRPr lang="en-US" sz="1800">
              <a:solidFill>
                <a:srgbClr val="000000"/>
              </a:solidFill>
              <a:effectLst/>
              <a:latin typeface="Calibri" panose="020F050202020403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Due to the effectiveness of the drone, a yearly </a:t>
            </a:r>
            <a:r>
              <a:rPr lang="en-US" sz="1800" b="1">
                <a:solidFill>
                  <a:srgbClr val="000000"/>
                </a:solidFill>
                <a:effectLst/>
                <a:latin typeface="Calibri" panose="020F0502020204030204" pitchFamily="34" charset="0"/>
                <a:ea typeface="Times New Roman" panose="02020603050405020304" pitchFamily="18" charset="0"/>
              </a:rPr>
              <a:t>increase of about</a:t>
            </a:r>
            <a:r>
              <a:rPr lang="en-US" sz="1800" b="1">
                <a:solidFill>
                  <a:srgbClr val="FF0000"/>
                </a:solidFill>
                <a:effectLst/>
                <a:latin typeface="Calibri" panose="020F0502020204030204" pitchFamily="34" charset="0"/>
                <a:ea typeface="Times New Roman" panose="02020603050405020304" pitchFamily="18" charset="0"/>
              </a:rPr>
              <a:t> </a:t>
            </a:r>
            <a:r>
              <a:rPr lang="en-US" sz="1800" b="1">
                <a:solidFill>
                  <a:srgbClr val="000000"/>
                </a:solidFill>
                <a:effectLst/>
                <a:latin typeface="Calibri" panose="020F0502020204030204" pitchFamily="34" charset="0"/>
                <a:ea typeface="Times New Roman" panose="02020603050405020304" pitchFamily="18" charset="0"/>
              </a:rPr>
              <a:t>10% in revenue </a:t>
            </a:r>
            <a:r>
              <a:rPr lang="en-US" sz="1800">
                <a:solidFill>
                  <a:srgbClr val="000000"/>
                </a:solidFill>
                <a:effectLst/>
                <a:latin typeface="Calibri" panose="020F0502020204030204" pitchFamily="34" charset="0"/>
                <a:ea typeface="Times New Roman" panose="02020603050405020304" pitchFamily="18" charset="0"/>
              </a:rPr>
              <a:t>can be expected due to the early detection of disease and an increase in crop yield. Assuming a small farm has a baseline annual crop revenue of 100,000€, that would be </a:t>
            </a:r>
            <a:r>
              <a:rPr lang="en-US" sz="1800" b="1">
                <a:solidFill>
                  <a:srgbClr val="000000"/>
                </a:solidFill>
                <a:effectLst/>
                <a:latin typeface="Calibri" panose="020F0502020204030204" pitchFamily="34" charset="0"/>
                <a:ea typeface="Times New Roman" panose="02020603050405020304" pitchFamily="18" charset="0"/>
              </a:rPr>
              <a:t>10,000€ saved</a:t>
            </a:r>
            <a:r>
              <a:rPr lang="en-US" sz="1800">
                <a:solidFill>
                  <a:srgbClr val="000000"/>
                </a:solidFill>
                <a:effectLst/>
                <a:latin typeface="Calibri" panose="020F0502020204030204" pitchFamily="34" charset="0"/>
                <a:ea typeface="Times New Roman" panose="02020603050405020304" pitchFamily="18" charset="0"/>
              </a:rPr>
              <a:t>, and for a medium-sized farm with a baseline annual crop revenue of 250,000€, that would </a:t>
            </a:r>
            <a:r>
              <a:rPr lang="en-US" sz="1800" b="0">
                <a:solidFill>
                  <a:srgbClr val="000000"/>
                </a:solidFill>
                <a:effectLst/>
                <a:latin typeface="Calibri" panose="020F0502020204030204" pitchFamily="34" charset="0"/>
                <a:ea typeface="Times New Roman" panose="02020603050405020304" pitchFamily="18" charset="0"/>
              </a:rPr>
              <a:t>be</a:t>
            </a:r>
            <a:r>
              <a:rPr lang="en-US" sz="1800" b="1">
                <a:solidFill>
                  <a:srgbClr val="000000"/>
                </a:solidFill>
                <a:effectLst/>
                <a:latin typeface="Calibri" panose="020F0502020204030204" pitchFamily="34" charset="0"/>
                <a:ea typeface="Times New Roman" panose="02020603050405020304" pitchFamily="18" charset="0"/>
              </a:rPr>
              <a:t> 25,000€. </a:t>
            </a:r>
          </a:p>
          <a:p>
            <a:pPr algn="just"/>
            <a:endParaRPr lang="en-US" sz="1800" b="1">
              <a:solidFill>
                <a:srgbClr val="000000"/>
              </a:solidFill>
              <a:effectLst/>
              <a:latin typeface="Calibri" panose="020F050202020403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As the drone will </a:t>
            </a:r>
            <a:r>
              <a:rPr lang="en-US" sz="1800" err="1">
                <a:solidFill>
                  <a:srgbClr val="000000"/>
                </a:solidFill>
                <a:effectLst/>
                <a:latin typeface="Calibri" panose="020F0502020204030204" pitchFamily="34" charset="0"/>
                <a:ea typeface="Times New Roman" panose="02020603050405020304" pitchFamily="18" charset="0"/>
              </a:rPr>
              <a:t>optimise</a:t>
            </a:r>
            <a:r>
              <a:rPr lang="en-US" sz="1800">
                <a:solidFill>
                  <a:srgbClr val="000000"/>
                </a:solidFill>
                <a:effectLst/>
                <a:latin typeface="Calibri" panose="020F0502020204030204" pitchFamily="34" charset="0"/>
                <a:ea typeface="Times New Roman" panose="02020603050405020304" pitchFamily="18" charset="0"/>
              </a:rPr>
              <a:t> water and </a:t>
            </a:r>
            <a:r>
              <a:rPr lang="en-US" sz="1800" err="1">
                <a:solidFill>
                  <a:srgbClr val="000000"/>
                </a:solidFill>
                <a:effectLst/>
                <a:latin typeface="Calibri" panose="020F0502020204030204" pitchFamily="34" charset="0"/>
                <a:ea typeface="Times New Roman" panose="02020603050405020304" pitchFamily="18" charset="0"/>
              </a:rPr>
              <a:t>fertiliser</a:t>
            </a:r>
            <a:r>
              <a:rPr lang="en-US" sz="1800">
                <a:solidFill>
                  <a:srgbClr val="000000"/>
                </a:solidFill>
                <a:effectLst/>
                <a:latin typeface="Calibri" panose="020F0502020204030204" pitchFamily="34" charset="0"/>
                <a:ea typeface="Times New Roman" panose="02020603050405020304" pitchFamily="18" charset="0"/>
              </a:rPr>
              <a:t> usage, the farmer can expect to </a:t>
            </a:r>
            <a:r>
              <a:rPr lang="en-US" sz="1800" b="1">
                <a:solidFill>
                  <a:srgbClr val="000000"/>
                </a:solidFill>
                <a:effectLst/>
                <a:latin typeface="Calibri" panose="020F0502020204030204" pitchFamily="34" charset="0"/>
                <a:ea typeface="Times New Roman" panose="02020603050405020304" pitchFamily="18" charset="0"/>
              </a:rPr>
              <a:t>save about</a:t>
            </a:r>
            <a:r>
              <a:rPr lang="en-US" sz="1800" b="1">
                <a:solidFill>
                  <a:srgbClr val="FF0000"/>
                </a:solidFill>
                <a:effectLst/>
                <a:latin typeface="Calibri" panose="020F0502020204030204" pitchFamily="34" charset="0"/>
                <a:ea typeface="Times New Roman" panose="02020603050405020304" pitchFamily="18" charset="0"/>
              </a:rPr>
              <a:t> </a:t>
            </a:r>
            <a:r>
              <a:rPr lang="en-US" sz="1800" b="1">
                <a:solidFill>
                  <a:srgbClr val="000000"/>
                </a:solidFill>
                <a:effectLst/>
                <a:latin typeface="Calibri" panose="020F0502020204030204" pitchFamily="34" charset="0"/>
                <a:ea typeface="Times New Roman" panose="02020603050405020304" pitchFamily="18" charset="0"/>
              </a:rPr>
              <a:t>15% of water and </a:t>
            </a:r>
            <a:r>
              <a:rPr lang="en-US" sz="1800" b="1" err="1">
                <a:solidFill>
                  <a:srgbClr val="000000"/>
                </a:solidFill>
                <a:effectLst/>
                <a:latin typeface="Calibri" panose="020F0502020204030204" pitchFamily="34" charset="0"/>
                <a:ea typeface="Times New Roman" panose="02020603050405020304" pitchFamily="18" charset="0"/>
              </a:rPr>
              <a:t>fertiliser</a:t>
            </a:r>
            <a:r>
              <a:rPr lang="en-US" sz="1800" b="1">
                <a:solidFill>
                  <a:srgbClr val="000000"/>
                </a:solidFill>
                <a:effectLst/>
                <a:latin typeface="Calibri" panose="020F0502020204030204" pitchFamily="34" charset="0"/>
                <a:ea typeface="Times New Roman" panose="02020603050405020304" pitchFamily="18" charset="0"/>
              </a:rPr>
              <a:t> costs </a:t>
            </a:r>
            <a:r>
              <a:rPr lang="en-US" sz="1800">
                <a:solidFill>
                  <a:srgbClr val="000000"/>
                </a:solidFill>
                <a:effectLst/>
                <a:latin typeface="Calibri" panose="020F0502020204030204" pitchFamily="34" charset="0"/>
                <a:ea typeface="Times New Roman" panose="02020603050405020304" pitchFamily="18" charset="0"/>
              </a:rPr>
              <a:t>yearly, which can be calculated as </a:t>
            </a:r>
            <a:r>
              <a:rPr lang="en-US" sz="1800" b="1">
                <a:solidFill>
                  <a:srgbClr val="000000"/>
                </a:solidFill>
                <a:effectLst/>
                <a:latin typeface="Calibri" panose="020F0502020204030204" pitchFamily="34" charset="0"/>
                <a:ea typeface="Times New Roman" panose="02020603050405020304" pitchFamily="18" charset="0"/>
              </a:rPr>
              <a:t>roughly 2,000€ a year</a:t>
            </a:r>
            <a:r>
              <a:rPr lang="en-US" sz="1800">
                <a:solidFill>
                  <a:srgbClr val="000000"/>
                </a:solidFill>
                <a:effectLst/>
                <a:latin typeface="Calibri" panose="020F0502020204030204" pitchFamily="34" charset="0"/>
                <a:ea typeface="Times New Roman" panose="02020603050405020304" pitchFamily="18" charset="0"/>
              </a:rPr>
              <a:t>.</a:t>
            </a:r>
            <a:endParaRPr lang="en-DE" sz="1800">
              <a:solidFill>
                <a:srgbClr val="094329"/>
              </a:solidFill>
              <a:effectLst/>
              <a:latin typeface="Arial" panose="020B0604020202020204" pitchFamily="34" charset="0"/>
              <a:ea typeface="Times New Roman" panose="02020603050405020304" pitchFamily="18" charset="0"/>
            </a:endParaRPr>
          </a:p>
          <a:p>
            <a:endParaRPr lang="en-DE"/>
          </a:p>
        </p:txBody>
      </p:sp>
      <p:sp>
        <p:nvSpPr>
          <p:cNvPr id="4" name="Slide Number Placeholder 3"/>
          <p:cNvSpPr>
            <a:spLocks noGrp="1"/>
          </p:cNvSpPr>
          <p:nvPr>
            <p:ph type="sldNum" sz="quarter" idx="5"/>
          </p:nvPr>
        </p:nvSpPr>
        <p:spPr/>
        <p:txBody>
          <a:bodyPr/>
          <a:lstStyle/>
          <a:p>
            <a:fld id="{81CD8E67-5CC0-BE47-832B-368A4FAA1099}" type="slidenum">
              <a:rPr lang="en-DE" smtClean="0"/>
              <a:t>4</a:t>
            </a:fld>
            <a:endParaRPr lang="en-DE"/>
          </a:p>
        </p:txBody>
      </p:sp>
    </p:spTree>
    <p:extLst>
      <p:ext uri="{BB962C8B-B14F-4D97-AF65-F5344CB8AC3E}">
        <p14:creationId xmlns:p14="http://schemas.microsoft.com/office/powerpoint/2010/main" val="1820937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a:t>Presented by Nur</a:t>
            </a:r>
          </a:p>
          <a:p>
            <a:endParaRPr lang="en-DE"/>
          </a:p>
          <a:p>
            <a:r>
              <a:rPr lang="en-DE"/>
              <a:t>Script:</a:t>
            </a:r>
          </a:p>
          <a:p>
            <a:pPr algn="just"/>
            <a:r>
              <a:rPr lang="en-US" sz="1800">
                <a:solidFill>
                  <a:srgbClr val="000000"/>
                </a:solidFill>
                <a:effectLst/>
                <a:latin typeface="Calibri" panose="020F0502020204030204" pitchFamily="34" charset="0"/>
                <a:ea typeface="Times New Roman" panose="02020603050405020304" pitchFamily="18" charset="0"/>
              </a:rPr>
              <a:t>Considering all the above, </a:t>
            </a:r>
            <a:r>
              <a:rPr lang="en-US" sz="1800" b="1">
                <a:solidFill>
                  <a:srgbClr val="000000"/>
                </a:solidFill>
                <a:effectLst/>
                <a:latin typeface="Calibri" panose="020F0502020204030204" pitchFamily="34" charset="0"/>
                <a:ea typeface="Times New Roman" panose="02020603050405020304" pitchFamily="18" charset="0"/>
              </a:rPr>
              <a:t>the break-even period for small farms </a:t>
            </a:r>
            <a:r>
              <a:rPr lang="en-US" sz="1800">
                <a:solidFill>
                  <a:srgbClr val="000000"/>
                </a:solidFill>
                <a:effectLst/>
                <a:latin typeface="Calibri" panose="020F0502020204030204" pitchFamily="34" charset="0"/>
                <a:ea typeface="Times New Roman" panose="02020603050405020304" pitchFamily="18" charset="0"/>
              </a:rPr>
              <a:t>is about </a:t>
            </a:r>
            <a:r>
              <a:rPr lang="en-US" sz="1800" b="1">
                <a:solidFill>
                  <a:srgbClr val="000000"/>
                </a:solidFill>
                <a:effectLst/>
                <a:latin typeface="Calibri" panose="020F0502020204030204" pitchFamily="34" charset="0"/>
                <a:ea typeface="Times New Roman" panose="02020603050405020304" pitchFamily="18" charset="0"/>
              </a:rPr>
              <a:t>8.6 months</a:t>
            </a:r>
            <a:r>
              <a:rPr lang="en-US" sz="1800">
                <a:solidFill>
                  <a:srgbClr val="000000"/>
                </a:solidFill>
                <a:effectLst/>
                <a:latin typeface="Calibri" panose="020F0502020204030204" pitchFamily="34" charset="0"/>
                <a:ea typeface="Times New Roman" panose="02020603050405020304" pitchFamily="18" charset="0"/>
              </a:rPr>
              <a:t> </a:t>
            </a:r>
            <a:r>
              <a:rPr lang="en-US" sz="1800" b="0">
                <a:solidFill>
                  <a:srgbClr val="000000"/>
                </a:solidFill>
                <a:effectLst/>
                <a:latin typeface="Calibri" panose="020F0502020204030204" pitchFamily="34" charset="0"/>
                <a:ea typeface="Times New Roman" panose="02020603050405020304" pitchFamily="18" charset="0"/>
              </a:rPr>
              <a:t>and</a:t>
            </a:r>
            <a:r>
              <a:rPr lang="en-US" sz="1800" b="1">
                <a:solidFill>
                  <a:srgbClr val="000000"/>
                </a:solidFill>
                <a:effectLst/>
                <a:latin typeface="Calibri" panose="020F0502020204030204" pitchFamily="34" charset="0"/>
                <a:ea typeface="Times New Roman" panose="02020603050405020304" pitchFamily="18" charset="0"/>
              </a:rPr>
              <a:t> 3.7 months for medium-sized </a:t>
            </a:r>
            <a:r>
              <a:rPr lang="en-US" sz="1800">
                <a:solidFill>
                  <a:srgbClr val="000000"/>
                </a:solidFill>
                <a:effectLst/>
                <a:latin typeface="Calibri" panose="020F0502020204030204" pitchFamily="34" charset="0"/>
                <a:ea typeface="Times New Roman" panose="02020603050405020304" pitchFamily="18" charset="0"/>
              </a:rPr>
              <a:t>farms.</a:t>
            </a:r>
          </a:p>
          <a:p>
            <a:pPr algn="just"/>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b="1">
                <a:solidFill>
                  <a:srgbClr val="000000"/>
                </a:solidFill>
                <a:effectLst/>
                <a:latin typeface="Calibri" panose="020F0502020204030204" pitchFamily="34" charset="0"/>
                <a:ea typeface="Times New Roman" panose="02020603050405020304" pitchFamily="18" charset="0"/>
              </a:rPr>
              <a:t>Medium-sized farmers </a:t>
            </a:r>
            <a:r>
              <a:rPr lang="en-US" sz="1800">
                <a:solidFill>
                  <a:srgbClr val="000000"/>
                </a:solidFill>
                <a:effectLst/>
                <a:latin typeface="Calibri" panose="020F0502020204030204" pitchFamily="34" charset="0"/>
                <a:ea typeface="Times New Roman" panose="02020603050405020304" pitchFamily="18" charset="0"/>
              </a:rPr>
              <a:t>can </a:t>
            </a:r>
            <a:r>
              <a:rPr lang="en-US" sz="1800" b="0">
                <a:solidFill>
                  <a:srgbClr val="000000"/>
                </a:solidFill>
                <a:effectLst/>
                <a:latin typeface="Calibri" panose="020F0502020204030204" pitchFamily="34" charset="0"/>
                <a:ea typeface="Times New Roman" panose="02020603050405020304" pitchFamily="18" charset="0"/>
              </a:rPr>
              <a:t>double their initial investment </a:t>
            </a:r>
            <a:r>
              <a:rPr lang="en-US" sz="1800" b="1">
                <a:solidFill>
                  <a:srgbClr val="000000"/>
                </a:solidFill>
                <a:effectLst/>
                <a:latin typeface="Calibri" panose="020F0502020204030204" pitchFamily="34" charset="0"/>
                <a:ea typeface="Times New Roman" panose="02020603050405020304" pitchFamily="18" charset="0"/>
              </a:rPr>
              <a:t>within 8.5 months </a:t>
            </a:r>
            <a:r>
              <a:rPr lang="en-US" sz="1800">
                <a:solidFill>
                  <a:srgbClr val="000000"/>
                </a:solidFill>
                <a:effectLst/>
                <a:latin typeface="Calibri" panose="020F0502020204030204" pitchFamily="34" charset="0"/>
                <a:ea typeface="Times New Roman" panose="02020603050405020304" pitchFamily="18" charset="0"/>
              </a:rPr>
              <a:t>based on savings and yield improvements.</a:t>
            </a:r>
          </a:p>
          <a:p>
            <a:pPr algn="just"/>
            <a:endParaRPr lang="en-US" sz="1800">
              <a:solidFill>
                <a:srgbClr val="000000"/>
              </a:solidFill>
              <a:effectLst/>
              <a:latin typeface="Calibri" panose="020F0502020204030204" pitchFamily="34" charset="0"/>
              <a:ea typeface="Times New Roman" panose="02020603050405020304" pitchFamily="18" charset="0"/>
            </a:endParaRPr>
          </a:p>
          <a:p>
            <a:pPr algn="just"/>
            <a:r>
              <a:rPr lang="en-US" sz="1800" b="1">
                <a:solidFill>
                  <a:srgbClr val="000000"/>
                </a:solidFill>
                <a:effectLst/>
                <a:latin typeface="Calibri" panose="020F0502020204030204" pitchFamily="34" charset="0"/>
                <a:ea typeface="Times New Roman" panose="02020603050405020304" pitchFamily="18" charset="0"/>
              </a:rPr>
              <a:t>Small sized farmers </a:t>
            </a:r>
            <a:r>
              <a:rPr lang="en-US" sz="1800">
                <a:solidFill>
                  <a:srgbClr val="000000"/>
                </a:solidFill>
                <a:effectLst/>
                <a:latin typeface="Calibri" panose="020F0502020204030204" pitchFamily="34" charset="0"/>
                <a:ea typeface="Times New Roman" panose="02020603050405020304" pitchFamily="18" charset="0"/>
              </a:rPr>
              <a:t>can double their initial investment </a:t>
            </a:r>
            <a:r>
              <a:rPr lang="en-US" sz="1800" b="1">
                <a:solidFill>
                  <a:srgbClr val="000000"/>
                </a:solidFill>
                <a:effectLst/>
                <a:latin typeface="Calibri" panose="020F0502020204030204" pitchFamily="34" charset="0"/>
                <a:ea typeface="Times New Roman" panose="02020603050405020304" pitchFamily="18" charset="0"/>
              </a:rPr>
              <a:t>within 1 year and 5 months</a:t>
            </a:r>
            <a:r>
              <a:rPr lang="en-US" sz="1800">
                <a:solidFill>
                  <a:srgbClr val="000000"/>
                </a:solidFill>
                <a:effectLst/>
                <a:latin typeface="Calibri" panose="020F0502020204030204" pitchFamily="34" charset="0"/>
                <a:ea typeface="Times New Roman" panose="02020603050405020304" pitchFamily="18" charset="0"/>
              </a:rPr>
              <a:t>.</a:t>
            </a:r>
          </a:p>
          <a:p>
            <a:pPr algn="just"/>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These numbers are based on general industry trends, case studies, and typical pricing models for agricultural drones.</a:t>
            </a:r>
            <a:endParaRPr lang="en-DE" sz="1800">
              <a:solidFill>
                <a:srgbClr val="094329"/>
              </a:solidFill>
              <a:effectLst/>
              <a:latin typeface="Arial" panose="020B0604020202020204" pitchFamily="34" charset="0"/>
              <a:ea typeface="Times New Roman" panose="02020603050405020304" pitchFamily="18" charset="0"/>
            </a:endParaRPr>
          </a:p>
          <a:p>
            <a:endParaRPr lang="en-DE"/>
          </a:p>
        </p:txBody>
      </p:sp>
      <p:sp>
        <p:nvSpPr>
          <p:cNvPr id="4" name="Slide Number Placeholder 3"/>
          <p:cNvSpPr>
            <a:spLocks noGrp="1"/>
          </p:cNvSpPr>
          <p:nvPr>
            <p:ph type="sldNum" sz="quarter" idx="5"/>
          </p:nvPr>
        </p:nvSpPr>
        <p:spPr/>
        <p:txBody>
          <a:bodyPr/>
          <a:lstStyle/>
          <a:p>
            <a:fld id="{81CD8E67-5CC0-BE47-832B-368A4FAA1099}" type="slidenum">
              <a:rPr lang="en-DE" smtClean="0"/>
              <a:t>5</a:t>
            </a:fld>
            <a:endParaRPr lang="en-DE"/>
          </a:p>
        </p:txBody>
      </p:sp>
    </p:spTree>
    <p:extLst>
      <p:ext uri="{BB962C8B-B14F-4D97-AF65-F5344CB8AC3E}">
        <p14:creationId xmlns:p14="http://schemas.microsoft.com/office/powerpoint/2010/main" val="3614778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a:t>Presented by Nur</a:t>
            </a:r>
          </a:p>
          <a:p>
            <a:endParaRPr lang="en-DE"/>
          </a:p>
          <a:p>
            <a:r>
              <a:rPr lang="en-DE"/>
              <a:t>Script: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solidFill>
                  <a:srgbClr val="000000"/>
                </a:solidFill>
                <a:effectLst/>
                <a:latin typeface="Calibri" panose="020F0502020204030204" pitchFamily="34" charset="0"/>
                <a:ea typeface="Times New Roman" panose="02020603050405020304" pitchFamily="18" charset="0"/>
              </a:rPr>
              <a:t>The benefits of including drones include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a:solidFill>
                  <a:srgbClr val="000000"/>
                </a:solidFill>
                <a:effectLst/>
                <a:latin typeface="Calibri" panose="020F0502020204030204" pitchFamily="34" charset="0"/>
                <a:ea typeface="Times New Roman" panose="02020603050405020304" pitchFamily="18" charset="0"/>
              </a:rPr>
              <a:t>a lower carbon footprint due to the reduced use of vehicle-based field inspections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a:solidFill>
                  <a:srgbClr val="000000"/>
                </a:solidFill>
                <a:effectLst/>
                <a:latin typeface="Calibri" panose="020F0502020204030204" pitchFamily="34" charset="0"/>
                <a:ea typeface="Times New Roman" panose="02020603050405020304" pitchFamily="18" charset="0"/>
              </a:rPr>
              <a:t>smarter farmer decisions due to data-driven decision-making</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a:solidFill>
                  <a:srgbClr val="000000"/>
                </a:solidFill>
                <a:effectLst/>
                <a:latin typeface="Calibri" panose="020F0502020204030204" pitchFamily="34" charset="0"/>
                <a:ea typeface="Times New Roman" panose="02020603050405020304" pitchFamily="18" charset="0"/>
              </a:rPr>
              <a:t>improving overall response time</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a:solidFill>
                  <a:srgbClr val="000000"/>
                </a:solidFill>
                <a:effectLst/>
                <a:latin typeface="Calibri" panose="020F0502020204030204" pitchFamily="34" charset="0"/>
                <a:ea typeface="Times New Roman" panose="02020603050405020304" pitchFamily="18" charset="0"/>
              </a:rPr>
              <a:t>water conservation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a:solidFill>
                  <a:srgbClr val="000000"/>
                </a:solidFill>
                <a:effectLst/>
                <a:latin typeface="Calibri" panose="020F0502020204030204" pitchFamily="34" charset="0"/>
                <a:ea typeface="Times New Roman" panose="02020603050405020304" pitchFamily="18" charset="0"/>
              </a:rPr>
              <a:t>a competitive edge compared to competitors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a:solidFill>
                  <a:srgbClr val="000000"/>
                </a:solidFill>
                <a:effectLst/>
                <a:latin typeface="Calibri" panose="020F0502020204030204" pitchFamily="34" charset="0"/>
                <a:ea typeface="Times New Roman" panose="02020603050405020304" pitchFamily="18" charset="0"/>
              </a:rPr>
              <a:t>time efficiency, as drones can cover larger areas faster than manual inspectors,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a:solidFill>
                  <a:srgbClr val="000000"/>
                </a:solidFill>
                <a:effectLst/>
                <a:latin typeface="Calibri" panose="020F0502020204030204" pitchFamily="34" charset="0"/>
                <a:ea typeface="Times New Roman" panose="02020603050405020304" pitchFamily="18" charset="0"/>
              </a:rPr>
              <a:t>reduced chemical usage due to the </a:t>
            </a:r>
            <a:r>
              <a:rPr lang="en-US" sz="1800" err="1">
                <a:solidFill>
                  <a:srgbClr val="000000"/>
                </a:solidFill>
                <a:effectLst/>
                <a:latin typeface="Calibri" panose="020F0502020204030204" pitchFamily="34" charset="0"/>
                <a:ea typeface="Times New Roman" panose="02020603050405020304" pitchFamily="18" charset="0"/>
              </a:rPr>
              <a:t>optimised</a:t>
            </a:r>
            <a:r>
              <a:rPr lang="en-US" sz="1800">
                <a:solidFill>
                  <a:srgbClr val="000000"/>
                </a:solidFill>
                <a:effectLst/>
                <a:latin typeface="Calibri" panose="020F0502020204030204" pitchFamily="34" charset="0"/>
                <a:ea typeface="Times New Roman" panose="02020603050405020304" pitchFamily="18" charset="0"/>
              </a:rPr>
              <a:t> application of </a:t>
            </a:r>
            <a:r>
              <a:rPr lang="en-US" sz="1800" err="1">
                <a:solidFill>
                  <a:srgbClr val="000000"/>
                </a:solidFill>
                <a:effectLst/>
                <a:latin typeface="Calibri" panose="020F0502020204030204" pitchFamily="34" charset="0"/>
                <a:ea typeface="Times New Roman" panose="02020603050405020304" pitchFamily="18" charset="0"/>
              </a:rPr>
              <a:t>fertiliser</a:t>
            </a:r>
            <a:r>
              <a:rPr lang="en-US" sz="1800">
                <a:solidFill>
                  <a:srgbClr val="000000"/>
                </a:solidFill>
                <a:effectLst/>
                <a:latin typeface="Calibri" panose="020F0502020204030204" pitchFamily="34" charset="0"/>
                <a:ea typeface="Times New Roman" panose="02020603050405020304" pitchFamily="18" charset="0"/>
              </a:rPr>
              <a:t> and pesticides</a:t>
            </a:r>
            <a:endParaRPr lang="en-DE"/>
          </a:p>
        </p:txBody>
      </p:sp>
      <p:sp>
        <p:nvSpPr>
          <p:cNvPr id="4" name="Slide Number Placeholder 3"/>
          <p:cNvSpPr>
            <a:spLocks noGrp="1"/>
          </p:cNvSpPr>
          <p:nvPr>
            <p:ph type="sldNum" sz="quarter" idx="5"/>
          </p:nvPr>
        </p:nvSpPr>
        <p:spPr/>
        <p:txBody>
          <a:bodyPr/>
          <a:lstStyle/>
          <a:p>
            <a:fld id="{81CD8E67-5CC0-BE47-832B-368A4FAA1099}" type="slidenum">
              <a:rPr lang="en-DE" smtClean="0"/>
              <a:t>6</a:t>
            </a:fld>
            <a:endParaRPr lang="en-DE"/>
          </a:p>
        </p:txBody>
      </p:sp>
    </p:spTree>
    <p:extLst>
      <p:ext uri="{BB962C8B-B14F-4D97-AF65-F5344CB8AC3E}">
        <p14:creationId xmlns:p14="http://schemas.microsoft.com/office/powerpoint/2010/main" val="3734285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a:t>Presented by Nur</a:t>
            </a:r>
          </a:p>
          <a:p>
            <a:endParaRPr lang="en-DE"/>
          </a:p>
          <a:p>
            <a:r>
              <a:rPr lang="en-DE"/>
              <a:t>Script:</a:t>
            </a:r>
          </a:p>
          <a:p>
            <a:pPr algn="just"/>
            <a:r>
              <a:rPr lang="en-US" sz="1800">
                <a:solidFill>
                  <a:srgbClr val="000000"/>
                </a:solidFill>
                <a:effectLst/>
                <a:latin typeface="Calibri" panose="020F0502020204030204" pitchFamily="34" charset="0"/>
                <a:ea typeface="Times New Roman" panose="02020603050405020304" pitchFamily="18" charset="0"/>
              </a:rPr>
              <a:t>This project is financially viable for our company because </a:t>
            </a:r>
            <a:r>
              <a:rPr lang="en-US" sz="1800" b="1">
                <a:solidFill>
                  <a:srgbClr val="000000"/>
                </a:solidFill>
                <a:effectLst/>
                <a:latin typeface="Calibri" panose="020F0502020204030204" pitchFamily="34" charset="0"/>
                <a:ea typeface="Times New Roman" panose="02020603050405020304" pitchFamily="18" charset="0"/>
              </a:rPr>
              <a:t>the market demand for precision agriculture is growing</a:t>
            </a:r>
            <a:r>
              <a:rPr lang="en-US" sz="1800">
                <a:solidFill>
                  <a:srgbClr val="000000"/>
                </a:solidFill>
                <a:effectLst/>
                <a:latin typeface="Calibri" panose="020F0502020204030204" pitchFamily="34" charset="0"/>
                <a:ea typeface="Times New Roman" panose="02020603050405020304" pitchFamily="18" charset="0"/>
              </a:rPr>
              <a:t>. Additionally, the cost of living and climate crises increase the </a:t>
            </a:r>
            <a:r>
              <a:rPr lang="en-US" sz="1800" b="1">
                <a:solidFill>
                  <a:srgbClr val="000000"/>
                </a:solidFill>
                <a:effectLst/>
                <a:latin typeface="Calibri" panose="020F0502020204030204" pitchFamily="34" charset="0"/>
                <a:ea typeface="Times New Roman" panose="02020603050405020304" pitchFamily="18" charset="0"/>
              </a:rPr>
              <a:t>demand for cost-efficient, climate-friendly solutions</a:t>
            </a:r>
            <a:r>
              <a:rPr lang="en-US" sz="1800">
                <a:solidFill>
                  <a:srgbClr val="000000"/>
                </a:solidFill>
                <a:effectLst/>
                <a:latin typeface="Calibri" panose="020F0502020204030204" pitchFamily="34" charset="0"/>
                <a:ea typeface="Times New Roman" panose="02020603050405020304" pitchFamily="18" charset="0"/>
              </a:rPr>
              <a:t>. Furthermore, this project has a scalable pricing model ensuring </a:t>
            </a:r>
            <a:r>
              <a:rPr lang="en-US" sz="1800" b="1">
                <a:solidFill>
                  <a:srgbClr val="000000"/>
                </a:solidFill>
                <a:effectLst/>
                <a:latin typeface="Calibri" panose="020F0502020204030204" pitchFamily="34" charset="0"/>
                <a:ea typeface="Times New Roman" panose="02020603050405020304" pitchFamily="18" charset="0"/>
              </a:rPr>
              <a:t>recurring revenue</a:t>
            </a:r>
            <a:r>
              <a:rPr lang="en-US" sz="1800">
                <a:solidFill>
                  <a:srgbClr val="000000"/>
                </a:solidFill>
                <a:effectLst/>
                <a:latin typeface="Calibri" panose="020F0502020204030204" pitchFamily="34" charset="0"/>
                <a:ea typeface="Times New Roman" panose="02020603050405020304" pitchFamily="18" charset="0"/>
              </a:rPr>
              <a:t>.</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 </a:t>
            </a:r>
            <a:endParaRPr lang="en-DE" sz="1800">
              <a:solidFill>
                <a:srgbClr val="094329"/>
              </a:solidFill>
              <a:effectLst/>
              <a:latin typeface="Arial" panose="020B0604020202020204" pitchFamily="34" charset="0"/>
              <a:ea typeface="Times New Roman" panose="02020603050405020304" pitchFamily="18" charset="0"/>
            </a:endParaRPr>
          </a:p>
          <a:p>
            <a:pPr algn="just"/>
            <a:r>
              <a:rPr lang="en-US" sz="1800">
                <a:solidFill>
                  <a:srgbClr val="000000"/>
                </a:solidFill>
                <a:effectLst/>
                <a:latin typeface="Calibri" panose="020F0502020204030204" pitchFamily="34" charset="0"/>
                <a:ea typeface="Times New Roman" panose="02020603050405020304" pitchFamily="18" charset="0"/>
              </a:rPr>
              <a:t>This project not only presents a </a:t>
            </a:r>
            <a:r>
              <a:rPr lang="en-US" sz="1800" b="1">
                <a:solidFill>
                  <a:srgbClr val="000000"/>
                </a:solidFill>
                <a:effectLst/>
                <a:latin typeface="Calibri" panose="020F0502020204030204" pitchFamily="34" charset="0"/>
                <a:ea typeface="Times New Roman" panose="02020603050405020304" pitchFamily="18" charset="0"/>
              </a:rPr>
              <a:t>strong financial case for farmers </a:t>
            </a:r>
            <a:r>
              <a:rPr lang="en-US" sz="1800">
                <a:solidFill>
                  <a:srgbClr val="000000"/>
                </a:solidFill>
                <a:effectLst/>
                <a:latin typeface="Calibri" panose="020F0502020204030204" pitchFamily="34" charset="0"/>
                <a:ea typeface="Times New Roman" panose="02020603050405020304" pitchFamily="18" charset="0"/>
              </a:rPr>
              <a:t>but </a:t>
            </a:r>
            <a:r>
              <a:rPr lang="en-US" sz="1800" b="1">
                <a:solidFill>
                  <a:srgbClr val="000000"/>
                </a:solidFill>
                <a:effectLst/>
                <a:latin typeface="Calibri" panose="020F0502020204030204" pitchFamily="34" charset="0"/>
                <a:ea typeface="Times New Roman" panose="02020603050405020304" pitchFamily="18" charset="0"/>
              </a:rPr>
              <a:t>also aligns with broader environmental and economic trends</a:t>
            </a:r>
            <a:r>
              <a:rPr lang="en-US" sz="1800">
                <a:solidFill>
                  <a:srgbClr val="000000"/>
                </a:solidFill>
                <a:effectLst/>
                <a:latin typeface="Calibri" panose="020F0502020204030204" pitchFamily="34" charset="0"/>
                <a:ea typeface="Times New Roman" panose="02020603050405020304" pitchFamily="18" charset="0"/>
              </a:rPr>
              <a:t>, making it a </a:t>
            </a:r>
            <a:r>
              <a:rPr lang="en-US" sz="1800" b="1">
                <a:solidFill>
                  <a:srgbClr val="000000"/>
                </a:solidFill>
                <a:effectLst/>
                <a:latin typeface="Calibri" panose="020F0502020204030204" pitchFamily="34" charset="0"/>
                <a:ea typeface="Times New Roman" panose="02020603050405020304" pitchFamily="18" charset="0"/>
              </a:rPr>
              <a:t>viable and scalable solution </a:t>
            </a:r>
            <a:r>
              <a:rPr lang="en-US" sz="1800" b="0">
                <a:solidFill>
                  <a:srgbClr val="000000"/>
                </a:solidFill>
                <a:effectLst/>
                <a:latin typeface="Calibri" panose="020F0502020204030204" pitchFamily="34" charset="0"/>
                <a:ea typeface="Times New Roman" panose="02020603050405020304" pitchFamily="18" charset="0"/>
              </a:rPr>
              <a:t>for both farmers </a:t>
            </a:r>
            <a:r>
              <a:rPr lang="en-US" sz="1800">
                <a:solidFill>
                  <a:srgbClr val="000000"/>
                </a:solidFill>
                <a:effectLst/>
                <a:latin typeface="Calibri" panose="020F0502020204030204" pitchFamily="34" charset="0"/>
                <a:ea typeface="Times New Roman" panose="02020603050405020304" pitchFamily="18" charset="0"/>
              </a:rPr>
              <a:t>and our company.</a:t>
            </a:r>
            <a:endParaRPr lang="en-DE" sz="1800">
              <a:solidFill>
                <a:srgbClr val="094329"/>
              </a:solidFill>
              <a:effectLst/>
              <a:latin typeface="Arial" panose="020B0604020202020204" pitchFamily="34" charset="0"/>
              <a:ea typeface="Times New Roman" panose="02020603050405020304" pitchFamily="18" charset="0"/>
            </a:endParaRPr>
          </a:p>
          <a:p>
            <a:endParaRPr lang="en-DE"/>
          </a:p>
        </p:txBody>
      </p:sp>
      <p:sp>
        <p:nvSpPr>
          <p:cNvPr id="4" name="Slide Number Placeholder 3"/>
          <p:cNvSpPr>
            <a:spLocks noGrp="1"/>
          </p:cNvSpPr>
          <p:nvPr>
            <p:ph type="sldNum" sz="quarter" idx="5"/>
          </p:nvPr>
        </p:nvSpPr>
        <p:spPr/>
        <p:txBody>
          <a:bodyPr/>
          <a:lstStyle/>
          <a:p>
            <a:fld id="{81CD8E67-5CC0-BE47-832B-368A4FAA1099}" type="slidenum">
              <a:rPr lang="en-DE" smtClean="0"/>
              <a:t>7</a:t>
            </a:fld>
            <a:endParaRPr lang="en-DE"/>
          </a:p>
        </p:txBody>
      </p:sp>
    </p:spTree>
    <p:extLst>
      <p:ext uri="{BB962C8B-B14F-4D97-AF65-F5344CB8AC3E}">
        <p14:creationId xmlns:p14="http://schemas.microsoft.com/office/powerpoint/2010/main" val="1760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Presented by Yelyzaveta</a:t>
            </a:r>
          </a:p>
        </p:txBody>
      </p:sp>
      <p:sp>
        <p:nvSpPr>
          <p:cNvPr id="4" name="Slide Number Placeholder 3"/>
          <p:cNvSpPr>
            <a:spLocks noGrp="1"/>
          </p:cNvSpPr>
          <p:nvPr>
            <p:ph type="sldNum" sz="quarter" idx="5"/>
          </p:nvPr>
        </p:nvSpPr>
        <p:spPr/>
        <p:txBody>
          <a:bodyPr/>
          <a:lstStyle/>
          <a:p>
            <a:fld id="{81CD8E67-5CC0-BE47-832B-368A4FAA1099}" type="slidenum">
              <a:rPr lang="en-DE" smtClean="0"/>
              <a:t>8</a:t>
            </a:fld>
            <a:endParaRPr lang="en-DE"/>
          </a:p>
        </p:txBody>
      </p:sp>
    </p:spTree>
    <p:extLst>
      <p:ext uri="{BB962C8B-B14F-4D97-AF65-F5344CB8AC3E}">
        <p14:creationId xmlns:p14="http://schemas.microsoft.com/office/powerpoint/2010/main" val="1529963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Presented by Nur</a:t>
            </a:r>
          </a:p>
        </p:txBody>
      </p:sp>
      <p:sp>
        <p:nvSpPr>
          <p:cNvPr id="4" name="Slide Number Placeholder 3"/>
          <p:cNvSpPr>
            <a:spLocks noGrp="1"/>
          </p:cNvSpPr>
          <p:nvPr>
            <p:ph type="sldNum" sz="quarter" idx="5"/>
          </p:nvPr>
        </p:nvSpPr>
        <p:spPr/>
        <p:txBody>
          <a:bodyPr/>
          <a:lstStyle/>
          <a:p>
            <a:fld id="{81CD8E67-5CC0-BE47-832B-368A4FAA1099}" type="slidenum">
              <a:rPr lang="en-DE" smtClean="0"/>
              <a:t>9</a:t>
            </a:fld>
            <a:endParaRPr lang="en-DE"/>
          </a:p>
        </p:txBody>
      </p:sp>
    </p:spTree>
    <p:extLst>
      <p:ext uri="{BB962C8B-B14F-4D97-AF65-F5344CB8AC3E}">
        <p14:creationId xmlns:p14="http://schemas.microsoft.com/office/powerpoint/2010/main" val="1703008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B333-3340-EBC7-99BA-66090B123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1510F-4AD8-64F5-C692-573B78AF6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4B34C-CD7E-263F-E872-F7C00EF1F443}"/>
              </a:ext>
            </a:extLst>
          </p:cNvPr>
          <p:cNvSpPr>
            <a:spLocks noGrp="1"/>
          </p:cNvSpPr>
          <p:nvPr>
            <p:ph type="body" idx="1"/>
          </p:nvPr>
        </p:nvSpPr>
        <p:spPr/>
        <p:txBody>
          <a:bodyPr/>
          <a:lstStyle/>
          <a:p>
            <a:r>
              <a:rPr lang="en-DE"/>
              <a:t>Presented by Nur</a:t>
            </a:r>
          </a:p>
        </p:txBody>
      </p:sp>
      <p:sp>
        <p:nvSpPr>
          <p:cNvPr id="4" name="Slide Number Placeholder 3">
            <a:extLst>
              <a:ext uri="{FF2B5EF4-FFF2-40B4-BE49-F238E27FC236}">
                <a16:creationId xmlns:a16="http://schemas.microsoft.com/office/drawing/2014/main" id="{2440A789-38B2-942C-FA42-597995502FC2}"/>
              </a:ext>
            </a:extLst>
          </p:cNvPr>
          <p:cNvSpPr>
            <a:spLocks noGrp="1"/>
          </p:cNvSpPr>
          <p:nvPr>
            <p:ph type="sldNum" sz="quarter" idx="5"/>
          </p:nvPr>
        </p:nvSpPr>
        <p:spPr/>
        <p:txBody>
          <a:bodyPr/>
          <a:lstStyle/>
          <a:p>
            <a:fld id="{81CD8E67-5CC0-BE47-832B-368A4FAA1099}" type="slidenum">
              <a:rPr lang="en-DE" smtClean="0"/>
              <a:t>10</a:t>
            </a:fld>
            <a:endParaRPr lang="en-DE"/>
          </a:p>
        </p:txBody>
      </p:sp>
    </p:spTree>
    <p:extLst>
      <p:ext uri="{BB962C8B-B14F-4D97-AF65-F5344CB8AC3E}">
        <p14:creationId xmlns:p14="http://schemas.microsoft.com/office/powerpoint/2010/main" val="526033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AF18-461B-EBF1-BA4F-238F84350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DAFDE-E720-3B02-E6E8-5C1B44D23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05DBA-D72F-B228-EA1C-2CCC96DCA294}"/>
              </a:ext>
            </a:extLst>
          </p:cNvPr>
          <p:cNvSpPr>
            <a:spLocks noGrp="1"/>
          </p:cNvSpPr>
          <p:nvPr>
            <p:ph type="body" idx="1"/>
          </p:nvPr>
        </p:nvSpPr>
        <p:spPr/>
        <p:txBody>
          <a:bodyPr/>
          <a:lstStyle/>
          <a:p>
            <a:r>
              <a:rPr lang="en-DE"/>
              <a:t>Presented by Nur</a:t>
            </a:r>
          </a:p>
        </p:txBody>
      </p:sp>
      <p:sp>
        <p:nvSpPr>
          <p:cNvPr id="4" name="Slide Number Placeholder 3">
            <a:extLst>
              <a:ext uri="{FF2B5EF4-FFF2-40B4-BE49-F238E27FC236}">
                <a16:creationId xmlns:a16="http://schemas.microsoft.com/office/drawing/2014/main" id="{EA2879F8-B93A-8F6F-F5AA-83166B75CC25}"/>
              </a:ext>
            </a:extLst>
          </p:cNvPr>
          <p:cNvSpPr>
            <a:spLocks noGrp="1"/>
          </p:cNvSpPr>
          <p:nvPr>
            <p:ph type="sldNum" sz="quarter" idx="5"/>
          </p:nvPr>
        </p:nvSpPr>
        <p:spPr/>
        <p:txBody>
          <a:bodyPr/>
          <a:lstStyle/>
          <a:p>
            <a:fld id="{81CD8E67-5CC0-BE47-832B-368A4FAA1099}" type="slidenum">
              <a:rPr lang="en-DE" smtClean="0"/>
              <a:t>11</a:t>
            </a:fld>
            <a:endParaRPr lang="en-DE"/>
          </a:p>
        </p:txBody>
      </p:sp>
    </p:spTree>
    <p:extLst>
      <p:ext uri="{BB962C8B-B14F-4D97-AF65-F5344CB8AC3E}">
        <p14:creationId xmlns:p14="http://schemas.microsoft.com/office/powerpoint/2010/main" val="395337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Presented by Yelyzaveta</a:t>
            </a:r>
            <a:br>
              <a:rPr lang="en-DE">
                <a:cs typeface="+mn-lt"/>
              </a:rPr>
            </a:br>
            <a:br>
              <a:rPr lang="en-US">
                <a:cs typeface="+mn-lt"/>
              </a:rPr>
            </a:br>
            <a:r>
              <a:rPr lang="en-US"/>
              <a:t>Script: Implementing drone-powered crop monitoring for small to medium-sized farms creates significant impacts across multiple dimensions.</a:t>
            </a:r>
          </a:p>
          <a:p>
            <a:endParaRPr lang="en-US"/>
          </a:p>
          <a:p>
            <a:r>
              <a:rPr lang="en-US" b="1"/>
              <a:t>Economic Impact</a:t>
            </a:r>
            <a:r>
              <a:rPr lang="en-US"/>
              <a:t>: Our analysis demonstrates substantial financial benefits. Farmers can expect annual cost savings between €10,000 to €25,000 through improved yields and resource optimization. The system reduces inspection time by 40-60%, directly addressing labor shortage challenges. Precision monitoring enables approximately 15% savings in water usage and fertilizer application, while early detection of crop issues prevents yield losses.</a:t>
            </a:r>
          </a:p>
          <a:p>
            <a:endParaRPr lang="en-US"/>
          </a:p>
          <a:p>
            <a:r>
              <a:rPr lang="en-US" b="1"/>
              <a:t>Environmental Impact</a:t>
            </a:r>
            <a:r>
              <a:rPr lang="en-US"/>
              <a:t>: The environmental benefits are compelling. By enabling precision agriculture, our drone system reduces pesticide use by 20-30%, significantly decreasing chemical runoff. Fewer vehicle-based field inspections translate to a measurable reduction in carbon footprint, supporting the EU's 55% emissions reduction goal by 2030. Water conservation through precision irrigation further enhances sustainability in farming practices.</a:t>
            </a:r>
          </a:p>
          <a:p>
            <a:endParaRPr lang="en-US"/>
          </a:p>
          <a:p>
            <a:r>
              <a:rPr lang="en-US" b="1"/>
              <a:t>Social Impact</a:t>
            </a:r>
            <a:r>
              <a:rPr lang="en-US"/>
              <a:t>: Our solution addresses key social challenges in agriculture today. The technology makes farming more attractive to younger, tech-savvy generations, helping to counteract the aging farmer population trend. The system creates opportunities for new skilled jobs in rural areas, from drone operators to data analysts, revitalizing agricultural communities. Knowledge transfer through our training programs ensures widespread technology adoption across different demographics.</a:t>
            </a:r>
          </a:p>
          <a:p>
            <a:endParaRPr lang="en-US"/>
          </a:p>
          <a:p>
            <a:r>
              <a:rPr lang="en-US" b="1"/>
              <a:t>Technological Impact</a:t>
            </a:r>
            <a:r>
              <a:rPr lang="en-US"/>
              <a:t>: This project significantly advances precision agriculture in Ireland, introducing data-driven decision-making to farms that previously relied on traditional methods. The integration of AI and machine learning for crop analysis creates a foundation for future innovations, positioning Irish farming at the forefront of agricultural technology and creating competitive advantages for early adopters.</a:t>
            </a:r>
          </a:p>
          <a:p>
            <a:endParaRPr lang="en-US"/>
          </a:p>
        </p:txBody>
      </p:sp>
      <p:sp>
        <p:nvSpPr>
          <p:cNvPr id="4" name="Slide Number Placeholder 3"/>
          <p:cNvSpPr>
            <a:spLocks noGrp="1"/>
          </p:cNvSpPr>
          <p:nvPr>
            <p:ph type="sldNum" sz="quarter" idx="5"/>
          </p:nvPr>
        </p:nvSpPr>
        <p:spPr/>
        <p:txBody>
          <a:bodyPr/>
          <a:lstStyle/>
          <a:p>
            <a:fld id="{81CD8E67-5CC0-BE47-832B-368A4FAA1099}" type="slidenum">
              <a:rPr lang="en-DE" smtClean="0"/>
              <a:t>12</a:t>
            </a:fld>
            <a:endParaRPr lang="en-DE"/>
          </a:p>
        </p:txBody>
      </p:sp>
    </p:spTree>
    <p:extLst>
      <p:ext uri="{BB962C8B-B14F-4D97-AF65-F5344CB8AC3E}">
        <p14:creationId xmlns:p14="http://schemas.microsoft.com/office/powerpoint/2010/main" val="57269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Presented by Dani</a:t>
            </a:r>
          </a:p>
          <a:p>
            <a:endParaRPr lang="en-DE"/>
          </a:p>
          <a:p>
            <a:r>
              <a:rPr lang="en-DE"/>
              <a:t>Script: </a:t>
            </a:r>
          </a:p>
          <a:p>
            <a:r>
              <a:rPr lang="en-DE"/>
              <a:t>See slides</a:t>
            </a:r>
          </a:p>
        </p:txBody>
      </p:sp>
      <p:sp>
        <p:nvSpPr>
          <p:cNvPr id="4" name="Slide Number Placeholder 3"/>
          <p:cNvSpPr>
            <a:spLocks noGrp="1"/>
          </p:cNvSpPr>
          <p:nvPr>
            <p:ph type="sldNum" sz="quarter" idx="5"/>
          </p:nvPr>
        </p:nvSpPr>
        <p:spPr/>
        <p:txBody>
          <a:bodyPr/>
          <a:lstStyle/>
          <a:p>
            <a:fld id="{81CD8E67-5CC0-BE47-832B-368A4FAA1099}" type="slidenum">
              <a:rPr lang="en-DE" smtClean="0"/>
              <a:t>13</a:t>
            </a:fld>
            <a:endParaRPr lang="en-DE"/>
          </a:p>
        </p:txBody>
      </p:sp>
    </p:spTree>
    <p:extLst>
      <p:ext uri="{BB962C8B-B14F-4D97-AF65-F5344CB8AC3E}">
        <p14:creationId xmlns:p14="http://schemas.microsoft.com/office/powerpoint/2010/main" val="1705222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4140C-E498-ED25-896B-55280F0D3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6E5BB-6777-6437-CF32-032FA6BCE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EEB95-E99E-92FC-C3B8-A0D357B33ADC}"/>
              </a:ext>
            </a:extLst>
          </p:cNvPr>
          <p:cNvSpPr>
            <a:spLocks noGrp="1"/>
          </p:cNvSpPr>
          <p:nvPr>
            <p:ph type="body" idx="1"/>
          </p:nvPr>
        </p:nvSpPr>
        <p:spPr/>
        <p:txBody>
          <a:bodyPr/>
          <a:lstStyle/>
          <a:p>
            <a:r>
              <a:rPr lang="en-DE"/>
              <a:t>Presented by Dani</a:t>
            </a:r>
          </a:p>
          <a:p>
            <a:endParaRPr lang="en-DE"/>
          </a:p>
          <a:p>
            <a:r>
              <a:rPr lang="en-DE"/>
              <a:t>Script: </a:t>
            </a:r>
          </a:p>
          <a:p>
            <a:r>
              <a:rPr lang="en-DE"/>
              <a:t>See slides</a:t>
            </a:r>
          </a:p>
        </p:txBody>
      </p:sp>
      <p:sp>
        <p:nvSpPr>
          <p:cNvPr id="4" name="Slide Number Placeholder 3">
            <a:extLst>
              <a:ext uri="{FF2B5EF4-FFF2-40B4-BE49-F238E27FC236}">
                <a16:creationId xmlns:a16="http://schemas.microsoft.com/office/drawing/2014/main" id="{1B437B91-54F4-5F53-D32D-CFA0408A4568}"/>
              </a:ext>
            </a:extLst>
          </p:cNvPr>
          <p:cNvSpPr>
            <a:spLocks noGrp="1"/>
          </p:cNvSpPr>
          <p:nvPr>
            <p:ph type="sldNum" sz="quarter" idx="5"/>
          </p:nvPr>
        </p:nvSpPr>
        <p:spPr/>
        <p:txBody>
          <a:bodyPr/>
          <a:lstStyle/>
          <a:p>
            <a:fld id="{81CD8E67-5CC0-BE47-832B-368A4FAA1099}" type="slidenum">
              <a:rPr lang="en-DE" smtClean="0"/>
              <a:t>14</a:t>
            </a:fld>
            <a:endParaRPr lang="en-DE"/>
          </a:p>
        </p:txBody>
      </p:sp>
    </p:spTree>
    <p:extLst>
      <p:ext uri="{BB962C8B-B14F-4D97-AF65-F5344CB8AC3E}">
        <p14:creationId xmlns:p14="http://schemas.microsoft.com/office/powerpoint/2010/main" val="2446832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46C30-E2B3-9602-C31F-837741F6D99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6C756E8F-AA22-0292-7C5B-35074ED37E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D325FA12-8093-FB59-AD63-74A3DA70FEE2}"/>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5" name="Footer Placeholder 4">
            <a:extLst>
              <a:ext uri="{FF2B5EF4-FFF2-40B4-BE49-F238E27FC236}">
                <a16:creationId xmlns:a16="http://schemas.microsoft.com/office/drawing/2014/main" id="{0F8A4E0E-E2D4-E144-77D7-0F9F4BE7D83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734CC1CE-0B32-173D-2CC6-DDAE6B9AFAE3}"/>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25913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12049-0A3D-7C24-6C1E-2ED86B11447A}"/>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99327C68-3A88-B0AC-D334-2BBE340CC7B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A41B2EB5-9233-9BC4-3E3F-A71D10F67EA5}"/>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5" name="Footer Placeholder 4">
            <a:extLst>
              <a:ext uri="{FF2B5EF4-FFF2-40B4-BE49-F238E27FC236}">
                <a16:creationId xmlns:a16="http://schemas.microsoft.com/office/drawing/2014/main" id="{C211A9CD-1B0D-A406-4743-6DEFBADC8545}"/>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7EA89780-98B1-B179-E4DF-5C02390B4638}"/>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14937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F61D7-DD77-8D18-B81F-1BA8FA4E049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A42D6B89-E9B3-068C-5636-4515531E0D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3BFB78E-E8AF-D6B2-42A3-F6804D64EE8F}"/>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5" name="Footer Placeholder 4">
            <a:extLst>
              <a:ext uri="{FF2B5EF4-FFF2-40B4-BE49-F238E27FC236}">
                <a16:creationId xmlns:a16="http://schemas.microsoft.com/office/drawing/2014/main" id="{FC7BC5B3-82FC-A9C8-CC04-4C5EC6B840B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8C3E1354-5C94-79D8-AB44-E10AFB6E8C1A}"/>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2997353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BF8F5-DFF0-5EEC-AC29-CD2C9828C882}"/>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F9DCEA55-B8C7-31BD-92F0-9447BF76FFE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C58B6B1A-02FF-34E4-CD2F-FF57E5BE059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95A8C604-262D-3349-0C8C-CBF1054D4FD7}"/>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6" name="Footer Placeholder 5">
            <a:extLst>
              <a:ext uri="{FF2B5EF4-FFF2-40B4-BE49-F238E27FC236}">
                <a16:creationId xmlns:a16="http://schemas.microsoft.com/office/drawing/2014/main" id="{301BDE30-0911-6AEC-85F7-6A5093CB72AF}"/>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1A25E98C-64CA-5EDD-ECB7-DF7DFB2CB5B6}"/>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1957873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62E30-D001-A6E6-6722-EEF964A56995}"/>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30976ECE-21EF-05D1-495A-A22BD34731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ABBF431-A130-AFF8-E254-9E92C458DEC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84046998-3568-AEFD-DF18-33EB9FC1E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E9A8611-E684-5A1D-C00D-01E7837B5AF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959B3521-8257-617F-B421-F4761007898F}"/>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8" name="Footer Placeholder 7">
            <a:extLst>
              <a:ext uri="{FF2B5EF4-FFF2-40B4-BE49-F238E27FC236}">
                <a16:creationId xmlns:a16="http://schemas.microsoft.com/office/drawing/2014/main" id="{B2625A49-EECB-B562-65AF-580BE4907ADA}"/>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08FED5FF-6DD1-66D9-9E24-28B252F2616B}"/>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143483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0DDF8-36FE-A53D-5F5D-B7F737C333E3}"/>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A7B371B9-220B-D45D-28E9-A9B37DFF634F}"/>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4" name="Footer Placeholder 3">
            <a:extLst>
              <a:ext uri="{FF2B5EF4-FFF2-40B4-BE49-F238E27FC236}">
                <a16:creationId xmlns:a16="http://schemas.microsoft.com/office/drawing/2014/main" id="{AD54632A-6D6F-B611-63E5-6D05C832BF71}"/>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49AD0F7B-8295-7991-B11F-5C43A1BB50BF}"/>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776746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0C743E-3A53-8B63-B52F-76AC832DDCF6}"/>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3" name="Footer Placeholder 2">
            <a:extLst>
              <a:ext uri="{FF2B5EF4-FFF2-40B4-BE49-F238E27FC236}">
                <a16:creationId xmlns:a16="http://schemas.microsoft.com/office/drawing/2014/main" id="{689C5761-6C20-7436-9E92-9C7548AFD352}"/>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8C934C73-D62D-25B5-E28E-724FFC6D3414}"/>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3701434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0A44-6FFA-FC07-67B1-6990F5B815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6AB68F0C-E13F-9D54-76F9-5F91AB85E5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94B2A290-991E-32D8-6C79-7434874CFE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80265B-8391-2C95-250E-A1E6FA5C21D6}"/>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6" name="Footer Placeholder 5">
            <a:extLst>
              <a:ext uri="{FF2B5EF4-FFF2-40B4-BE49-F238E27FC236}">
                <a16:creationId xmlns:a16="http://schemas.microsoft.com/office/drawing/2014/main" id="{51DD4C05-C9E8-1EAA-650D-48A06CEFA596}"/>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69B803C7-5B65-D208-FB5D-1451A8887EE5}"/>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800960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4AC20-0F94-1DD9-58E4-685024F1ED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FB3211DF-C3F1-F1EB-5222-06738AFF25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574F6198-3B13-9AAC-A67A-EE950937B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CA8F6F1-849C-8C2C-0574-D1491C6FAF0E}"/>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6" name="Footer Placeholder 5">
            <a:extLst>
              <a:ext uri="{FF2B5EF4-FFF2-40B4-BE49-F238E27FC236}">
                <a16:creationId xmlns:a16="http://schemas.microsoft.com/office/drawing/2014/main" id="{7D8ABA1E-1DE8-2D99-43FD-B327A0CCD538}"/>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D22EC5D2-FBFE-8F4E-DCF5-058C1551C3E9}"/>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3155273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2DDA-84CD-0836-60A8-9FEDE619E16A}"/>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8CD38D19-0BC6-B338-20E1-167FB65F5DA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B9AFE43F-E996-2EFF-BC95-4916C3C3C65C}"/>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5" name="Footer Placeholder 4">
            <a:extLst>
              <a:ext uri="{FF2B5EF4-FFF2-40B4-BE49-F238E27FC236}">
                <a16:creationId xmlns:a16="http://schemas.microsoft.com/office/drawing/2014/main" id="{20D62A25-B2E4-AA9C-4C25-E66B0721A71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20C5C7F1-5F86-DA0A-7EBD-B4F0D7BB9D08}"/>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1276538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77DBE9-93F9-E1FF-03FE-5A09573E47F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6AD08D7F-E37E-E16F-E425-9828568EDB0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F3ACD4FC-19A4-840E-3D55-A7EE09AB7FB9}"/>
              </a:ext>
            </a:extLst>
          </p:cNvPr>
          <p:cNvSpPr>
            <a:spLocks noGrp="1"/>
          </p:cNvSpPr>
          <p:nvPr>
            <p:ph type="dt" sz="half" idx="10"/>
          </p:nvPr>
        </p:nvSpPr>
        <p:spPr/>
        <p:txBody>
          <a:bodyPr/>
          <a:lstStyle/>
          <a:p>
            <a:fld id="{E3C22AB9-A841-3046-A27E-26439492976E}" type="datetimeFigureOut">
              <a:rPr lang="en-DE" smtClean="0"/>
              <a:t>05/24/2026</a:t>
            </a:fld>
            <a:endParaRPr lang="en-DE"/>
          </a:p>
        </p:txBody>
      </p:sp>
      <p:sp>
        <p:nvSpPr>
          <p:cNvPr id="5" name="Footer Placeholder 4">
            <a:extLst>
              <a:ext uri="{FF2B5EF4-FFF2-40B4-BE49-F238E27FC236}">
                <a16:creationId xmlns:a16="http://schemas.microsoft.com/office/drawing/2014/main" id="{D33A604B-0681-603D-6286-0FBF68FCA43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5264A1EE-77F0-7F83-2475-51E71D65A878}"/>
              </a:ext>
            </a:extLst>
          </p:cNvPr>
          <p:cNvSpPr>
            <a:spLocks noGrp="1"/>
          </p:cNvSpPr>
          <p:nvPr>
            <p:ph type="sldNum" sz="quarter" idx="12"/>
          </p:nvPr>
        </p:nvSpPr>
        <p:spPr/>
        <p:txBody>
          <a:bodyPr/>
          <a:lstStyle/>
          <a:p>
            <a:fld id="{212A96EB-59F9-1E45-86CB-77DA11E3ADCE}" type="slidenum">
              <a:rPr lang="en-DE" smtClean="0"/>
              <a:t>‹#›</a:t>
            </a:fld>
            <a:endParaRPr lang="en-DE"/>
          </a:p>
        </p:txBody>
      </p:sp>
    </p:spTree>
    <p:extLst>
      <p:ext uri="{BB962C8B-B14F-4D97-AF65-F5344CB8AC3E}">
        <p14:creationId xmlns:p14="http://schemas.microsoft.com/office/powerpoint/2010/main" val="218606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FC28D0-53C2-4922-B304-31D2A0CF8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AE68FFA3-090E-91D9-C0D9-82E50FBE24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F4161E3A-3E3E-F447-8680-7800131AF1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C22AB9-A841-3046-A27E-26439492976E}" type="datetimeFigureOut">
              <a:rPr lang="en-DE" smtClean="0"/>
              <a:t>05/24/2026</a:t>
            </a:fld>
            <a:endParaRPr lang="en-DE"/>
          </a:p>
        </p:txBody>
      </p:sp>
      <p:sp>
        <p:nvSpPr>
          <p:cNvPr id="5" name="Footer Placeholder 4">
            <a:extLst>
              <a:ext uri="{FF2B5EF4-FFF2-40B4-BE49-F238E27FC236}">
                <a16:creationId xmlns:a16="http://schemas.microsoft.com/office/drawing/2014/main" id="{3041750C-53BD-089C-170C-E733A212EA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8DDA77A9-29F0-81DA-53D7-9C7663CE14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2A96EB-59F9-1E45-86CB-77DA11E3ADCE}" type="slidenum">
              <a:rPr lang="en-DE" smtClean="0"/>
              <a:t>‹#›</a:t>
            </a:fld>
            <a:endParaRPr lang="en-DE"/>
          </a:p>
        </p:txBody>
      </p:sp>
    </p:spTree>
    <p:extLst>
      <p:ext uri="{BB962C8B-B14F-4D97-AF65-F5344CB8AC3E}">
        <p14:creationId xmlns:p14="http://schemas.microsoft.com/office/powerpoint/2010/main" val="2526769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pn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15.svg"/><Relationship Id="rId4" Type="http://schemas.openxmlformats.org/officeDocument/2006/relationships/diagramData" Target="../diagrams/data1.xml"/><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E4CDA-40A8-9E8A-938D-906FF4F4A73E}"/>
              </a:ext>
            </a:extLst>
          </p:cNvPr>
          <p:cNvSpPr>
            <a:spLocks noGrp="1"/>
          </p:cNvSpPr>
          <p:nvPr>
            <p:ph type="title"/>
          </p:nvPr>
        </p:nvSpPr>
        <p:spPr/>
        <p:txBody>
          <a:bodyPr>
            <a:normAutofit/>
          </a:bodyPr>
          <a:lstStyle/>
          <a:p>
            <a:r>
              <a:rPr lang="en-US" sz="3200"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Executive Summary</a:t>
            </a:r>
            <a:endParaRPr lang="en-DE" sz="6600" dirty="0"/>
          </a:p>
        </p:txBody>
      </p:sp>
      <p:grpSp>
        <p:nvGrpSpPr>
          <p:cNvPr id="3" name="Group 2">
            <a:extLst>
              <a:ext uri="{FF2B5EF4-FFF2-40B4-BE49-F238E27FC236}">
                <a16:creationId xmlns:a16="http://schemas.microsoft.com/office/drawing/2014/main" id="{A2A20A52-FB5B-2162-6ABE-F9124816CB47}"/>
              </a:ext>
            </a:extLst>
          </p:cNvPr>
          <p:cNvGrpSpPr/>
          <p:nvPr/>
        </p:nvGrpSpPr>
        <p:grpSpPr>
          <a:xfrm>
            <a:off x="839835" y="1577998"/>
            <a:ext cx="4170576" cy="1954342"/>
            <a:chOff x="467763" y="1001228"/>
            <a:chExt cx="4687542" cy="1711259"/>
          </a:xfrm>
        </p:grpSpPr>
        <p:sp>
          <p:nvSpPr>
            <p:cNvPr id="5" name="Rectangle 4">
              <a:extLst>
                <a:ext uri="{FF2B5EF4-FFF2-40B4-BE49-F238E27FC236}">
                  <a16:creationId xmlns:a16="http://schemas.microsoft.com/office/drawing/2014/main" id="{C2B74C23-8283-926A-1492-43B22C73BDF1}"/>
                </a:ext>
              </a:extLst>
            </p:cNvPr>
            <p:cNvSpPr/>
            <p:nvPr/>
          </p:nvSpPr>
          <p:spPr>
            <a:xfrm>
              <a:off x="467763" y="1001228"/>
              <a:ext cx="4687542" cy="339114"/>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Project Overview</a:t>
              </a:r>
              <a:endParaRPr lang="en-US" noProof="0" dirty="0">
                <a:cs typeface="Calibri"/>
              </a:endParaRPr>
            </a:p>
          </p:txBody>
        </p:sp>
        <p:sp>
          <p:nvSpPr>
            <p:cNvPr id="6" name="Rectangle 5">
              <a:extLst>
                <a:ext uri="{FF2B5EF4-FFF2-40B4-BE49-F238E27FC236}">
                  <a16:creationId xmlns:a16="http://schemas.microsoft.com/office/drawing/2014/main" id="{FEFE5FA2-443D-CE6C-0A89-A2A51E33D4D6}"/>
                </a:ext>
              </a:extLst>
            </p:cNvPr>
            <p:cNvSpPr/>
            <p:nvPr/>
          </p:nvSpPr>
          <p:spPr>
            <a:xfrm>
              <a:off x="475681" y="1340342"/>
              <a:ext cx="4678045" cy="1372145"/>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tx1"/>
                  </a:solidFill>
                </a:rPr>
                <a:t>- Drone-powered monitoring system for small to medium-sized farmers</a:t>
              </a:r>
            </a:p>
            <a:p>
              <a:pPr lvl="0"/>
              <a:endParaRPr lang="en-US" sz="2000" noProof="0" dirty="0">
                <a:solidFill>
                  <a:schemeClr val="tx1"/>
                </a:solidFill>
                <a:latin typeface="Aptos" panose="020B0004020202020204" pitchFamily="34" charset="0"/>
                <a:ea typeface="Calibri" panose="020F0502020204030204"/>
                <a:cs typeface="Aparajita" panose="02020603050405020304" pitchFamily="18" charset="0"/>
              </a:endParaRPr>
            </a:p>
          </p:txBody>
        </p:sp>
      </p:grpSp>
      <p:grpSp>
        <p:nvGrpSpPr>
          <p:cNvPr id="11" name="Group 10">
            <a:extLst>
              <a:ext uri="{FF2B5EF4-FFF2-40B4-BE49-F238E27FC236}">
                <a16:creationId xmlns:a16="http://schemas.microsoft.com/office/drawing/2014/main" id="{C2F2FE12-CBA5-FECC-AA96-1CDC42E32282}"/>
              </a:ext>
            </a:extLst>
          </p:cNvPr>
          <p:cNvGrpSpPr/>
          <p:nvPr/>
        </p:nvGrpSpPr>
        <p:grpSpPr>
          <a:xfrm>
            <a:off x="846879" y="3806935"/>
            <a:ext cx="4162125" cy="2413014"/>
            <a:chOff x="467763" y="1001228"/>
            <a:chExt cx="4687542" cy="2112881"/>
          </a:xfrm>
        </p:grpSpPr>
        <p:sp>
          <p:nvSpPr>
            <p:cNvPr id="12" name="Rectangle 11">
              <a:extLst>
                <a:ext uri="{FF2B5EF4-FFF2-40B4-BE49-F238E27FC236}">
                  <a16:creationId xmlns:a16="http://schemas.microsoft.com/office/drawing/2014/main" id="{272C90D6-DFDD-C036-E29F-21A149E27C44}"/>
                </a:ext>
              </a:extLst>
            </p:cNvPr>
            <p:cNvSpPr/>
            <p:nvPr/>
          </p:nvSpPr>
          <p:spPr>
            <a:xfrm>
              <a:off x="467763" y="1001228"/>
              <a:ext cx="4687542" cy="339114"/>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Solution</a:t>
              </a:r>
              <a:endParaRPr lang="en-US" noProof="0" dirty="0">
                <a:cs typeface="Calibri"/>
              </a:endParaRPr>
            </a:p>
          </p:txBody>
        </p:sp>
        <p:sp>
          <p:nvSpPr>
            <p:cNvPr id="13" name="Rectangle 12">
              <a:extLst>
                <a:ext uri="{FF2B5EF4-FFF2-40B4-BE49-F238E27FC236}">
                  <a16:creationId xmlns:a16="http://schemas.microsoft.com/office/drawing/2014/main" id="{7C544468-299C-9857-A5B9-79F4575562D6}"/>
                </a:ext>
              </a:extLst>
            </p:cNvPr>
            <p:cNvSpPr/>
            <p:nvPr/>
          </p:nvSpPr>
          <p:spPr>
            <a:xfrm>
              <a:off x="475681" y="1340342"/>
              <a:ext cx="4678045" cy="1773767"/>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a:buFontTx/>
                <a:buChar char="-"/>
              </a:pPr>
              <a:r>
                <a:rPr lang="en-US" dirty="0">
                  <a:solidFill>
                    <a:schemeClr val="tx1"/>
                  </a:solidFill>
                </a:rPr>
                <a:t>High-resolution cameras and multispectral sensors</a:t>
              </a:r>
            </a:p>
            <a:p>
              <a:pPr marL="285750" lvl="0" indent="-285750" algn="l">
                <a:buFontTx/>
                <a:buChar char="-"/>
              </a:pPr>
              <a:r>
                <a:rPr lang="en-US" dirty="0">
                  <a:solidFill>
                    <a:schemeClr val="tx1"/>
                  </a:solidFill>
                </a:rPr>
                <a:t>Real-time data collection and analysis</a:t>
              </a:r>
            </a:p>
            <a:p>
              <a:pPr marL="285750" lvl="0" indent="-285750" algn="l">
                <a:buFontTx/>
                <a:buChar char="-"/>
              </a:pPr>
              <a:r>
                <a:rPr lang="en-US" dirty="0">
                  <a:solidFill>
                    <a:schemeClr val="tx1"/>
                  </a:solidFill>
                </a:rPr>
                <a:t>Early detection of pests, diseases, and resource needs</a:t>
              </a:r>
            </a:p>
          </p:txBody>
        </p:sp>
      </p:grpSp>
      <p:grpSp>
        <p:nvGrpSpPr>
          <p:cNvPr id="14" name="Group 13">
            <a:extLst>
              <a:ext uri="{FF2B5EF4-FFF2-40B4-BE49-F238E27FC236}">
                <a16:creationId xmlns:a16="http://schemas.microsoft.com/office/drawing/2014/main" id="{B47C2D95-88B5-69C7-5A26-320C744BC2C8}"/>
              </a:ext>
            </a:extLst>
          </p:cNvPr>
          <p:cNvGrpSpPr/>
          <p:nvPr/>
        </p:nvGrpSpPr>
        <p:grpSpPr>
          <a:xfrm>
            <a:off x="6723471" y="1577999"/>
            <a:ext cx="4621649" cy="1967890"/>
            <a:chOff x="467763" y="1001228"/>
            <a:chExt cx="4687542" cy="2062236"/>
          </a:xfrm>
        </p:grpSpPr>
        <p:sp>
          <p:nvSpPr>
            <p:cNvPr id="15" name="Rectangle 14">
              <a:extLst>
                <a:ext uri="{FF2B5EF4-FFF2-40B4-BE49-F238E27FC236}">
                  <a16:creationId xmlns:a16="http://schemas.microsoft.com/office/drawing/2014/main" id="{8C6930CF-890A-946A-EEE0-42FDC8AFD5EF}"/>
                </a:ext>
              </a:extLst>
            </p:cNvPr>
            <p:cNvSpPr/>
            <p:nvPr/>
          </p:nvSpPr>
          <p:spPr>
            <a:xfrm>
              <a:off x="467763" y="1001228"/>
              <a:ext cx="4687542" cy="339114"/>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Problem</a:t>
              </a:r>
              <a:endParaRPr lang="en-US" noProof="0" dirty="0">
                <a:cs typeface="Calibri"/>
              </a:endParaRPr>
            </a:p>
          </p:txBody>
        </p:sp>
        <p:sp>
          <p:nvSpPr>
            <p:cNvPr id="16" name="Rectangle 15">
              <a:extLst>
                <a:ext uri="{FF2B5EF4-FFF2-40B4-BE49-F238E27FC236}">
                  <a16:creationId xmlns:a16="http://schemas.microsoft.com/office/drawing/2014/main" id="{6791D1E2-5B49-D45B-6782-720039F85307}"/>
                </a:ext>
              </a:extLst>
            </p:cNvPr>
            <p:cNvSpPr/>
            <p:nvPr/>
          </p:nvSpPr>
          <p:spPr>
            <a:xfrm>
              <a:off x="475681" y="1340342"/>
              <a:ext cx="4678045" cy="1723122"/>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a:buFontTx/>
                <a:buChar char="-"/>
              </a:pPr>
              <a:r>
                <a:rPr lang="en-US" dirty="0">
                  <a:solidFill>
                    <a:schemeClr val="tx1"/>
                  </a:solidFill>
                </a:rPr>
                <a:t>Manual monitoring is labor-intensive and inefficient</a:t>
              </a:r>
            </a:p>
            <a:p>
              <a:pPr marL="285750" lvl="0" indent="-285750" algn="l">
                <a:buFontTx/>
                <a:buChar char="-"/>
              </a:pPr>
              <a:r>
                <a:rPr lang="en-US" dirty="0">
                  <a:solidFill>
                    <a:schemeClr val="tx1"/>
                  </a:solidFill>
                </a:rPr>
                <a:t>Limited resources and outdated methods</a:t>
              </a:r>
            </a:p>
            <a:p>
              <a:pPr marL="285750" lvl="0" indent="-285750" algn="l">
                <a:buFontTx/>
                <a:buChar char="-"/>
              </a:pPr>
              <a:r>
                <a:rPr lang="en-US" dirty="0">
                  <a:solidFill>
                    <a:schemeClr val="tx1"/>
                  </a:solidFill>
                </a:rPr>
                <a:t>Difficulty detecting issues early</a:t>
              </a:r>
            </a:p>
          </p:txBody>
        </p:sp>
      </p:grpSp>
      <p:grpSp>
        <p:nvGrpSpPr>
          <p:cNvPr id="17" name="Group 16">
            <a:extLst>
              <a:ext uri="{FF2B5EF4-FFF2-40B4-BE49-F238E27FC236}">
                <a16:creationId xmlns:a16="http://schemas.microsoft.com/office/drawing/2014/main" id="{B24867FB-0052-6683-24B8-2534A3144DF5}"/>
              </a:ext>
            </a:extLst>
          </p:cNvPr>
          <p:cNvGrpSpPr/>
          <p:nvPr/>
        </p:nvGrpSpPr>
        <p:grpSpPr>
          <a:xfrm>
            <a:off x="6723471" y="3806935"/>
            <a:ext cx="4620092" cy="2355175"/>
            <a:chOff x="467763" y="1001228"/>
            <a:chExt cx="4687542" cy="2062236"/>
          </a:xfrm>
        </p:grpSpPr>
        <p:sp>
          <p:nvSpPr>
            <p:cNvPr id="18" name="Rectangle 17">
              <a:extLst>
                <a:ext uri="{FF2B5EF4-FFF2-40B4-BE49-F238E27FC236}">
                  <a16:creationId xmlns:a16="http://schemas.microsoft.com/office/drawing/2014/main" id="{79E3778E-9866-00EC-EF2C-E938BC1A15A2}"/>
                </a:ext>
              </a:extLst>
            </p:cNvPr>
            <p:cNvSpPr/>
            <p:nvPr/>
          </p:nvSpPr>
          <p:spPr>
            <a:xfrm>
              <a:off x="467763" y="1001228"/>
              <a:ext cx="4687542" cy="339114"/>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Benefits</a:t>
              </a:r>
              <a:endParaRPr lang="en-US" noProof="0" dirty="0">
                <a:cs typeface="Calibri"/>
              </a:endParaRPr>
            </a:p>
          </p:txBody>
        </p:sp>
        <p:sp>
          <p:nvSpPr>
            <p:cNvPr id="19" name="Rectangle 18">
              <a:extLst>
                <a:ext uri="{FF2B5EF4-FFF2-40B4-BE49-F238E27FC236}">
                  <a16:creationId xmlns:a16="http://schemas.microsoft.com/office/drawing/2014/main" id="{EC98F982-F134-D457-9F68-9FD9D61F10A2}"/>
                </a:ext>
              </a:extLst>
            </p:cNvPr>
            <p:cNvSpPr/>
            <p:nvPr/>
          </p:nvSpPr>
          <p:spPr>
            <a:xfrm>
              <a:off x="475681" y="1340342"/>
              <a:ext cx="4678045" cy="1723122"/>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a:buFontTx/>
                <a:buChar char="-"/>
              </a:pPr>
              <a:r>
                <a:rPr lang="en-US" dirty="0">
                  <a:solidFill>
                    <a:schemeClr val="tx1"/>
                  </a:solidFill>
                </a:rPr>
                <a:t>Increased farm productivity and crop yields</a:t>
              </a:r>
            </a:p>
            <a:p>
              <a:pPr marL="285750" lvl="0" indent="-285750" algn="l">
                <a:buFontTx/>
                <a:buChar char="-"/>
              </a:pPr>
              <a:r>
                <a:rPr lang="en-US" dirty="0">
                  <a:solidFill>
                    <a:schemeClr val="tx1"/>
                  </a:solidFill>
                </a:rPr>
                <a:t>Cost savings through resource optimization</a:t>
              </a:r>
            </a:p>
            <a:p>
              <a:pPr marL="285750" lvl="0" indent="-285750" algn="l">
                <a:buFontTx/>
                <a:buChar char="-"/>
              </a:pPr>
              <a:r>
                <a:rPr lang="en-US" dirty="0">
                  <a:solidFill>
                    <a:schemeClr val="tx1"/>
                  </a:solidFill>
                </a:rPr>
                <a:t>Environmental sustainability through precision farming</a:t>
              </a:r>
            </a:p>
          </p:txBody>
        </p:sp>
      </p:grpSp>
    </p:spTree>
    <p:extLst>
      <p:ext uri="{BB962C8B-B14F-4D97-AF65-F5344CB8AC3E}">
        <p14:creationId xmlns:p14="http://schemas.microsoft.com/office/powerpoint/2010/main" val="285095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345C4-922B-8C20-EA08-044ADEC9519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96D04A3-02DF-A59B-F06A-8A0875FDCD7C}"/>
              </a:ext>
            </a:extLst>
          </p:cNvPr>
          <p:cNvSpPr>
            <a:spLocks noGrp="1"/>
          </p:cNvSpPr>
          <p:nvPr>
            <p:ph type="title"/>
          </p:nvPr>
        </p:nvSpPr>
        <p:spPr>
          <a:xfrm>
            <a:off x="285415" y="446455"/>
            <a:ext cx="10515600" cy="906162"/>
          </a:xfrm>
        </p:spPr>
        <p:txBody>
          <a:bodyPr vert="horz" lIns="91440" tIns="45720" rIns="91440" bIns="45720" rtlCol="0" anchor="ctr">
            <a:noAutofit/>
          </a:bodyPr>
          <a:lstStyle/>
          <a:p>
            <a:r>
              <a:rPr lang="hu-HU" err="1">
                <a:ea typeface="Calibri"/>
                <a:cs typeface="Calibri"/>
              </a:rPr>
              <a:t>Situation</a:t>
            </a:r>
            <a:r>
              <a:rPr lang="hu-HU">
                <a:ea typeface="Calibri"/>
                <a:cs typeface="Calibri"/>
              </a:rPr>
              <a:t> </a:t>
            </a:r>
            <a:r>
              <a:rPr lang="hu-HU" err="1">
                <a:ea typeface="Calibri"/>
                <a:cs typeface="Calibri"/>
              </a:rPr>
              <a:t>Analysis</a:t>
            </a:r>
            <a:endParaRPr lang="hu-HU"/>
          </a:p>
          <a:p>
            <a:endParaRPr lang="hu-HU"/>
          </a:p>
        </p:txBody>
      </p:sp>
      <p:grpSp>
        <p:nvGrpSpPr>
          <p:cNvPr id="3" name="Csoportba foglalás 2">
            <a:extLst>
              <a:ext uri="{FF2B5EF4-FFF2-40B4-BE49-F238E27FC236}">
                <a16:creationId xmlns:a16="http://schemas.microsoft.com/office/drawing/2014/main" id="{D0055BAD-C462-4855-EBD5-5E05A3569A45}"/>
              </a:ext>
            </a:extLst>
          </p:cNvPr>
          <p:cNvGrpSpPr/>
          <p:nvPr/>
        </p:nvGrpSpPr>
        <p:grpSpPr>
          <a:xfrm>
            <a:off x="79409" y="3962922"/>
            <a:ext cx="3872218" cy="2218964"/>
            <a:chOff x="7062259" y="1089444"/>
            <a:chExt cx="4509412" cy="2706378"/>
          </a:xfrm>
        </p:grpSpPr>
        <p:grpSp>
          <p:nvGrpSpPr>
            <p:cNvPr id="18" name="Group 14">
              <a:extLst>
                <a:ext uri="{FF2B5EF4-FFF2-40B4-BE49-F238E27FC236}">
                  <a16:creationId xmlns:a16="http://schemas.microsoft.com/office/drawing/2014/main" id="{0F8699F8-7920-6797-7D68-C76BE7CA6565}"/>
                </a:ext>
              </a:extLst>
            </p:cNvPr>
            <p:cNvGrpSpPr/>
            <p:nvPr/>
          </p:nvGrpSpPr>
          <p:grpSpPr>
            <a:xfrm>
              <a:off x="7062259" y="1089444"/>
              <a:ext cx="4509412" cy="1848583"/>
              <a:chOff x="467763" y="973927"/>
              <a:chExt cx="4687542" cy="1953965"/>
            </a:xfrm>
          </p:grpSpPr>
          <p:sp>
            <p:nvSpPr>
              <p:cNvPr id="22" name="Rectangle 15">
                <a:extLst>
                  <a:ext uri="{FF2B5EF4-FFF2-40B4-BE49-F238E27FC236}">
                    <a16:creationId xmlns:a16="http://schemas.microsoft.com/office/drawing/2014/main" id="{15E5D8B5-F7E6-82BD-5975-169BBD88B807}"/>
                  </a:ext>
                </a:extLst>
              </p:cNvPr>
              <p:cNvSpPr/>
              <p:nvPr/>
            </p:nvSpPr>
            <p:spPr>
              <a:xfrm>
                <a:off x="467763" y="973927"/>
                <a:ext cx="4687542"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Climate Change</a:t>
                </a:r>
                <a:endParaRPr lang="en-US" noProof="0">
                  <a:ea typeface="Calibri"/>
                  <a:cs typeface="Calibri"/>
                </a:endParaRPr>
              </a:p>
            </p:txBody>
          </p:sp>
          <p:sp>
            <p:nvSpPr>
              <p:cNvPr id="27" name="Rectangle 16">
                <a:extLst>
                  <a:ext uri="{FF2B5EF4-FFF2-40B4-BE49-F238E27FC236}">
                    <a16:creationId xmlns:a16="http://schemas.microsoft.com/office/drawing/2014/main" id="{CC0EDE37-25B9-0CCF-0444-1FA0E9C690EC}"/>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0">
                  <a:solidFill>
                    <a:schemeClr val="tx1"/>
                  </a:solidFill>
                  <a:ea typeface="Calibri"/>
                  <a:cs typeface="Calibri"/>
                </a:endParaRPr>
              </a:p>
            </p:txBody>
          </p:sp>
        </p:grpSp>
        <p:sp>
          <p:nvSpPr>
            <p:cNvPr id="20" name="TextBox 23">
              <a:extLst>
                <a:ext uri="{FF2B5EF4-FFF2-40B4-BE49-F238E27FC236}">
                  <a16:creationId xmlns:a16="http://schemas.microsoft.com/office/drawing/2014/main" id="{412717EE-6764-01B7-362C-38D116451D75}"/>
                </a:ext>
              </a:extLst>
            </p:cNvPr>
            <p:cNvSpPr txBox="1"/>
            <p:nvPr/>
          </p:nvSpPr>
          <p:spPr>
            <a:xfrm>
              <a:off x="7063188" y="1612648"/>
              <a:ext cx="4477514" cy="2183174"/>
            </a:xfrm>
            <a:prstGeom prst="rect">
              <a:avLst/>
            </a:prstGeom>
            <a:noFill/>
          </p:spPr>
          <p:txBody>
            <a:bodyPr wrap="square" lIns="91440" tIns="45720" rIns="91440" bIns="45720" rtlCol="0" anchor="t">
              <a:spAutoFit/>
            </a:bodyPr>
            <a:lstStyle/>
            <a:p>
              <a:r>
                <a:rPr lang="en-GB"/>
                <a:t>Increase in Extreme weather conditions</a:t>
              </a:r>
            </a:p>
            <a:p>
              <a:r>
                <a:rPr lang="en-GB">
                  <a:solidFill>
                    <a:srgbClr val="000000"/>
                  </a:solidFill>
                  <a:latin typeface="Aptos"/>
                </a:rPr>
                <a:t>Difficulties in calculations</a:t>
              </a:r>
              <a:endParaRPr lang="en-GB">
                <a:solidFill>
                  <a:srgbClr val="000000"/>
                </a:solidFill>
                <a:latin typeface="Aptos" panose="020B0004020202020204" pitchFamily="34" charset="0"/>
              </a:endParaRPr>
            </a:p>
            <a:p>
              <a:endParaRPr lang="en-GB">
                <a:solidFill>
                  <a:srgbClr val="000000"/>
                </a:solidFill>
                <a:latin typeface="Aptos" panose="020B0004020202020204" pitchFamily="34" charset="0"/>
              </a:endParaRPr>
            </a:p>
            <a:p>
              <a:endParaRPr lang="en-GB">
                <a:solidFill>
                  <a:srgbClr val="000000"/>
                </a:solidFill>
                <a:latin typeface="Aptos" panose="020B0004020202020204" pitchFamily="34" charset="0"/>
              </a:endParaRPr>
            </a:p>
            <a:p>
              <a:endParaRPr lang="en-GB" sz="2000">
                <a:solidFill>
                  <a:srgbClr val="000000"/>
                </a:solidFill>
                <a:latin typeface="Aptos" panose="020B0004020202020204" pitchFamily="34" charset="0"/>
              </a:endParaRPr>
            </a:p>
          </p:txBody>
        </p:sp>
      </p:grpSp>
      <p:grpSp>
        <p:nvGrpSpPr>
          <p:cNvPr id="5" name="Csoportba foglalás 4">
            <a:extLst>
              <a:ext uri="{FF2B5EF4-FFF2-40B4-BE49-F238E27FC236}">
                <a16:creationId xmlns:a16="http://schemas.microsoft.com/office/drawing/2014/main" id="{84BC0086-B74D-D8C3-C57D-577A46D4EBB9}"/>
              </a:ext>
            </a:extLst>
          </p:cNvPr>
          <p:cNvGrpSpPr/>
          <p:nvPr/>
        </p:nvGrpSpPr>
        <p:grpSpPr>
          <a:xfrm>
            <a:off x="4158063" y="949113"/>
            <a:ext cx="4079818" cy="1674735"/>
            <a:chOff x="7062259" y="1089444"/>
            <a:chExt cx="4738495" cy="2042605"/>
          </a:xfrm>
        </p:grpSpPr>
        <p:grpSp>
          <p:nvGrpSpPr>
            <p:cNvPr id="19" name="Group 14">
              <a:extLst>
                <a:ext uri="{FF2B5EF4-FFF2-40B4-BE49-F238E27FC236}">
                  <a16:creationId xmlns:a16="http://schemas.microsoft.com/office/drawing/2014/main" id="{2EE1EE5C-45CE-7C40-ADC3-80AEBD52F376}"/>
                </a:ext>
              </a:extLst>
            </p:cNvPr>
            <p:cNvGrpSpPr/>
            <p:nvPr/>
          </p:nvGrpSpPr>
          <p:grpSpPr>
            <a:xfrm>
              <a:off x="7062259" y="1089444"/>
              <a:ext cx="4509412" cy="1848583"/>
              <a:chOff x="467763" y="973927"/>
              <a:chExt cx="4687542" cy="1953965"/>
            </a:xfrm>
          </p:grpSpPr>
          <p:sp>
            <p:nvSpPr>
              <p:cNvPr id="23" name="Rectangle 15">
                <a:extLst>
                  <a:ext uri="{FF2B5EF4-FFF2-40B4-BE49-F238E27FC236}">
                    <a16:creationId xmlns:a16="http://schemas.microsoft.com/office/drawing/2014/main" id="{A0B038EC-BDF9-C384-CC5F-B8E3089AB480}"/>
                  </a:ext>
                </a:extLst>
              </p:cNvPr>
              <p:cNvSpPr/>
              <p:nvPr/>
            </p:nvSpPr>
            <p:spPr>
              <a:xfrm>
                <a:off x="467763" y="973927"/>
                <a:ext cx="4687542"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Financial</a:t>
                </a:r>
                <a:endParaRPr lang="en-US" noProof="0">
                  <a:ea typeface="Calibri"/>
                  <a:cs typeface="Calibri"/>
                </a:endParaRPr>
              </a:p>
            </p:txBody>
          </p:sp>
          <p:sp>
            <p:nvSpPr>
              <p:cNvPr id="33" name="Rectangle 16">
                <a:extLst>
                  <a:ext uri="{FF2B5EF4-FFF2-40B4-BE49-F238E27FC236}">
                    <a16:creationId xmlns:a16="http://schemas.microsoft.com/office/drawing/2014/main" id="{9E30D5DC-F9B5-A6CF-437D-4C6C2C93D7E0}"/>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0">
                  <a:solidFill>
                    <a:schemeClr val="tx1"/>
                  </a:solidFill>
                  <a:ea typeface="Calibri"/>
                  <a:cs typeface="Calibri"/>
                </a:endParaRPr>
              </a:p>
            </p:txBody>
          </p:sp>
        </p:grpSp>
        <p:sp>
          <p:nvSpPr>
            <p:cNvPr id="21" name="TextBox 23">
              <a:extLst>
                <a:ext uri="{FF2B5EF4-FFF2-40B4-BE49-F238E27FC236}">
                  <a16:creationId xmlns:a16="http://schemas.microsoft.com/office/drawing/2014/main" id="{CAECF58F-0C04-1C2D-3AC2-063C3AA83C5B}"/>
                </a:ext>
              </a:extLst>
            </p:cNvPr>
            <p:cNvSpPr txBox="1"/>
            <p:nvPr/>
          </p:nvSpPr>
          <p:spPr>
            <a:xfrm>
              <a:off x="7505700" y="1630520"/>
              <a:ext cx="4295054" cy="1501529"/>
            </a:xfrm>
            <a:prstGeom prst="rect">
              <a:avLst/>
            </a:prstGeom>
            <a:noFill/>
          </p:spPr>
          <p:txBody>
            <a:bodyPr wrap="square" lIns="91440" tIns="45720" rIns="91440" bIns="45720" rtlCol="0" anchor="t">
              <a:spAutoFit/>
            </a:bodyPr>
            <a:lstStyle/>
            <a:p>
              <a:r>
                <a:rPr lang="en-GB">
                  <a:solidFill>
                    <a:srgbClr val="000000"/>
                  </a:solidFill>
                  <a:latin typeface="Aptos"/>
                </a:rPr>
                <a:t>Decrease in 2023 (milk, cereal)</a:t>
              </a:r>
            </a:p>
            <a:p>
              <a:r>
                <a:rPr lang="en-GB">
                  <a:solidFill>
                    <a:srgbClr val="000000"/>
                  </a:solidFill>
                  <a:latin typeface="Aptos"/>
                </a:rPr>
                <a:t>Significant growth in 2024</a:t>
              </a:r>
              <a:endParaRPr lang="en-GB">
                <a:solidFill>
                  <a:srgbClr val="000000"/>
                </a:solidFill>
                <a:latin typeface="Aptos" panose="020B0004020202020204" pitchFamily="34" charset="0"/>
              </a:endParaRPr>
            </a:p>
            <a:p>
              <a:r>
                <a:rPr lang="en-GB">
                  <a:solidFill>
                    <a:srgbClr val="000000"/>
                  </a:solidFill>
                  <a:latin typeface="Aptos"/>
                </a:rPr>
                <a:t>Forecasted to grow </a:t>
              </a:r>
              <a:endParaRPr lang="en-GB">
                <a:solidFill>
                  <a:srgbClr val="000000"/>
                </a:solidFill>
                <a:latin typeface="Aptos" panose="020B0004020202020204" pitchFamily="34" charset="0"/>
              </a:endParaRPr>
            </a:p>
            <a:p>
              <a:endParaRPr lang="en-GB" sz="2000">
                <a:solidFill>
                  <a:srgbClr val="000000"/>
                </a:solidFill>
                <a:latin typeface="Aptos" panose="020B0004020202020204" pitchFamily="34" charset="0"/>
              </a:endParaRPr>
            </a:p>
          </p:txBody>
        </p:sp>
      </p:grpSp>
      <p:grpSp>
        <p:nvGrpSpPr>
          <p:cNvPr id="34" name="Csoportba foglalás 33">
            <a:extLst>
              <a:ext uri="{FF2B5EF4-FFF2-40B4-BE49-F238E27FC236}">
                <a16:creationId xmlns:a16="http://schemas.microsoft.com/office/drawing/2014/main" id="{662CA820-3A68-5D27-31A4-5159A3B8F6FF}"/>
              </a:ext>
            </a:extLst>
          </p:cNvPr>
          <p:cNvGrpSpPr/>
          <p:nvPr/>
        </p:nvGrpSpPr>
        <p:grpSpPr>
          <a:xfrm>
            <a:off x="79409" y="2043268"/>
            <a:ext cx="3882579" cy="1515656"/>
            <a:chOff x="7062259" y="1089444"/>
            <a:chExt cx="4509412" cy="1848583"/>
          </a:xfrm>
        </p:grpSpPr>
        <p:grpSp>
          <p:nvGrpSpPr>
            <p:cNvPr id="35" name="Group 14">
              <a:extLst>
                <a:ext uri="{FF2B5EF4-FFF2-40B4-BE49-F238E27FC236}">
                  <a16:creationId xmlns:a16="http://schemas.microsoft.com/office/drawing/2014/main" id="{B2E2B737-0B7B-DCD2-6A0B-7120A8AE0B32}"/>
                </a:ext>
              </a:extLst>
            </p:cNvPr>
            <p:cNvGrpSpPr/>
            <p:nvPr/>
          </p:nvGrpSpPr>
          <p:grpSpPr>
            <a:xfrm>
              <a:off x="7062259" y="1089444"/>
              <a:ext cx="4509412" cy="1848583"/>
              <a:chOff x="467763" y="973927"/>
              <a:chExt cx="4687542" cy="1953965"/>
            </a:xfrm>
          </p:grpSpPr>
          <p:sp>
            <p:nvSpPr>
              <p:cNvPr id="37" name="Rectangle 15">
                <a:extLst>
                  <a:ext uri="{FF2B5EF4-FFF2-40B4-BE49-F238E27FC236}">
                    <a16:creationId xmlns:a16="http://schemas.microsoft.com/office/drawing/2014/main" id="{21A6E535-B186-9F5F-CD33-CC7893DB9E01}"/>
                  </a:ext>
                </a:extLst>
              </p:cNvPr>
              <p:cNvSpPr/>
              <p:nvPr/>
            </p:nvSpPr>
            <p:spPr>
              <a:xfrm>
                <a:off x="467763" y="973927"/>
                <a:ext cx="4687542" cy="480286"/>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Labour shortage</a:t>
                </a:r>
                <a:endParaRPr lang="en-US" noProof="0">
                  <a:ea typeface="Calibri"/>
                  <a:cs typeface="Calibri"/>
                </a:endParaRPr>
              </a:p>
            </p:txBody>
          </p:sp>
          <p:sp>
            <p:nvSpPr>
              <p:cNvPr id="38" name="Rectangle 16">
                <a:extLst>
                  <a:ext uri="{FF2B5EF4-FFF2-40B4-BE49-F238E27FC236}">
                    <a16:creationId xmlns:a16="http://schemas.microsoft.com/office/drawing/2014/main" id="{BFB39EEC-BD3F-C19D-AC31-A8185C41D8F5}"/>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0">
                  <a:solidFill>
                    <a:schemeClr val="tx1"/>
                  </a:solidFill>
                  <a:ea typeface="Calibri"/>
                  <a:cs typeface="Calibri"/>
                </a:endParaRPr>
              </a:p>
            </p:txBody>
          </p:sp>
        </p:grpSp>
        <p:sp>
          <p:nvSpPr>
            <p:cNvPr id="36" name="TextBox 23">
              <a:extLst>
                <a:ext uri="{FF2B5EF4-FFF2-40B4-BE49-F238E27FC236}">
                  <a16:creationId xmlns:a16="http://schemas.microsoft.com/office/drawing/2014/main" id="{1B8C357D-078E-331F-C066-79A694F35CC4}"/>
                </a:ext>
              </a:extLst>
            </p:cNvPr>
            <p:cNvSpPr txBox="1"/>
            <p:nvPr/>
          </p:nvSpPr>
          <p:spPr>
            <a:xfrm>
              <a:off x="7162103" y="1630520"/>
              <a:ext cx="4295054" cy="1238762"/>
            </a:xfrm>
            <a:prstGeom prst="rect">
              <a:avLst/>
            </a:prstGeom>
            <a:noFill/>
          </p:spPr>
          <p:txBody>
            <a:bodyPr wrap="square" lIns="91440" tIns="45720" rIns="91440" bIns="45720" rtlCol="0" anchor="t">
              <a:spAutoFit/>
            </a:bodyPr>
            <a:lstStyle/>
            <a:p>
              <a:r>
                <a:rPr lang="en-GB" sz="2000">
                  <a:solidFill>
                    <a:srgbClr val="000000"/>
                  </a:solidFill>
                  <a:latin typeface="Aptos"/>
                </a:rPr>
                <a:t>Lack of workers in the sector</a:t>
              </a:r>
              <a:endParaRPr lang="en-GB" sz="2000">
                <a:solidFill>
                  <a:srgbClr val="000000"/>
                </a:solidFill>
                <a:latin typeface="Aptos" panose="020B0004020202020204" pitchFamily="34" charset="0"/>
              </a:endParaRPr>
            </a:p>
            <a:p>
              <a:r>
                <a:rPr lang="en-GB" sz="2000">
                  <a:solidFill>
                    <a:srgbClr val="000000"/>
                  </a:solidFill>
                  <a:latin typeface="Aptos"/>
                </a:rPr>
                <a:t>Growth of need of labour</a:t>
              </a:r>
              <a:endParaRPr lang="en-GB" sz="2000">
                <a:solidFill>
                  <a:srgbClr val="000000"/>
                </a:solidFill>
                <a:latin typeface="Aptos" panose="020B0004020202020204" pitchFamily="34" charset="0"/>
              </a:endParaRPr>
            </a:p>
            <a:p>
              <a:endParaRPr lang="en-GB" sz="2000">
                <a:solidFill>
                  <a:srgbClr val="000000"/>
                </a:solidFill>
                <a:latin typeface="Aptos" panose="020B0004020202020204" pitchFamily="34" charset="0"/>
              </a:endParaRPr>
            </a:p>
          </p:txBody>
        </p:sp>
      </p:grpSp>
      <p:grpSp>
        <p:nvGrpSpPr>
          <p:cNvPr id="39" name="Csoportba foglalás 38">
            <a:extLst>
              <a:ext uri="{FF2B5EF4-FFF2-40B4-BE49-F238E27FC236}">
                <a16:creationId xmlns:a16="http://schemas.microsoft.com/office/drawing/2014/main" id="{D72EA360-A6E3-08A5-C4FA-EF49954AFE94}"/>
              </a:ext>
            </a:extLst>
          </p:cNvPr>
          <p:cNvGrpSpPr/>
          <p:nvPr/>
        </p:nvGrpSpPr>
        <p:grpSpPr>
          <a:xfrm>
            <a:off x="4153178" y="5184075"/>
            <a:ext cx="4079818" cy="1674735"/>
            <a:chOff x="7062259" y="1089444"/>
            <a:chExt cx="4738495" cy="2042603"/>
          </a:xfrm>
        </p:grpSpPr>
        <p:grpSp>
          <p:nvGrpSpPr>
            <p:cNvPr id="40" name="Group 14">
              <a:extLst>
                <a:ext uri="{FF2B5EF4-FFF2-40B4-BE49-F238E27FC236}">
                  <a16:creationId xmlns:a16="http://schemas.microsoft.com/office/drawing/2014/main" id="{EE5F9759-8C47-8F5A-D159-89399590B16A}"/>
                </a:ext>
              </a:extLst>
            </p:cNvPr>
            <p:cNvGrpSpPr/>
            <p:nvPr/>
          </p:nvGrpSpPr>
          <p:grpSpPr>
            <a:xfrm>
              <a:off x="7062259" y="1089444"/>
              <a:ext cx="4509411" cy="1848583"/>
              <a:chOff x="467763" y="973927"/>
              <a:chExt cx="4687541" cy="1953965"/>
            </a:xfrm>
          </p:grpSpPr>
          <p:sp>
            <p:nvSpPr>
              <p:cNvPr id="42" name="Rectangle 15">
                <a:extLst>
                  <a:ext uri="{FF2B5EF4-FFF2-40B4-BE49-F238E27FC236}">
                    <a16:creationId xmlns:a16="http://schemas.microsoft.com/office/drawing/2014/main" id="{71E3164B-14E6-94AB-8B1F-0CC8E3E51877}"/>
                  </a:ext>
                </a:extLst>
              </p:cNvPr>
              <p:cNvSpPr/>
              <p:nvPr/>
            </p:nvSpPr>
            <p:spPr>
              <a:xfrm>
                <a:off x="467763" y="973927"/>
                <a:ext cx="4687541"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Agricultural</a:t>
                </a:r>
                <a:endParaRPr lang="hu-HU"/>
              </a:p>
            </p:txBody>
          </p:sp>
          <p:sp>
            <p:nvSpPr>
              <p:cNvPr id="43" name="Rectangle 16">
                <a:extLst>
                  <a:ext uri="{FF2B5EF4-FFF2-40B4-BE49-F238E27FC236}">
                    <a16:creationId xmlns:a16="http://schemas.microsoft.com/office/drawing/2014/main" id="{B21E9D56-7D1B-5B1E-6808-E03324DF4531}"/>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0">
                  <a:solidFill>
                    <a:schemeClr val="tx1"/>
                  </a:solidFill>
                  <a:ea typeface="Calibri"/>
                  <a:cs typeface="Calibri"/>
                </a:endParaRPr>
              </a:p>
            </p:txBody>
          </p:sp>
        </p:grpSp>
        <p:sp>
          <p:nvSpPr>
            <p:cNvPr id="41" name="TextBox 23">
              <a:extLst>
                <a:ext uri="{FF2B5EF4-FFF2-40B4-BE49-F238E27FC236}">
                  <a16:creationId xmlns:a16="http://schemas.microsoft.com/office/drawing/2014/main" id="{70FB23BD-35F8-1072-1FF6-920E50B1B724}"/>
                </a:ext>
              </a:extLst>
            </p:cNvPr>
            <p:cNvSpPr txBox="1"/>
            <p:nvPr/>
          </p:nvSpPr>
          <p:spPr>
            <a:xfrm>
              <a:off x="7193673" y="1630519"/>
              <a:ext cx="4607081" cy="1501528"/>
            </a:xfrm>
            <a:prstGeom prst="rect">
              <a:avLst/>
            </a:prstGeom>
            <a:noFill/>
          </p:spPr>
          <p:txBody>
            <a:bodyPr wrap="square" lIns="91440" tIns="45720" rIns="91440" bIns="45720" rtlCol="0" anchor="t">
              <a:spAutoFit/>
            </a:bodyPr>
            <a:lstStyle/>
            <a:p>
              <a:pPr algn="ctr"/>
              <a:r>
                <a:rPr lang="en-US">
                  <a:solidFill>
                    <a:srgbClr val="000000"/>
                  </a:solidFill>
                  <a:latin typeface="Aptos"/>
                </a:rPr>
                <a:t>Ireland's </a:t>
              </a:r>
              <a:r>
                <a:rPr lang="en-US" err="1">
                  <a:solidFill>
                    <a:srgbClr val="000000"/>
                  </a:solidFill>
                  <a:latin typeface="Aptos"/>
                </a:rPr>
                <a:t>strenght</a:t>
              </a:r>
              <a:endParaRPr lang="en-US">
                <a:solidFill>
                  <a:srgbClr val="000000"/>
                </a:solidFill>
                <a:latin typeface="Aptos"/>
              </a:endParaRPr>
            </a:p>
            <a:p>
              <a:pPr algn="ctr"/>
              <a:r>
                <a:rPr lang="en-US">
                  <a:solidFill>
                    <a:srgbClr val="000000"/>
                  </a:solidFill>
                  <a:latin typeface="Aptos"/>
                </a:rPr>
                <a:t>17% of all businesses</a:t>
              </a:r>
              <a:endParaRPr lang="en-US">
                <a:solidFill>
                  <a:srgbClr val="000000"/>
                </a:solidFill>
                <a:latin typeface="Aptos" panose="020B0004020202020204" pitchFamily="34" charset="0"/>
              </a:endParaRPr>
            </a:p>
            <a:p>
              <a:pPr algn="ctr"/>
              <a:r>
                <a:rPr lang="en-US">
                  <a:solidFill>
                    <a:srgbClr val="000000"/>
                  </a:solidFill>
                  <a:latin typeface="Aptos"/>
                </a:rPr>
                <a:t>Needs efficient </a:t>
              </a:r>
              <a:r>
                <a:rPr lang="en-US" err="1">
                  <a:solidFill>
                    <a:srgbClr val="000000"/>
                  </a:solidFill>
                  <a:latin typeface="Aptos"/>
                </a:rPr>
                <a:t>olutions</a:t>
              </a:r>
              <a:endParaRPr lang="en-GB" err="1"/>
            </a:p>
            <a:p>
              <a:endParaRPr lang="en-GB" sz="2000">
                <a:solidFill>
                  <a:srgbClr val="000000"/>
                </a:solidFill>
                <a:latin typeface="Aptos" panose="020B0004020202020204" pitchFamily="34" charset="0"/>
              </a:endParaRPr>
            </a:p>
          </p:txBody>
        </p:sp>
      </p:grpSp>
      <p:grpSp>
        <p:nvGrpSpPr>
          <p:cNvPr id="44" name="Csoportba foglalás 43">
            <a:extLst>
              <a:ext uri="{FF2B5EF4-FFF2-40B4-BE49-F238E27FC236}">
                <a16:creationId xmlns:a16="http://schemas.microsoft.com/office/drawing/2014/main" id="{39435BDE-06B1-AE53-F691-9AE4B99538F8}"/>
              </a:ext>
            </a:extLst>
          </p:cNvPr>
          <p:cNvGrpSpPr/>
          <p:nvPr/>
        </p:nvGrpSpPr>
        <p:grpSpPr>
          <a:xfrm>
            <a:off x="8236717" y="3962921"/>
            <a:ext cx="4079818" cy="1674735"/>
            <a:chOff x="7062259" y="1089444"/>
            <a:chExt cx="4738495" cy="2042605"/>
          </a:xfrm>
        </p:grpSpPr>
        <p:grpSp>
          <p:nvGrpSpPr>
            <p:cNvPr id="45" name="Group 14">
              <a:extLst>
                <a:ext uri="{FF2B5EF4-FFF2-40B4-BE49-F238E27FC236}">
                  <a16:creationId xmlns:a16="http://schemas.microsoft.com/office/drawing/2014/main" id="{4A94B83C-C3FB-2C97-647E-035B7CDD2210}"/>
                </a:ext>
              </a:extLst>
            </p:cNvPr>
            <p:cNvGrpSpPr/>
            <p:nvPr/>
          </p:nvGrpSpPr>
          <p:grpSpPr>
            <a:xfrm>
              <a:off x="7062259" y="1089444"/>
              <a:ext cx="4509412" cy="1848583"/>
              <a:chOff x="467763" y="973927"/>
              <a:chExt cx="4687542" cy="1953965"/>
            </a:xfrm>
          </p:grpSpPr>
          <p:sp>
            <p:nvSpPr>
              <p:cNvPr id="47" name="Rectangle 15">
                <a:extLst>
                  <a:ext uri="{FF2B5EF4-FFF2-40B4-BE49-F238E27FC236}">
                    <a16:creationId xmlns:a16="http://schemas.microsoft.com/office/drawing/2014/main" id="{54CAA82A-EF40-0A7A-8778-83F4A27DF70A}"/>
                  </a:ext>
                </a:extLst>
              </p:cNvPr>
              <p:cNvSpPr/>
              <p:nvPr/>
            </p:nvSpPr>
            <p:spPr>
              <a:xfrm>
                <a:off x="467763" y="973927"/>
                <a:ext cx="4687542"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Farmer population</a:t>
                </a:r>
                <a:endParaRPr lang="hu-HU"/>
              </a:p>
            </p:txBody>
          </p:sp>
          <p:sp>
            <p:nvSpPr>
              <p:cNvPr id="48" name="Rectangle 16">
                <a:extLst>
                  <a:ext uri="{FF2B5EF4-FFF2-40B4-BE49-F238E27FC236}">
                    <a16:creationId xmlns:a16="http://schemas.microsoft.com/office/drawing/2014/main" id="{54613645-E3A0-4280-C6C7-0CBAA5E2F12F}"/>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0">
                  <a:solidFill>
                    <a:schemeClr val="tx1"/>
                  </a:solidFill>
                  <a:ea typeface="Calibri"/>
                  <a:cs typeface="Calibri"/>
                </a:endParaRPr>
              </a:p>
            </p:txBody>
          </p:sp>
        </p:grpSp>
        <p:sp>
          <p:nvSpPr>
            <p:cNvPr id="46" name="TextBox 23">
              <a:extLst>
                <a:ext uri="{FF2B5EF4-FFF2-40B4-BE49-F238E27FC236}">
                  <a16:creationId xmlns:a16="http://schemas.microsoft.com/office/drawing/2014/main" id="{C798C157-5376-454F-DD1F-937D40A64C92}"/>
                </a:ext>
              </a:extLst>
            </p:cNvPr>
            <p:cNvSpPr txBox="1"/>
            <p:nvPr/>
          </p:nvSpPr>
          <p:spPr>
            <a:xfrm>
              <a:off x="7063188" y="1630520"/>
              <a:ext cx="4737566" cy="1501529"/>
            </a:xfrm>
            <a:prstGeom prst="rect">
              <a:avLst/>
            </a:prstGeom>
            <a:noFill/>
          </p:spPr>
          <p:txBody>
            <a:bodyPr wrap="square" lIns="91440" tIns="45720" rIns="91440" bIns="45720" rtlCol="0" anchor="t">
              <a:spAutoFit/>
            </a:bodyPr>
            <a:lstStyle/>
            <a:p>
              <a:r>
                <a:rPr lang="en-GB">
                  <a:solidFill>
                    <a:srgbClr val="000000"/>
                  </a:solidFill>
                  <a:latin typeface="Aptos"/>
                </a:rPr>
                <a:t>Aging tendencies</a:t>
              </a:r>
              <a:endParaRPr lang="en-US">
                <a:solidFill>
                  <a:srgbClr val="000000"/>
                </a:solidFill>
                <a:latin typeface="Aptos"/>
              </a:endParaRPr>
            </a:p>
            <a:p>
              <a:r>
                <a:rPr lang="en-GB">
                  <a:solidFill>
                    <a:srgbClr val="000000"/>
                  </a:solidFill>
                  <a:latin typeface="Aptos"/>
                </a:rPr>
                <a:t>Hard to bring in the next generation</a:t>
              </a:r>
              <a:endParaRPr lang="en-US">
                <a:solidFill>
                  <a:srgbClr val="000000"/>
                </a:solidFill>
                <a:latin typeface="Aptos" panose="020B0004020202020204" pitchFamily="34" charset="0"/>
              </a:endParaRPr>
            </a:p>
            <a:p>
              <a:r>
                <a:rPr lang="en-GB">
                  <a:solidFill>
                    <a:srgbClr val="000000"/>
                  </a:solidFill>
                  <a:latin typeface="Aptos"/>
                </a:rPr>
                <a:t>Needs innovation to attract the youth</a:t>
              </a:r>
              <a:endParaRPr lang="en-GB"/>
            </a:p>
            <a:p>
              <a:endParaRPr lang="en-GB" sz="2000">
                <a:solidFill>
                  <a:srgbClr val="000000"/>
                </a:solidFill>
                <a:latin typeface="Aptos" panose="020B0004020202020204" pitchFamily="34" charset="0"/>
              </a:endParaRPr>
            </a:p>
          </p:txBody>
        </p:sp>
      </p:grpSp>
      <p:grpSp>
        <p:nvGrpSpPr>
          <p:cNvPr id="49" name="Csoportba foglalás 48">
            <a:extLst>
              <a:ext uri="{FF2B5EF4-FFF2-40B4-BE49-F238E27FC236}">
                <a16:creationId xmlns:a16="http://schemas.microsoft.com/office/drawing/2014/main" id="{3FAB9DB4-E8E6-4310-2305-DDB42BEF8DB4}"/>
              </a:ext>
            </a:extLst>
          </p:cNvPr>
          <p:cNvGrpSpPr/>
          <p:nvPr/>
        </p:nvGrpSpPr>
        <p:grpSpPr>
          <a:xfrm>
            <a:off x="8236717" y="2043268"/>
            <a:ext cx="4079818" cy="1823740"/>
            <a:chOff x="7062259" y="1089444"/>
            <a:chExt cx="4738495" cy="2224340"/>
          </a:xfrm>
        </p:grpSpPr>
        <p:grpSp>
          <p:nvGrpSpPr>
            <p:cNvPr id="50" name="Group 14">
              <a:extLst>
                <a:ext uri="{FF2B5EF4-FFF2-40B4-BE49-F238E27FC236}">
                  <a16:creationId xmlns:a16="http://schemas.microsoft.com/office/drawing/2014/main" id="{35DF004F-7594-6F20-A538-F94A53DBD850}"/>
                </a:ext>
              </a:extLst>
            </p:cNvPr>
            <p:cNvGrpSpPr/>
            <p:nvPr/>
          </p:nvGrpSpPr>
          <p:grpSpPr>
            <a:xfrm>
              <a:off x="7062259" y="1089444"/>
              <a:ext cx="4509412" cy="1848583"/>
              <a:chOff x="467763" y="973927"/>
              <a:chExt cx="4687542" cy="1953965"/>
            </a:xfrm>
          </p:grpSpPr>
          <p:sp>
            <p:nvSpPr>
              <p:cNvPr id="52" name="Rectangle 15">
                <a:extLst>
                  <a:ext uri="{FF2B5EF4-FFF2-40B4-BE49-F238E27FC236}">
                    <a16:creationId xmlns:a16="http://schemas.microsoft.com/office/drawing/2014/main" id="{26ED7794-E329-A14D-6503-EC1DC564F96F}"/>
                  </a:ext>
                </a:extLst>
              </p:cNvPr>
              <p:cNvSpPr/>
              <p:nvPr/>
            </p:nvSpPr>
            <p:spPr>
              <a:xfrm>
                <a:off x="467763" y="973927"/>
                <a:ext cx="4687542"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CSRD regulations</a:t>
                </a:r>
                <a:endParaRPr lang="hu-HU"/>
              </a:p>
            </p:txBody>
          </p:sp>
          <p:sp>
            <p:nvSpPr>
              <p:cNvPr id="53" name="Rectangle 16">
                <a:extLst>
                  <a:ext uri="{FF2B5EF4-FFF2-40B4-BE49-F238E27FC236}">
                    <a16:creationId xmlns:a16="http://schemas.microsoft.com/office/drawing/2014/main" id="{FC4E0780-852C-97FC-70AC-60F595D88225}"/>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0">
                  <a:solidFill>
                    <a:schemeClr val="tx1"/>
                  </a:solidFill>
                  <a:ea typeface="Calibri"/>
                  <a:cs typeface="Calibri"/>
                </a:endParaRPr>
              </a:p>
            </p:txBody>
          </p:sp>
        </p:grpSp>
        <p:sp>
          <p:nvSpPr>
            <p:cNvPr id="51" name="TextBox 23">
              <a:extLst>
                <a:ext uri="{FF2B5EF4-FFF2-40B4-BE49-F238E27FC236}">
                  <a16:creationId xmlns:a16="http://schemas.microsoft.com/office/drawing/2014/main" id="{D75C55B3-AAA0-00C8-6AA5-3271437C2027}"/>
                </a:ext>
              </a:extLst>
            </p:cNvPr>
            <p:cNvSpPr txBox="1"/>
            <p:nvPr/>
          </p:nvSpPr>
          <p:spPr>
            <a:xfrm>
              <a:off x="7585124" y="1624563"/>
              <a:ext cx="4215630" cy="1689221"/>
            </a:xfrm>
            <a:prstGeom prst="rect">
              <a:avLst/>
            </a:prstGeom>
            <a:noFill/>
          </p:spPr>
          <p:txBody>
            <a:bodyPr wrap="square" lIns="91440" tIns="45720" rIns="91440" bIns="45720" rtlCol="0" anchor="t">
              <a:spAutoFit/>
            </a:bodyPr>
            <a:lstStyle/>
            <a:p>
              <a:r>
                <a:rPr lang="en-GB" sz="1600">
                  <a:solidFill>
                    <a:srgbClr val="000000"/>
                  </a:solidFill>
                  <a:latin typeface="Aptos"/>
                </a:rPr>
                <a:t>2030, 2050 agreements</a:t>
              </a:r>
              <a:endParaRPr lang="en-US" sz="1600">
                <a:solidFill>
                  <a:srgbClr val="000000"/>
                </a:solidFill>
                <a:latin typeface="Aptos"/>
              </a:endParaRPr>
            </a:p>
            <a:p>
              <a:r>
                <a:rPr lang="en-GB" sz="1600">
                  <a:solidFill>
                    <a:srgbClr val="000000"/>
                  </a:solidFill>
                  <a:latin typeface="Aptos"/>
                </a:rPr>
                <a:t>Have to reduce GHG emissions</a:t>
              </a:r>
              <a:endParaRPr lang="en-US" sz="1600">
                <a:solidFill>
                  <a:srgbClr val="000000"/>
                </a:solidFill>
                <a:latin typeface="Aptos" panose="020B0004020202020204" pitchFamily="34" charset="0"/>
              </a:endParaRPr>
            </a:p>
            <a:p>
              <a:r>
                <a:rPr lang="en-GB" sz="1600">
                  <a:solidFill>
                    <a:srgbClr val="000000"/>
                  </a:solidFill>
                  <a:latin typeface="Aptos"/>
                </a:rPr>
                <a:t>Need to have efficient watering and fertilizer systems</a:t>
              </a:r>
              <a:endParaRPr lang="en-GB" sz="1600"/>
            </a:p>
            <a:p>
              <a:endParaRPr lang="en-GB" sz="2000">
                <a:solidFill>
                  <a:srgbClr val="000000"/>
                </a:solidFill>
                <a:latin typeface="Aptos" panose="020B0004020202020204" pitchFamily="34" charset="0"/>
              </a:endParaRPr>
            </a:p>
          </p:txBody>
        </p:sp>
      </p:grpSp>
      <p:sp>
        <p:nvSpPr>
          <p:cNvPr id="54" name="Ellipszis 53">
            <a:extLst>
              <a:ext uri="{FF2B5EF4-FFF2-40B4-BE49-F238E27FC236}">
                <a16:creationId xmlns:a16="http://schemas.microsoft.com/office/drawing/2014/main" id="{078BA572-65F9-9F3F-FB49-D3C3515B86B4}"/>
              </a:ext>
            </a:extLst>
          </p:cNvPr>
          <p:cNvSpPr/>
          <p:nvPr/>
        </p:nvSpPr>
        <p:spPr>
          <a:xfrm>
            <a:off x="4327770" y="2803769"/>
            <a:ext cx="3546229" cy="1992923"/>
          </a:xfrm>
          <a:prstGeom prst="ellipse">
            <a:avLst/>
          </a:prstGeom>
          <a:solidFill>
            <a:schemeClr val="bg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55" name="Kép 54" descr="Accounting">
            <a:extLst>
              <a:ext uri="{FF2B5EF4-FFF2-40B4-BE49-F238E27FC236}">
                <a16:creationId xmlns:a16="http://schemas.microsoft.com/office/drawing/2014/main" id="{B821A401-81C4-CC92-E5B6-1C55985FCE38}"/>
              </a:ext>
            </a:extLst>
          </p:cNvPr>
          <p:cNvPicPr>
            <a:picLocks noChangeAspect="1"/>
          </p:cNvPicPr>
          <p:nvPr/>
        </p:nvPicPr>
        <p:blipFill>
          <a:blip r:embed="rId3"/>
          <a:stretch>
            <a:fillRect/>
          </a:stretch>
        </p:blipFill>
        <p:spPr>
          <a:xfrm>
            <a:off x="5708162" y="2503854"/>
            <a:ext cx="609600" cy="609600"/>
          </a:xfrm>
          <a:prstGeom prst="rect">
            <a:avLst/>
          </a:prstGeom>
        </p:spPr>
      </p:pic>
      <p:pic>
        <p:nvPicPr>
          <p:cNvPr id="56" name="Kép 55" descr="Regulation">
            <a:extLst>
              <a:ext uri="{FF2B5EF4-FFF2-40B4-BE49-F238E27FC236}">
                <a16:creationId xmlns:a16="http://schemas.microsoft.com/office/drawing/2014/main" id="{30CB5341-5A1D-0AAD-7E47-520A8ECDF5FF}"/>
              </a:ext>
            </a:extLst>
          </p:cNvPr>
          <p:cNvPicPr>
            <a:picLocks noChangeAspect="1"/>
          </p:cNvPicPr>
          <p:nvPr/>
        </p:nvPicPr>
        <p:blipFill>
          <a:blip r:embed="rId4"/>
          <a:stretch>
            <a:fillRect/>
          </a:stretch>
        </p:blipFill>
        <p:spPr>
          <a:xfrm>
            <a:off x="7266354" y="2889739"/>
            <a:ext cx="609600" cy="609600"/>
          </a:xfrm>
          <a:prstGeom prst="rect">
            <a:avLst/>
          </a:prstGeom>
        </p:spPr>
      </p:pic>
      <p:pic>
        <p:nvPicPr>
          <p:cNvPr id="57" name="Kép 56" descr="Farmer">
            <a:extLst>
              <a:ext uri="{FF2B5EF4-FFF2-40B4-BE49-F238E27FC236}">
                <a16:creationId xmlns:a16="http://schemas.microsoft.com/office/drawing/2014/main" id="{DD723EE3-154E-3936-A597-8634AC1CE5BA}"/>
              </a:ext>
            </a:extLst>
          </p:cNvPr>
          <p:cNvPicPr>
            <a:picLocks noChangeAspect="1"/>
          </p:cNvPicPr>
          <p:nvPr/>
        </p:nvPicPr>
        <p:blipFill>
          <a:blip r:embed="rId5"/>
          <a:stretch>
            <a:fillRect/>
          </a:stretch>
        </p:blipFill>
        <p:spPr>
          <a:xfrm>
            <a:off x="7232162" y="4062047"/>
            <a:ext cx="673100" cy="663330"/>
          </a:xfrm>
          <a:prstGeom prst="rect">
            <a:avLst/>
          </a:prstGeom>
        </p:spPr>
      </p:pic>
      <p:pic>
        <p:nvPicPr>
          <p:cNvPr id="58" name="Kép 57" descr="Agriculture">
            <a:extLst>
              <a:ext uri="{FF2B5EF4-FFF2-40B4-BE49-F238E27FC236}">
                <a16:creationId xmlns:a16="http://schemas.microsoft.com/office/drawing/2014/main" id="{A9A63AC1-59EB-0C2F-3966-01AE7263EC16}"/>
              </a:ext>
            </a:extLst>
          </p:cNvPr>
          <p:cNvPicPr>
            <a:picLocks noChangeAspect="1"/>
          </p:cNvPicPr>
          <p:nvPr/>
        </p:nvPicPr>
        <p:blipFill>
          <a:blip r:embed="rId6"/>
          <a:stretch>
            <a:fillRect/>
          </a:stretch>
        </p:blipFill>
        <p:spPr>
          <a:xfrm>
            <a:off x="5708162" y="4423508"/>
            <a:ext cx="609600" cy="609600"/>
          </a:xfrm>
          <a:prstGeom prst="rect">
            <a:avLst/>
          </a:prstGeom>
        </p:spPr>
      </p:pic>
      <p:pic>
        <p:nvPicPr>
          <p:cNvPr id="59" name="Kép 58" descr="Labourer">
            <a:extLst>
              <a:ext uri="{FF2B5EF4-FFF2-40B4-BE49-F238E27FC236}">
                <a16:creationId xmlns:a16="http://schemas.microsoft.com/office/drawing/2014/main" id="{1CEF24ED-E228-C09D-F06D-195041585182}"/>
              </a:ext>
            </a:extLst>
          </p:cNvPr>
          <p:cNvPicPr>
            <a:picLocks noChangeAspect="1"/>
          </p:cNvPicPr>
          <p:nvPr/>
        </p:nvPicPr>
        <p:blipFill>
          <a:blip r:embed="rId7"/>
          <a:stretch>
            <a:fillRect/>
          </a:stretch>
        </p:blipFill>
        <p:spPr>
          <a:xfrm>
            <a:off x="4257431" y="2889738"/>
            <a:ext cx="746369" cy="697523"/>
          </a:xfrm>
          <a:prstGeom prst="rect">
            <a:avLst/>
          </a:prstGeom>
        </p:spPr>
      </p:pic>
      <p:pic>
        <p:nvPicPr>
          <p:cNvPr id="60" name="Kép 59" descr="Global warming">
            <a:extLst>
              <a:ext uri="{FF2B5EF4-FFF2-40B4-BE49-F238E27FC236}">
                <a16:creationId xmlns:a16="http://schemas.microsoft.com/office/drawing/2014/main" id="{70D638D9-D279-D9C7-A1D7-FE632926695E}"/>
              </a:ext>
            </a:extLst>
          </p:cNvPr>
          <p:cNvPicPr>
            <a:picLocks noChangeAspect="1"/>
          </p:cNvPicPr>
          <p:nvPr/>
        </p:nvPicPr>
        <p:blipFill>
          <a:blip r:embed="rId8"/>
          <a:stretch>
            <a:fillRect/>
          </a:stretch>
        </p:blipFill>
        <p:spPr>
          <a:xfrm>
            <a:off x="4325815" y="4062046"/>
            <a:ext cx="609600" cy="609600"/>
          </a:xfrm>
          <a:prstGeom prst="rect">
            <a:avLst/>
          </a:prstGeom>
        </p:spPr>
      </p:pic>
    </p:spTree>
    <p:extLst>
      <p:ext uri="{BB962C8B-B14F-4D97-AF65-F5344CB8AC3E}">
        <p14:creationId xmlns:p14="http://schemas.microsoft.com/office/powerpoint/2010/main" val="524350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10E4F-997A-A1E8-3249-3E04A5862C8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E820790F-AFC2-B5FD-223A-15DF9C65D6B0}"/>
              </a:ext>
            </a:extLst>
          </p:cNvPr>
          <p:cNvSpPr>
            <a:spLocks noGrp="1"/>
          </p:cNvSpPr>
          <p:nvPr>
            <p:ph type="title"/>
          </p:nvPr>
        </p:nvSpPr>
        <p:spPr/>
        <p:txBody>
          <a:bodyPr/>
          <a:lstStyle/>
          <a:p>
            <a:r>
              <a:rPr lang="hu-HU" err="1"/>
              <a:t>Solution</a:t>
            </a:r>
            <a:r>
              <a:rPr lang="hu-HU"/>
              <a:t> </a:t>
            </a:r>
            <a:r>
              <a:rPr lang="hu-HU" err="1"/>
              <a:t>Options</a:t>
            </a:r>
          </a:p>
        </p:txBody>
      </p:sp>
      <p:grpSp>
        <p:nvGrpSpPr>
          <p:cNvPr id="7" name="Group 5">
            <a:extLst>
              <a:ext uri="{FF2B5EF4-FFF2-40B4-BE49-F238E27FC236}">
                <a16:creationId xmlns:a16="http://schemas.microsoft.com/office/drawing/2014/main" id="{AAE48019-5281-18E7-D6C7-5873BF2DC59C}"/>
              </a:ext>
            </a:extLst>
          </p:cNvPr>
          <p:cNvGrpSpPr/>
          <p:nvPr/>
        </p:nvGrpSpPr>
        <p:grpSpPr>
          <a:xfrm>
            <a:off x="449225" y="2026359"/>
            <a:ext cx="3372251" cy="3247359"/>
            <a:chOff x="467053" y="1001229"/>
            <a:chExt cx="4695302" cy="2968481"/>
          </a:xfrm>
        </p:grpSpPr>
        <p:sp>
          <p:nvSpPr>
            <p:cNvPr id="5" name="Rectangle 4">
              <a:extLst>
                <a:ext uri="{FF2B5EF4-FFF2-40B4-BE49-F238E27FC236}">
                  <a16:creationId xmlns:a16="http://schemas.microsoft.com/office/drawing/2014/main" id="{A629AB58-7435-1DD4-5C18-8B9C89D21D1A}"/>
                </a:ext>
              </a:extLst>
            </p:cNvPr>
            <p:cNvSpPr/>
            <p:nvPr/>
          </p:nvSpPr>
          <p:spPr>
            <a:xfrm>
              <a:off x="467763" y="1001229"/>
              <a:ext cx="4687541"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rgbClr val="FFFFFF"/>
                  </a:solidFill>
                  <a:latin typeface="Aptos"/>
                  <a:ea typeface="Calibri"/>
                  <a:cs typeface="Calibri"/>
                </a:rPr>
                <a:t>Environmental regulations and emissions reduction</a:t>
              </a:r>
              <a:endParaRPr lang="en-US" noProof="0">
                <a:solidFill>
                  <a:srgbClr val="FFFFFF"/>
                </a:solidFill>
                <a:latin typeface="Aptos"/>
                <a:ea typeface="Calibri"/>
                <a:cs typeface="Calibri"/>
              </a:endParaRPr>
            </a:p>
          </p:txBody>
        </p:sp>
        <p:sp>
          <p:nvSpPr>
            <p:cNvPr id="6" name="Rectangle 5">
              <a:extLst>
                <a:ext uri="{FF2B5EF4-FFF2-40B4-BE49-F238E27FC236}">
                  <a16:creationId xmlns:a16="http://schemas.microsoft.com/office/drawing/2014/main" id="{FD337896-18A5-D232-3D07-A210DA044C9C}"/>
                </a:ext>
              </a:extLst>
            </p:cNvPr>
            <p:cNvSpPr/>
            <p:nvPr/>
          </p:nvSpPr>
          <p:spPr>
            <a:xfrm>
              <a:off x="467053" y="1487018"/>
              <a:ext cx="4695302" cy="2482692"/>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Wingdings"/>
                <a:buChar char="Ø"/>
              </a:pPr>
              <a:r>
                <a:rPr lang="en-US">
                  <a:solidFill>
                    <a:schemeClr val="tx1"/>
                  </a:solidFill>
                  <a:ea typeface="+mn-lt"/>
                  <a:cs typeface="+mn-lt"/>
                </a:rPr>
                <a:t>Real-time analysis</a:t>
              </a:r>
              <a:endParaRPr lang="en-US">
                <a:solidFill>
                  <a:schemeClr val="tx1"/>
                </a:solidFill>
                <a:ea typeface="Calibri" panose="020F0502020204030204"/>
                <a:cs typeface="Aparajita"/>
              </a:endParaRPr>
            </a:p>
            <a:p>
              <a:pPr marL="285750" indent="-285750">
                <a:buFont typeface="Wingdings"/>
                <a:buChar char="Ø"/>
              </a:pPr>
              <a:r>
                <a:rPr lang="en-US">
                  <a:solidFill>
                    <a:schemeClr val="tx1"/>
                  </a:solidFill>
                  <a:ea typeface="+mn-lt"/>
                  <a:cs typeface="+mn-lt"/>
                </a:rPr>
                <a:t>Optimization of resource use</a:t>
              </a:r>
            </a:p>
            <a:p>
              <a:pPr marL="285750" indent="-285750">
                <a:buFont typeface="Wingdings"/>
                <a:buChar char="Ø"/>
              </a:pPr>
              <a:r>
                <a:rPr lang="en-US">
                  <a:solidFill>
                    <a:schemeClr val="tx1"/>
                  </a:solidFill>
                  <a:ea typeface="Calibri"/>
                  <a:cs typeface="Aparajita"/>
                </a:rPr>
                <a:t>Collaboration with authorities</a:t>
              </a:r>
            </a:p>
            <a:p>
              <a:pPr marL="285750" indent="-285750">
                <a:buFont typeface="Wingdings"/>
                <a:buChar char="Ø"/>
              </a:pPr>
              <a:r>
                <a:rPr lang="en-US">
                  <a:solidFill>
                    <a:schemeClr val="tx1"/>
                  </a:solidFill>
                  <a:ea typeface="+mn-lt"/>
                  <a:cs typeface="+mn-lt"/>
                </a:rPr>
                <a:t>Improved productivity and reduced ecological impact</a:t>
              </a:r>
              <a:endParaRPr lang="en-US">
                <a:solidFill>
                  <a:schemeClr val="tx1"/>
                </a:solidFill>
                <a:ea typeface="Calibri"/>
                <a:cs typeface="Aparajita"/>
              </a:endParaRPr>
            </a:p>
          </p:txBody>
        </p:sp>
      </p:grpSp>
      <p:grpSp>
        <p:nvGrpSpPr>
          <p:cNvPr id="13" name="Group 5">
            <a:extLst>
              <a:ext uri="{FF2B5EF4-FFF2-40B4-BE49-F238E27FC236}">
                <a16:creationId xmlns:a16="http://schemas.microsoft.com/office/drawing/2014/main" id="{DF6DD5E9-2D10-E470-D373-90D0FEBEDE49}"/>
              </a:ext>
            </a:extLst>
          </p:cNvPr>
          <p:cNvGrpSpPr/>
          <p:nvPr/>
        </p:nvGrpSpPr>
        <p:grpSpPr>
          <a:xfrm>
            <a:off x="4408311" y="2026358"/>
            <a:ext cx="3372251" cy="3247359"/>
            <a:chOff x="467053" y="1001229"/>
            <a:chExt cx="4695302" cy="2968481"/>
          </a:xfrm>
        </p:grpSpPr>
        <p:sp>
          <p:nvSpPr>
            <p:cNvPr id="14" name="Rectangle 13">
              <a:extLst>
                <a:ext uri="{FF2B5EF4-FFF2-40B4-BE49-F238E27FC236}">
                  <a16:creationId xmlns:a16="http://schemas.microsoft.com/office/drawing/2014/main" id="{02CF9E6C-E2B1-9783-E812-3D1802A9A81A}"/>
                </a:ext>
              </a:extLst>
            </p:cNvPr>
            <p:cNvSpPr/>
            <p:nvPr/>
          </p:nvSpPr>
          <p:spPr>
            <a:xfrm>
              <a:off x="467763" y="1001229"/>
              <a:ext cx="4687541"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rgbClr val="FFFFFF"/>
                  </a:solidFill>
                  <a:latin typeface="Aptos"/>
                  <a:ea typeface="Calibri"/>
                  <a:cs typeface="Calibri"/>
                </a:rPr>
                <a:t>Climate risk management</a:t>
              </a:r>
              <a:endParaRPr lang="en-US">
                <a:solidFill>
                  <a:srgbClr val="000000"/>
                </a:solidFill>
                <a:latin typeface="Aptos"/>
                <a:ea typeface="Calibri"/>
                <a:cs typeface="Calibri"/>
              </a:endParaRPr>
            </a:p>
          </p:txBody>
        </p:sp>
        <p:sp>
          <p:nvSpPr>
            <p:cNvPr id="15" name="Rectangle 14">
              <a:extLst>
                <a:ext uri="{FF2B5EF4-FFF2-40B4-BE49-F238E27FC236}">
                  <a16:creationId xmlns:a16="http://schemas.microsoft.com/office/drawing/2014/main" id="{694509C0-ECDF-4306-092A-A397543E56F8}"/>
                </a:ext>
              </a:extLst>
            </p:cNvPr>
            <p:cNvSpPr/>
            <p:nvPr/>
          </p:nvSpPr>
          <p:spPr>
            <a:xfrm>
              <a:off x="467053" y="1487018"/>
              <a:ext cx="4695302" cy="2482692"/>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Wingdings,Sans-Serif"/>
                <a:buChar char="Ø"/>
              </a:pPr>
              <a:r>
                <a:rPr lang="en-US">
                  <a:solidFill>
                    <a:schemeClr val="tx1"/>
                  </a:solidFill>
                  <a:ea typeface="+mn-lt"/>
                  <a:cs typeface="+mn-lt"/>
                </a:rPr>
                <a:t>Climate forecast analysis and real-time observation</a:t>
              </a:r>
            </a:p>
            <a:p>
              <a:pPr marL="285750" indent="-285750">
                <a:buFont typeface="Wingdings,Sans-Serif"/>
                <a:buChar char="Ø"/>
              </a:pPr>
              <a:r>
                <a:rPr lang="en-US">
                  <a:solidFill>
                    <a:schemeClr val="tx1"/>
                  </a:solidFill>
                  <a:ea typeface="+mn-lt"/>
                  <a:cs typeface="+mn-lt"/>
                </a:rPr>
                <a:t>Early warning </a:t>
              </a:r>
              <a:r>
                <a:rPr lang="en-US">
                  <a:solidFill>
                    <a:schemeClr val="tx1"/>
                  </a:solidFill>
                  <a:ea typeface="Calibri"/>
                  <a:cs typeface="Aparajita"/>
                </a:rPr>
                <a:t>system</a:t>
              </a:r>
            </a:p>
            <a:p>
              <a:pPr marL="285750" indent="-285750">
                <a:buFont typeface="Wingdings,Sans-Serif"/>
                <a:buChar char="Ø"/>
              </a:pPr>
              <a:r>
                <a:rPr lang="en-US">
                  <a:solidFill>
                    <a:schemeClr val="tx1"/>
                  </a:solidFill>
                  <a:ea typeface="Calibri"/>
                  <a:cs typeface="Aparajita"/>
                </a:rPr>
                <a:t>Adaptation </a:t>
              </a:r>
              <a:r>
                <a:rPr lang="en-US">
                  <a:solidFill>
                    <a:schemeClr val="tx1"/>
                  </a:solidFill>
                  <a:ea typeface="+mn-lt"/>
                  <a:cs typeface="+mn-lt"/>
                </a:rPr>
                <a:t>of </a:t>
              </a:r>
              <a:r>
                <a:rPr lang="en-US">
                  <a:solidFill>
                    <a:schemeClr val="tx1"/>
                  </a:solidFill>
                  <a:ea typeface="Calibri"/>
                  <a:cs typeface="Aparajita"/>
                </a:rPr>
                <a:t>irrigation </a:t>
              </a:r>
              <a:r>
                <a:rPr lang="en-US">
                  <a:solidFill>
                    <a:schemeClr val="tx1"/>
                  </a:solidFill>
                  <a:ea typeface="+mn-lt"/>
                  <a:cs typeface="+mn-lt"/>
                </a:rPr>
                <a:t>and resources</a:t>
              </a:r>
              <a:endParaRPr lang="en-US">
                <a:solidFill>
                  <a:schemeClr val="tx1"/>
                </a:solidFill>
                <a:ea typeface="Calibri"/>
                <a:cs typeface="Aparajita"/>
              </a:endParaRPr>
            </a:p>
            <a:p>
              <a:pPr marL="285750" indent="-285750">
                <a:buFont typeface="Wingdings,Sans-Serif"/>
                <a:buChar char="Ø"/>
              </a:pPr>
              <a:r>
                <a:rPr lang="en-US">
                  <a:solidFill>
                    <a:schemeClr val="tx1"/>
                  </a:solidFill>
                  <a:ea typeface="+mn-lt"/>
                  <a:cs typeface="+mn-lt"/>
                </a:rPr>
                <a:t>Damage limitation and income security</a:t>
              </a:r>
            </a:p>
          </p:txBody>
        </p:sp>
      </p:grpSp>
      <p:grpSp>
        <p:nvGrpSpPr>
          <p:cNvPr id="16" name="Group 5">
            <a:extLst>
              <a:ext uri="{FF2B5EF4-FFF2-40B4-BE49-F238E27FC236}">
                <a16:creationId xmlns:a16="http://schemas.microsoft.com/office/drawing/2014/main" id="{A9935671-3596-C84A-BEC2-043FAE81EC31}"/>
              </a:ext>
            </a:extLst>
          </p:cNvPr>
          <p:cNvGrpSpPr/>
          <p:nvPr/>
        </p:nvGrpSpPr>
        <p:grpSpPr>
          <a:xfrm>
            <a:off x="8359115" y="2026358"/>
            <a:ext cx="3372251" cy="3247359"/>
            <a:chOff x="467053" y="1001229"/>
            <a:chExt cx="4695302" cy="2968481"/>
          </a:xfrm>
        </p:grpSpPr>
        <p:sp>
          <p:nvSpPr>
            <p:cNvPr id="17" name="Rectangle 16">
              <a:extLst>
                <a:ext uri="{FF2B5EF4-FFF2-40B4-BE49-F238E27FC236}">
                  <a16:creationId xmlns:a16="http://schemas.microsoft.com/office/drawing/2014/main" id="{F85135CD-DEB3-58C5-5142-44FEC8343538}"/>
                </a:ext>
              </a:extLst>
            </p:cNvPr>
            <p:cNvSpPr/>
            <p:nvPr/>
          </p:nvSpPr>
          <p:spPr>
            <a:xfrm>
              <a:off x="467763" y="1001229"/>
              <a:ext cx="4687541"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rgbClr val="FFFFFF"/>
                  </a:solidFill>
                  <a:latin typeface="Aptos"/>
                  <a:ea typeface="Calibri"/>
                  <a:cs typeface="Calibri"/>
                </a:rPr>
                <a:t>Reducing labor shortages</a:t>
              </a:r>
            </a:p>
          </p:txBody>
        </p:sp>
        <p:sp>
          <p:nvSpPr>
            <p:cNvPr id="18" name="Rectangle 17">
              <a:extLst>
                <a:ext uri="{FF2B5EF4-FFF2-40B4-BE49-F238E27FC236}">
                  <a16:creationId xmlns:a16="http://schemas.microsoft.com/office/drawing/2014/main" id="{6BCB7655-142A-5A43-52DA-EEF838DEBBF1}"/>
                </a:ext>
              </a:extLst>
            </p:cNvPr>
            <p:cNvSpPr/>
            <p:nvPr/>
          </p:nvSpPr>
          <p:spPr>
            <a:xfrm>
              <a:off x="467053" y="1487018"/>
              <a:ext cx="4695302" cy="2482692"/>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Wingdings,Sans-Serif"/>
                <a:buChar char="Ø"/>
              </a:pPr>
              <a:r>
                <a:rPr lang="en-US">
                  <a:solidFill>
                    <a:schemeClr val="tx1"/>
                  </a:solidFill>
                  <a:ea typeface="+mn-lt"/>
                  <a:cs typeface="+mn-lt"/>
                </a:rPr>
                <a:t>Integrated sensors</a:t>
              </a:r>
            </a:p>
            <a:p>
              <a:pPr marL="285750" indent="-285750">
                <a:buFont typeface="Wingdings,Sans-Serif"/>
                <a:buChar char="Ø"/>
              </a:pPr>
              <a:r>
                <a:rPr lang="en-US">
                  <a:solidFill>
                    <a:schemeClr val="tx1"/>
                  </a:solidFill>
                  <a:ea typeface="+mn-lt"/>
                  <a:cs typeface="+mn-lt"/>
                </a:rPr>
                <a:t>Reduced dependency on traditional labor</a:t>
              </a:r>
            </a:p>
            <a:p>
              <a:pPr marL="285750" indent="-285750">
                <a:buFont typeface="Wingdings,Sans-Serif"/>
                <a:buChar char="Ø"/>
              </a:pPr>
              <a:r>
                <a:rPr lang="en-US">
                  <a:solidFill>
                    <a:schemeClr val="tx1"/>
                  </a:solidFill>
                  <a:ea typeface="+mn-lt"/>
                  <a:cs typeface="+mn-lt"/>
                </a:rPr>
                <a:t>Emergence of new job roles</a:t>
              </a:r>
            </a:p>
          </p:txBody>
        </p:sp>
      </p:grpSp>
      <p:pic>
        <p:nvPicPr>
          <p:cNvPr id="20" name="Kép 57" descr="Agriculture">
            <a:extLst>
              <a:ext uri="{FF2B5EF4-FFF2-40B4-BE49-F238E27FC236}">
                <a16:creationId xmlns:a16="http://schemas.microsoft.com/office/drawing/2014/main" id="{FC67EE1A-9B59-BB3D-E549-5CAFE6C2A4EF}"/>
              </a:ext>
            </a:extLst>
          </p:cNvPr>
          <p:cNvPicPr>
            <a:picLocks noChangeAspect="1"/>
          </p:cNvPicPr>
          <p:nvPr/>
        </p:nvPicPr>
        <p:blipFill>
          <a:blip r:embed="rId3"/>
          <a:stretch>
            <a:fillRect/>
          </a:stretch>
        </p:blipFill>
        <p:spPr>
          <a:xfrm>
            <a:off x="3139133" y="4782737"/>
            <a:ext cx="968828" cy="968828"/>
          </a:xfrm>
          <a:prstGeom prst="rect">
            <a:avLst/>
          </a:prstGeom>
        </p:spPr>
      </p:pic>
      <p:pic>
        <p:nvPicPr>
          <p:cNvPr id="22" name="Kép 56" descr="Farmer">
            <a:extLst>
              <a:ext uri="{FF2B5EF4-FFF2-40B4-BE49-F238E27FC236}">
                <a16:creationId xmlns:a16="http://schemas.microsoft.com/office/drawing/2014/main" id="{1D2F89DE-46B4-96CA-8469-02FBFB29DC30}"/>
              </a:ext>
            </a:extLst>
          </p:cNvPr>
          <p:cNvPicPr>
            <a:picLocks noChangeAspect="1"/>
          </p:cNvPicPr>
          <p:nvPr/>
        </p:nvPicPr>
        <p:blipFill>
          <a:blip r:embed="rId4"/>
          <a:stretch>
            <a:fillRect/>
          </a:stretch>
        </p:blipFill>
        <p:spPr>
          <a:xfrm>
            <a:off x="7324370" y="1247129"/>
            <a:ext cx="912585" cy="935472"/>
          </a:xfrm>
          <a:prstGeom prst="rect">
            <a:avLst/>
          </a:prstGeom>
        </p:spPr>
      </p:pic>
      <p:pic>
        <p:nvPicPr>
          <p:cNvPr id="24" name="Picture 25" descr="A drone flying over plants&#10;&#10;AI-generated content may be incorrect.">
            <a:extLst>
              <a:ext uri="{FF2B5EF4-FFF2-40B4-BE49-F238E27FC236}">
                <a16:creationId xmlns:a16="http://schemas.microsoft.com/office/drawing/2014/main" id="{B7B42587-D574-E46F-A734-430985CEF7CF}"/>
              </a:ext>
            </a:extLst>
          </p:cNvPr>
          <p:cNvPicPr>
            <a:picLocks noChangeAspect="1"/>
          </p:cNvPicPr>
          <p:nvPr/>
        </p:nvPicPr>
        <p:blipFill>
          <a:blip r:embed="rId5"/>
          <a:stretch>
            <a:fillRect/>
          </a:stretch>
        </p:blipFill>
        <p:spPr>
          <a:xfrm>
            <a:off x="7906388" y="4783529"/>
            <a:ext cx="1216113" cy="1205227"/>
          </a:xfrm>
          <a:prstGeom prst="rect">
            <a:avLst/>
          </a:prstGeom>
        </p:spPr>
      </p:pic>
    </p:spTree>
    <p:extLst>
      <p:ext uri="{BB962C8B-B14F-4D97-AF65-F5344CB8AC3E}">
        <p14:creationId xmlns:p14="http://schemas.microsoft.com/office/powerpoint/2010/main" val="4087814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BBAF0F6-549A-B682-3C3B-371A1391BACA}"/>
              </a:ext>
            </a:extLst>
          </p:cNvPr>
          <p:cNvGrpSpPr/>
          <p:nvPr/>
        </p:nvGrpSpPr>
        <p:grpSpPr>
          <a:xfrm>
            <a:off x="383646" y="1115272"/>
            <a:ext cx="4499517" cy="1822754"/>
            <a:chOff x="467763" y="1001229"/>
            <a:chExt cx="4687542" cy="1926663"/>
          </a:xfrm>
        </p:grpSpPr>
        <p:sp>
          <p:nvSpPr>
            <p:cNvPr id="7" name="Rectangle 6">
              <a:extLst>
                <a:ext uri="{FF2B5EF4-FFF2-40B4-BE49-F238E27FC236}">
                  <a16:creationId xmlns:a16="http://schemas.microsoft.com/office/drawing/2014/main" id="{3F640A0F-460C-BA35-3F52-2A92BADB0389}"/>
                </a:ext>
              </a:extLst>
            </p:cNvPr>
            <p:cNvSpPr/>
            <p:nvPr/>
          </p:nvSpPr>
          <p:spPr>
            <a:xfrm>
              <a:off x="467763" y="1001229"/>
              <a:ext cx="4687542"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ea typeface="Calibri"/>
                  <a:cs typeface="Calibri"/>
                </a:rPr>
                <a:t>Price</a:t>
              </a:r>
              <a:endParaRPr lang="en-US" noProof="0">
                <a:cs typeface="Calibri"/>
              </a:endParaRPr>
            </a:p>
          </p:txBody>
        </p:sp>
        <p:sp>
          <p:nvSpPr>
            <p:cNvPr id="8" name="Rectangle 7">
              <a:extLst>
                <a:ext uri="{FF2B5EF4-FFF2-40B4-BE49-F238E27FC236}">
                  <a16:creationId xmlns:a16="http://schemas.microsoft.com/office/drawing/2014/main" id="{768D6497-43E9-027A-50A3-CAA056E5FFBF}"/>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DE" sz="2000">
                  <a:solidFill>
                    <a:srgbClr val="000000"/>
                  </a:solidFill>
                  <a:effectLst/>
                  <a:cs typeface="Aparajita" panose="02020603050405020304" pitchFamily="18" charset="0"/>
                </a:rPr>
                <a:t>10,500€/per year </a:t>
              </a:r>
              <a:r>
                <a:rPr lang="en-US">
                  <a:solidFill>
                    <a:schemeClr val="tx1"/>
                  </a:solidFill>
                  <a:effectLst/>
                  <a:cs typeface="Aparajita" panose="02020603050405020304" pitchFamily="18" charset="0"/>
                </a:rPr>
                <a:t>(</a:t>
              </a:r>
              <a:r>
                <a:rPr lang="en-US" noProof="0">
                  <a:solidFill>
                    <a:schemeClr val="tx1"/>
                  </a:solidFill>
                  <a:ea typeface="Calibri"/>
                  <a:cs typeface="Aparajita" panose="02020603050405020304" pitchFamily="18" charset="0"/>
                </a:rPr>
                <a:t>first year)</a:t>
              </a:r>
              <a:endParaRPr lang="en-US" noProof="0">
                <a:ea typeface="Calibri" panose="020F0502020204030204"/>
                <a:cs typeface="Aparajita" panose="02020603050405020304" pitchFamily="18" charset="0"/>
              </a:endParaRPr>
            </a:p>
            <a:p>
              <a:pPr algn="ctr"/>
              <a:endParaRPr lang="en-US" sz="2000" noProof="0">
                <a:solidFill>
                  <a:schemeClr val="tx1"/>
                </a:solidFill>
                <a:ea typeface="Calibri"/>
                <a:cs typeface="Aparajita" panose="02020603050405020304" pitchFamily="18" charset="0"/>
              </a:endParaRPr>
            </a:p>
            <a:p>
              <a:pPr algn="ctr"/>
              <a:r>
                <a:rPr lang="en-DE" sz="2000">
                  <a:solidFill>
                    <a:srgbClr val="000000"/>
                  </a:solidFill>
                  <a:effectLst/>
                  <a:cs typeface="Aparajita" panose="02020603050405020304" pitchFamily="18" charset="0"/>
                </a:rPr>
                <a:t>7,265€/per year </a:t>
              </a:r>
              <a:r>
                <a:rPr lang="en-DE">
                  <a:solidFill>
                    <a:srgbClr val="000000"/>
                  </a:solidFill>
                  <a:effectLst/>
                  <a:cs typeface="Aparajita" panose="02020603050405020304" pitchFamily="18" charset="0"/>
                </a:rPr>
                <a:t>(following years)</a:t>
              </a:r>
              <a:endParaRPr lang="en-US" sz="2000" noProof="0">
                <a:ea typeface="Calibri" panose="020F0502020204030204"/>
                <a:cs typeface="Aparajita" panose="02020603050405020304" pitchFamily="18" charset="0"/>
              </a:endParaRPr>
            </a:p>
          </p:txBody>
        </p:sp>
      </p:grpSp>
      <p:grpSp>
        <p:nvGrpSpPr>
          <p:cNvPr id="9" name="Group 8">
            <a:extLst>
              <a:ext uri="{FF2B5EF4-FFF2-40B4-BE49-F238E27FC236}">
                <a16:creationId xmlns:a16="http://schemas.microsoft.com/office/drawing/2014/main" id="{4C3F1EEA-684A-D9F5-7461-5DD16E31686F}"/>
              </a:ext>
            </a:extLst>
          </p:cNvPr>
          <p:cNvGrpSpPr/>
          <p:nvPr/>
        </p:nvGrpSpPr>
        <p:grpSpPr>
          <a:xfrm>
            <a:off x="383646" y="4405487"/>
            <a:ext cx="4499516" cy="1817807"/>
            <a:chOff x="467763" y="1001228"/>
            <a:chExt cx="4687542" cy="1926664"/>
          </a:xfrm>
        </p:grpSpPr>
        <p:sp>
          <p:nvSpPr>
            <p:cNvPr id="10" name="Rectangle 9">
              <a:extLst>
                <a:ext uri="{FF2B5EF4-FFF2-40B4-BE49-F238E27FC236}">
                  <a16:creationId xmlns:a16="http://schemas.microsoft.com/office/drawing/2014/main" id="{0B7003CA-DE96-CCEB-99C3-5AC0E36B62A6}"/>
                </a:ext>
              </a:extLst>
            </p:cNvPr>
            <p:cNvSpPr/>
            <p:nvPr/>
          </p:nvSpPr>
          <p:spPr>
            <a:xfrm>
              <a:off x="467763" y="1001228"/>
              <a:ext cx="4687542"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ea typeface="Calibri"/>
                  <a:cs typeface="Calibri"/>
                </a:rPr>
                <a:t>Increased Crop Yield </a:t>
              </a:r>
              <a:endParaRPr lang="en-US" noProof="0">
                <a:cs typeface="Calibri"/>
              </a:endParaRPr>
            </a:p>
          </p:txBody>
        </p:sp>
        <p:sp>
          <p:nvSpPr>
            <p:cNvPr id="11" name="Rectangle 10">
              <a:extLst>
                <a:ext uri="{FF2B5EF4-FFF2-40B4-BE49-F238E27FC236}">
                  <a16:creationId xmlns:a16="http://schemas.microsoft.com/office/drawing/2014/main" id="{530999BA-EA0A-87DF-8D4D-51A3CF80BB38}"/>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noProof="0">
                <a:solidFill>
                  <a:schemeClr val="tx1"/>
                </a:solidFill>
                <a:ea typeface="Calibri"/>
                <a:cs typeface="Calibri"/>
              </a:endParaRPr>
            </a:p>
          </p:txBody>
        </p:sp>
      </p:grpSp>
      <p:grpSp>
        <p:nvGrpSpPr>
          <p:cNvPr id="12" name="Group 11">
            <a:extLst>
              <a:ext uri="{FF2B5EF4-FFF2-40B4-BE49-F238E27FC236}">
                <a16:creationId xmlns:a16="http://schemas.microsoft.com/office/drawing/2014/main" id="{D43E92A0-E592-6B1E-46DE-1569DD202896}"/>
              </a:ext>
            </a:extLst>
          </p:cNvPr>
          <p:cNvGrpSpPr/>
          <p:nvPr/>
        </p:nvGrpSpPr>
        <p:grpSpPr>
          <a:xfrm>
            <a:off x="7385139" y="4405488"/>
            <a:ext cx="4504464" cy="1822754"/>
            <a:chOff x="467763" y="1001229"/>
            <a:chExt cx="4687542" cy="1926663"/>
          </a:xfrm>
        </p:grpSpPr>
        <p:sp>
          <p:nvSpPr>
            <p:cNvPr id="13" name="Rectangle 12">
              <a:extLst>
                <a:ext uri="{FF2B5EF4-FFF2-40B4-BE49-F238E27FC236}">
                  <a16:creationId xmlns:a16="http://schemas.microsoft.com/office/drawing/2014/main" id="{6A7DBBF5-E059-9997-81D0-F1B83CE40542}"/>
                </a:ext>
              </a:extLst>
            </p:cNvPr>
            <p:cNvSpPr/>
            <p:nvPr/>
          </p:nvSpPr>
          <p:spPr>
            <a:xfrm>
              <a:off x="467763" y="1001229"/>
              <a:ext cx="4687542"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solidFill>
                    <a:schemeClr val="bg1"/>
                  </a:solidFill>
                  <a:ea typeface="Calibri"/>
                  <a:cs typeface="Calibri"/>
                </a:rPr>
                <a:t> </a:t>
              </a:r>
              <a:r>
                <a:rPr lang="en-US" sz="1800" noProof="0">
                  <a:solidFill>
                    <a:schemeClr val="bg1"/>
                  </a:solidFill>
                  <a:cs typeface="Calibri"/>
                </a:rPr>
                <a:t>Efficient Resource </a:t>
              </a:r>
              <a:r>
                <a:rPr lang="en-US" sz="1800">
                  <a:solidFill>
                    <a:schemeClr val="bg1"/>
                  </a:solidFill>
                  <a:cs typeface="Calibri"/>
                </a:rPr>
                <a:t>U</a:t>
              </a:r>
              <a:r>
                <a:rPr lang="en-US" sz="1800" noProof="0">
                  <a:solidFill>
                    <a:schemeClr val="bg1"/>
                  </a:solidFill>
                  <a:cs typeface="Calibri"/>
                </a:rPr>
                <a:t>se</a:t>
              </a:r>
              <a:endParaRPr lang="en-US" noProof="0">
                <a:solidFill>
                  <a:schemeClr val="bg1"/>
                </a:solidFill>
              </a:endParaRPr>
            </a:p>
          </p:txBody>
        </p:sp>
        <p:sp>
          <p:nvSpPr>
            <p:cNvPr id="14" name="Rectangle 13">
              <a:extLst>
                <a:ext uri="{FF2B5EF4-FFF2-40B4-BE49-F238E27FC236}">
                  <a16:creationId xmlns:a16="http://schemas.microsoft.com/office/drawing/2014/main" id="{EB57FDB2-4CCE-070B-FDB9-6E9239CF769E}"/>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0">
                <a:solidFill>
                  <a:schemeClr val="tx1"/>
                </a:solidFill>
              </a:endParaRPr>
            </a:p>
          </p:txBody>
        </p:sp>
      </p:grpSp>
      <p:grpSp>
        <p:nvGrpSpPr>
          <p:cNvPr id="15" name="Group 14">
            <a:extLst>
              <a:ext uri="{FF2B5EF4-FFF2-40B4-BE49-F238E27FC236}">
                <a16:creationId xmlns:a16="http://schemas.microsoft.com/office/drawing/2014/main" id="{2DC60FBF-A62E-179B-BFC3-FE0E762BC5BD}"/>
              </a:ext>
            </a:extLst>
          </p:cNvPr>
          <p:cNvGrpSpPr/>
          <p:nvPr/>
        </p:nvGrpSpPr>
        <p:grpSpPr>
          <a:xfrm>
            <a:off x="7385140" y="1115273"/>
            <a:ext cx="4509412" cy="1822753"/>
            <a:chOff x="467763" y="1001229"/>
            <a:chExt cx="4687542" cy="1926663"/>
          </a:xfrm>
        </p:grpSpPr>
        <p:sp>
          <p:nvSpPr>
            <p:cNvPr id="16" name="Rectangle 15">
              <a:extLst>
                <a:ext uri="{FF2B5EF4-FFF2-40B4-BE49-F238E27FC236}">
                  <a16:creationId xmlns:a16="http://schemas.microsoft.com/office/drawing/2014/main" id="{9B16478B-D27A-3C0C-C3BF-CB9161268AE5}"/>
                </a:ext>
              </a:extLst>
            </p:cNvPr>
            <p:cNvSpPr/>
            <p:nvPr/>
          </p:nvSpPr>
          <p:spPr>
            <a:xfrm>
              <a:off x="467763" y="1001229"/>
              <a:ext cx="4687542" cy="480285"/>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ea typeface="Calibri"/>
                  <a:cs typeface="Calibri"/>
                </a:rPr>
                <a:t>Cost Saving</a:t>
              </a:r>
              <a:endParaRPr lang="en-US" noProof="0">
                <a:cs typeface="Calibri"/>
              </a:endParaRPr>
            </a:p>
          </p:txBody>
        </p:sp>
        <p:sp>
          <p:nvSpPr>
            <p:cNvPr id="17" name="Rectangle 16">
              <a:extLst>
                <a:ext uri="{FF2B5EF4-FFF2-40B4-BE49-F238E27FC236}">
                  <a16:creationId xmlns:a16="http://schemas.microsoft.com/office/drawing/2014/main" id="{EC190536-D303-98D5-5AD5-8307D991C33F}"/>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0">
                <a:solidFill>
                  <a:schemeClr val="tx1"/>
                </a:solidFill>
                <a:ea typeface="Calibri"/>
                <a:cs typeface="Calibri"/>
              </a:endParaRPr>
            </a:p>
          </p:txBody>
        </p:sp>
      </p:grpSp>
      <p:sp>
        <p:nvSpPr>
          <p:cNvPr id="24" name="TextBox 23">
            <a:extLst>
              <a:ext uri="{FF2B5EF4-FFF2-40B4-BE49-F238E27FC236}">
                <a16:creationId xmlns:a16="http://schemas.microsoft.com/office/drawing/2014/main" id="{948BEB52-46DE-C37E-1B0B-A8E39E67B798}"/>
              </a:ext>
            </a:extLst>
          </p:cNvPr>
          <p:cNvSpPr txBox="1"/>
          <p:nvPr/>
        </p:nvSpPr>
        <p:spPr>
          <a:xfrm>
            <a:off x="7505700" y="1630520"/>
            <a:ext cx="4295054" cy="1323439"/>
          </a:xfrm>
          <a:prstGeom prst="rect">
            <a:avLst/>
          </a:prstGeom>
          <a:noFill/>
        </p:spPr>
        <p:txBody>
          <a:bodyPr wrap="square" rtlCol="0">
            <a:spAutoFit/>
          </a:bodyPr>
          <a:lstStyle/>
          <a:p>
            <a:r>
              <a:rPr lang="en-GB" sz="2000">
                <a:solidFill>
                  <a:srgbClr val="000000"/>
                </a:solidFill>
                <a:effectLst/>
                <a:latin typeface="Aptos" panose="020B0004020202020204" pitchFamily="34" charset="0"/>
              </a:rPr>
              <a:t>Annual reduction in labour costs:</a:t>
            </a:r>
          </a:p>
          <a:p>
            <a:pPr marL="285750" indent="-285750">
              <a:buFont typeface="Wingdings" pitchFamily="2" charset="2"/>
              <a:buChar char="è"/>
            </a:pPr>
            <a:r>
              <a:rPr lang="en-GB" sz="2000">
                <a:solidFill>
                  <a:srgbClr val="000000"/>
                </a:solidFill>
                <a:effectLst/>
                <a:latin typeface="Aptos" panose="020B0004020202020204" pitchFamily="34" charset="0"/>
              </a:rPr>
              <a:t>€2,500 for small farmers </a:t>
            </a:r>
          </a:p>
          <a:p>
            <a:pPr marL="285750" indent="-285750">
              <a:buFont typeface="Wingdings" pitchFamily="2" charset="2"/>
              <a:buChar char="è"/>
            </a:pPr>
            <a:r>
              <a:rPr lang="en-GB" sz="2000">
                <a:solidFill>
                  <a:srgbClr val="000000"/>
                </a:solidFill>
                <a:effectLst/>
                <a:latin typeface="Aptos" panose="020B0004020202020204" pitchFamily="34" charset="0"/>
              </a:rPr>
              <a:t>€7,000 for medium-sized </a:t>
            </a:r>
          </a:p>
          <a:p>
            <a:r>
              <a:rPr lang="en-GB" sz="2000">
                <a:solidFill>
                  <a:srgbClr val="000000"/>
                </a:solidFill>
                <a:latin typeface="Aptos" panose="020B0004020202020204" pitchFamily="34" charset="0"/>
              </a:rPr>
              <a:t>     </a:t>
            </a:r>
            <a:r>
              <a:rPr lang="en-GB" sz="2000">
                <a:solidFill>
                  <a:srgbClr val="000000"/>
                </a:solidFill>
                <a:effectLst/>
                <a:latin typeface="Aptos" panose="020B0004020202020204" pitchFamily="34" charset="0"/>
              </a:rPr>
              <a:t>farmers</a:t>
            </a:r>
          </a:p>
        </p:txBody>
      </p:sp>
      <p:sp>
        <p:nvSpPr>
          <p:cNvPr id="25" name="TextBox 24">
            <a:extLst>
              <a:ext uri="{FF2B5EF4-FFF2-40B4-BE49-F238E27FC236}">
                <a16:creationId xmlns:a16="http://schemas.microsoft.com/office/drawing/2014/main" id="{515D5D30-AABC-7806-D31F-6B1F33BFB929}"/>
              </a:ext>
            </a:extLst>
          </p:cNvPr>
          <p:cNvSpPr txBox="1"/>
          <p:nvPr/>
        </p:nvSpPr>
        <p:spPr>
          <a:xfrm>
            <a:off x="457464" y="4960436"/>
            <a:ext cx="4424183" cy="1323439"/>
          </a:xfrm>
          <a:prstGeom prst="rect">
            <a:avLst/>
          </a:prstGeom>
          <a:noFill/>
        </p:spPr>
        <p:txBody>
          <a:bodyPr wrap="square" rtlCol="0">
            <a:spAutoFit/>
          </a:bodyPr>
          <a:lstStyle/>
          <a:p>
            <a:r>
              <a:rPr lang="en-GB" sz="2000">
                <a:solidFill>
                  <a:srgbClr val="000000"/>
                </a:solidFill>
                <a:effectLst/>
                <a:latin typeface="Aptos" panose="020B0004020202020204" pitchFamily="34" charset="0"/>
              </a:rPr>
              <a:t>10% increase in revenue annually</a:t>
            </a:r>
          </a:p>
          <a:p>
            <a:pPr marL="285750" indent="-285750">
              <a:buFont typeface="Wingdings" pitchFamily="2" charset="2"/>
              <a:buChar char="è"/>
            </a:pPr>
            <a:r>
              <a:rPr lang="en-GB" sz="2000">
                <a:solidFill>
                  <a:srgbClr val="000000"/>
                </a:solidFill>
                <a:effectLst/>
                <a:latin typeface="Aptos" panose="020B0004020202020204" pitchFamily="34" charset="0"/>
              </a:rPr>
              <a:t>10,000€ saved for small farmers</a:t>
            </a:r>
          </a:p>
          <a:p>
            <a:pPr marL="285750" indent="-285750">
              <a:buFont typeface="Wingdings" pitchFamily="2" charset="2"/>
              <a:buChar char="è"/>
            </a:pPr>
            <a:r>
              <a:rPr lang="en-GB" sz="2000">
                <a:solidFill>
                  <a:srgbClr val="000000"/>
                </a:solidFill>
                <a:effectLst/>
                <a:latin typeface="Aptos" panose="020B0004020202020204" pitchFamily="34" charset="0"/>
              </a:rPr>
              <a:t>25,000€ saved for medium-sized farmers</a:t>
            </a:r>
          </a:p>
        </p:txBody>
      </p:sp>
      <p:sp>
        <p:nvSpPr>
          <p:cNvPr id="26" name="TextBox 25">
            <a:extLst>
              <a:ext uri="{FF2B5EF4-FFF2-40B4-BE49-F238E27FC236}">
                <a16:creationId xmlns:a16="http://schemas.microsoft.com/office/drawing/2014/main" id="{B3DA570E-279D-FAD7-94F4-CF9883F87F2D}"/>
              </a:ext>
            </a:extLst>
          </p:cNvPr>
          <p:cNvSpPr txBox="1"/>
          <p:nvPr/>
        </p:nvSpPr>
        <p:spPr>
          <a:xfrm>
            <a:off x="7392748" y="4865077"/>
            <a:ext cx="4490401" cy="1323439"/>
          </a:xfrm>
          <a:prstGeom prst="rect">
            <a:avLst/>
          </a:prstGeom>
          <a:noFill/>
        </p:spPr>
        <p:txBody>
          <a:bodyPr wrap="square" rtlCol="0">
            <a:spAutoFit/>
          </a:bodyPr>
          <a:lstStyle/>
          <a:p>
            <a:r>
              <a:rPr lang="en-GB" sz="2000">
                <a:solidFill>
                  <a:srgbClr val="000000"/>
                </a:solidFill>
                <a:effectLst/>
                <a:latin typeface="Aptos" panose="020B0004020202020204" pitchFamily="34" charset="0"/>
              </a:rPr>
              <a:t>Optimising water and fertiliser usage saves about</a:t>
            </a:r>
            <a:r>
              <a:rPr lang="en-GB" sz="2000">
                <a:solidFill>
                  <a:srgbClr val="FB0007"/>
                </a:solidFill>
                <a:effectLst/>
                <a:latin typeface="Aptos" panose="020B0004020202020204" pitchFamily="34" charset="0"/>
              </a:rPr>
              <a:t> </a:t>
            </a:r>
            <a:r>
              <a:rPr lang="en-GB" sz="2000">
                <a:solidFill>
                  <a:srgbClr val="000000"/>
                </a:solidFill>
                <a:effectLst/>
                <a:latin typeface="Aptos" panose="020B0004020202020204" pitchFamily="34" charset="0"/>
              </a:rPr>
              <a:t>15% of costs yearly</a:t>
            </a:r>
          </a:p>
          <a:p>
            <a:endParaRPr lang="en-GB" sz="2000">
              <a:solidFill>
                <a:srgbClr val="000000"/>
              </a:solidFill>
              <a:effectLst/>
              <a:latin typeface="Aptos" panose="020B0004020202020204" pitchFamily="34" charset="0"/>
            </a:endParaRPr>
          </a:p>
          <a:p>
            <a:pPr marL="285750" indent="-285750">
              <a:buFont typeface="Wingdings" pitchFamily="2" charset="2"/>
              <a:buChar char="è"/>
            </a:pPr>
            <a:r>
              <a:rPr lang="en-GB" sz="2000">
                <a:solidFill>
                  <a:srgbClr val="000000"/>
                </a:solidFill>
                <a:latin typeface="Aptos" panose="020B0004020202020204" pitchFamily="34" charset="0"/>
              </a:rPr>
              <a:t>Roughly </a:t>
            </a:r>
            <a:r>
              <a:rPr lang="en-GB" sz="2000">
                <a:solidFill>
                  <a:srgbClr val="000000"/>
                </a:solidFill>
                <a:effectLst/>
                <a:latin typeface="Aptos" panose="020B0004020202020204" pitchFamily="34" charset="0"/>
              </a:rPr>
              <a:t>2,000€ a year.</a:t>
            </a:r>
          </a:p>
        </p:txBody>
      </p:sp>
      <p:sp>
        <p:nvSpPr>
          <p:cNvPr id="4" name="Title 1">
            <a:extLst>
              <a:ext uri="{FF2B5EF4-FFF2-40B4-BE49-F238E27FC236}">
                <a16:creationId xmlns:a16="http://schemas.microsoft.com/office/drawing/2014/main" id="{59A0D59C-C0EA-FD50-5584-B9A185C0ABF8}"/>
              </a:ext>
            </a:extLst>
          </p:cNvPr>
          <p:cNvSpPr>
            <a:spLocks noGrp="1"/>
          </p:cNvSpPr>
          <p:nvPr>
            <p:ph type="title"/>
          </p:nvPr>
        </p:nvSpPr>
        <p:spPr>
          <a:xfrm>
            <a:off x="298330" y="380474"/>
            <a:ext cx="10515600" cy="365125"/>
          </a:xfrm>
        </p:spPr>
        <p:txBody>
          <a:bodyPr>
            <a:noAutofit/>
          </a:bodyPr>
          <a:lstStyle/>
          <a:p>
            <a:r>
              <a:rPr lang="en-US" noProof="0">
                <a:ea typeface="Calibri"/>
                <a:cs typeface="Calibri"/>
              </a:rPr>
              <a:t>Cost – Benefit Analysis</a:t>
            </a:r>
            <a:endParaRPr lang="en-US" noProof="0"/>
          </a:p>
        </p:txBody>
      </p:sp>
      <p:pic>
        <p:nvPicPr>
          <p:cNvPr id="5" name="Picture 4" descr="A pile of money on a black background&#10;&#10;AI-generated content may be incorrect.">
            <a:extLst>
              <a:ext uri="{FF2B5EF4-FFF2-40B4-BE49-F238E27FC236}">
                <a16:creationId xmlns:a16="http://schemas.microsoft.com/office/drawing/2014/main" id="{0DF9EF88-FE6B-0BDF-1F40-23C8FB2AED23}"/>
              </a:ext>
            </a:extLst>
          </p:cNvPr>
          <p:cNvPicPr>
            <a:picLocks noChangeAspect="1"/>
          </p:cNvPicPr>
          <p:nvPr/>
        </p:nvPicPr>
        <p:blipFill>
          <a:blip r:embed="rId3"/>
          <a:stretch>
            <a:fillRect/>
          </a:stretch>
        </p:blipFill>
        <p:spPr>
          <a:xfrm>
            <a:off x="3481991" y="1440023"/>
            <a:ext cx="2916000" cy="2916000"/>
          </a:xfrm>
          <a:prstGeom prst="rect">
            <a:avLst/>
          </a:prstGeom>
        </p:spPr>
      </p:pic>
      <p:pic>
        <p:nvPicPr>
          <p:cNvPr id="19" name="Picture 18" descr="A jar of savings&#10;&#10;AI-generated content may be incorrect.">
            <a:extLst>
              <a:ext uri="{FF2B5EF4-FFF2-40B4-BE49-F238E27FC236}">
                <a16:creationId xmlns:a16="http://schemas.microsoft.com/office/drawing/2014/main" id="{290D2152-6071-1D70-F931-B5C812F0088A}"/>
              </a:ext>
            </a:extLst>
          </p:cNvPr>
          <p:cNvPicPr>
            <a:picLocks noChangeAspect="1"/>
          </p:cNvPicPr>
          <p:nvPr/>
        </p:nvPicPr>
        <p:blipFill>
          <a:blip r:embed="rId4"/>
          <a:stretch>
            <a:fillRect/>
          </a:stretch>
        </p:blipFill>
        <p:spPr>
          <a:xfrm>
            <a:off x="10101039" y="1365124"/>
            <a:ext cx="2844000" cy="2844000"/>
          </a:xfrm>
          <a:prstGeom prst="rect">
            <a:avLst/>
          </a:prstGeom>
        </p:spPr>
      </p:pic>
      <p:pic>
        <p:nvPicPr>
          <p:cNvPr id="21" name="Picture 20" descr="A carrot and plant growing in a pot&#10;&#10;AI-generated content may be incorrect.">
            <a:extLst>
              <a:ext uri="{FF2B5EF4-FFF2-40B4-BE49-F238E27FC236}">
                <a16:creationId xmlns:a16="http://schemas.microsoft.com/office/drawing/2014/main" id="{DB894A04-C34A-D70C-333B-5064E549AC7A}"/>
              </a:ext>
            </a:extLst>
          </p:cNvPr>
          <p:cNvPicPr>
            <a:picLocks noChangeAspect="1"/>
          </p:cNvPicPr>
          <p:nvPr/>
        </p:nvPicPr>
        <p:blipFill>
          <a:blip r:embed="rId5"/>
          <a:stretch>
            <a:fillRect/>
          </a:stretch>
        </p:blipFill>
        <p:spPr>
          <a:xfrm>
            <a:off x="3241402" y="3996553"/>
            <a:ext cx="3579114" cy="3579114"/>
          </a:xfrm>
          <a:prstGeom prst="rect">
            <a:avLst/>
          </a:prstGeom>
        </p:spPr>
      </p:pic>
      <p:pic>
        <p:nvPicPr>
          <p:cNvPr id="23" name="Picture 22" descr="A bag of fertilizer and pile of dirt&#10;&#10;AI-generated content may be incorrect.">
            <a:extLst>
              <a:ext uri="{FF2B5EF4-FFF2-40B4-BE49-F238E27FC236}">
                <a16:creationId xmlns:a16="http://schemas.microsoft.com/office/drawing/2014/main" id="{B862C0D4-CBB2-6CCB-D3B4-3BF168CA0947}"/>
              </a:ext>
            </a:extLst>
          </p:cNvPr>
          <p:cNvPicPr>
            <a:picLocks noChangeAspect="1"/>
          </p:cNvPicPr>
          <p:nvPr/>
        </p:nvPicPr>
        <p:blipFill>
          <a:blip r:embed="rId6"/>
          <a:stretch>
            <a:fillRect/>
          </a:stretch>
        </p:blipFill>
        <p:spPr>
          <a:xfrm>
            <a:off x="10431473" y="4760077"/>
            <a:ext cx="2381250" cy="2381250"/>
          </a:xfrm>
          <a:prstGeom prst="rect">
            <a:avLst/>
          </a:prstGeom>
        </p:spPr>
      </p:pic>
    </p:spTree>
    <p:extLst>
      <p:ext uri="{BB962C8B-B14F-4D97-AF65-F5344CB8AC3E}">
        <p14:creationId xmlns:p14="http://schemas.microsoft.com/office/powerpoint/2010/main" val="537017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CE250A-6F2B-B3AC-19D9-5D264D2A4AA5}"/>
              </a:ext>
            </a:extLst>
          </p:cNvPr>
          <p:cNvSpPr/>
          <p:nvPr/>
        </p:nvSpPr>
        <p:spPr>
          <a:xfrm>
            <a:off x="7969713" y="3755571"/>
            <a:ext cx="3822249" cy="2016131"/>
          </a:xfrm>
          <a:prstGeom prst="rect">
            <a:avLst/>
          </a:prstGeom>
          <a:solidFill>
            <a:srgbClr val="8DC1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0">
                <a:solidFill>
                  <a:srgbClr val="000000"/>
                </a:solidFill>
                <a:latin typeface="Aptos" panose="020B0004020202020204" pitchFamily="34" charset="0"/>
                <a:ea typeface="Calibri"/>
                <a:cs typeface="Calibri"/>
              </a:rPr>
              <a:t>An</a:t>
            </a:r>
            <a:r>
              <a:rPr lang="en-GB" sz="2400">
                <a:solidFill>
                  <a:srgbClr val="000000"/>
                </a:solidFill>
                <a:effectLst/>
                <a:latin typeface="Aptos" panose="020B0004020202020204" pitchFamily="34" charset="0"/>
              </a:rPr>
              <a:t> affordable and feasible system</a:t>
            </a:r>
          </a:p>
          <a:p>
            <a:pPr algn="ctr"/>
            <a:r>
              <a:rPr lang="en-US" sz="2400" noProof="0">
                <a:solidFill>
                  <a:srgbClr val="000000"/>
                </a:solidFill>
                <a:latin typeface="Aptos" panose="020B0004020202020204" pitchFamily="34" charset="0"/>
                <a:ea typeface="Calibri"/>
                <a:cs typeface="Calibri"/>
              </a:rPr>
              <a:t>that makes farmers’ lives easier and their job sustainable</a:t>
            </a:r>
            <a:endParaRPr lang="en-US" noProof="0">
              <a:latin typeface="Aptos" panose="020B0004020202020204" pitchFamily="34" charset="0"/>
            </a:endParaRPr>
          </a:p>
        </p:txBody>
      </p:sp>
      <p:sp>
        <p:nvSpPr>
          <p:cNvPr id="5" name="Title 1">
            <a:extLst>
              <a:ext uri="{FF2B5EF4-FFF2-40B4-BE49-F238E27FC236}">
                <a16:creationId xmlns:a16="http://schemas.microsoft.com/office/drawing/2014/main" id="{2681FC4B-DB3A-616C-B038-F73B239664BB}"/>
              </a:ext>
            </a:extLst>
          </p:cNvPr>
          <p:cNvSpPr>
            <a:spLocks noGrp="1"/>
          </p:cNvSpPr>
          <p:nvPr>
            <p:ph type="title"/>
          </p:nvPr>
        </p:nvSpPr>
        <p:spPr>
          <a:xfrm>
            <a:off x="177753" y="203882"/>
            <a:ext cx="11159670" cy="1212050"/>
          </a:xfrm>
        </p:spPr>
        <p:txBody>
          <a:bodyPr>
            <a:noAutofit/>
          </a:bodyPr>
          <a:lstStyle/>
          <a:p>
            <a:r>
              <a:rPr lang="en-US" noProof="0">
                <a:ea typeface="Calibri"/>
                <a:cs typeface="Calibri"/>
              </a:rPr>
              <a:t>The long-term financial aspects that make drone implementation a game changer in agriculture</a:t>
            </a:r>
            <a:endParaRPr lang="en-US" noProof="0"/>
          </a:p>
        </p:txBody>
      </p:sp>
      <p:sp>
        <p:nvSpPr>
          <p:cNvPr id="6" name="Content Placeholder 2">
            <a:extLst>
              <a:ext uri="{FF2B5EF4-FFF2-40B4-BE49-F238E27FC236}">
                <a16:creationId xmlns:a16="http://schemas.microsoft.com/office/drawing/2014/main" id="{74CFA8F2-CAA3-0E3E-67EB-0CE392D2CDF3}"/>
              </a:ext>
            </a:extLst>
          </p:cNvPr>
          <p:cNvSpPr>
            <a:spLocks noGrp="1"/>
          </p:cNvSpPr>
          <p:nvPr>
            <p:ph idx="1"/>
          </p:nvPr>
        </p:nvSpPr>
        <p:spPr>
          <a:xfrm>
            <a:off x="1771545" y="2368840"/>
            <a:ext cx="5631299" cy="2618914"/>
          </a:xfrm>
        </p:spPr>
        <p:txBody>
          <a:bodyPr lIns="91440" tIns="45720" rIns="91440" bIns="45720" anchor="t">
            <a:normAutofit/>
          </a:bodyPr>
          <a:lstStyle/>
          <a:p>
            <a:pPr marL="0" indent="0">
              <a:lnSpc>
                <a:spcPct val="100000"/>
              </a:lnSpc>
              <a:spcBef>
                <a:spcPts val="0"/>
              </a:spcBef>
              <a:buNone/>
            </a:pPr>
            <a:r>
              <a:rPr lang="en-GB" sz="2000" b="1">
                <a:solidFill>
                  <a:srgbClr val="000000"/>
                </a:solidFill>
                <a:latin typeface="Aptos" panose="020B0004020202020204" pitchFamily="34" charset="0"/>
              </a:rPr>
              <a:t>B</a:t>
            </a:r>
            <a:r>
              <a:rPr lang="en-GB" sz="2000" b="1">
                <a:solidFill>
                  <a:srgbClr val="000000"/>
                </a:solidFill>
                <a:effectLst/>
                <a:latin typeface="Aptos" panose="020B0004020202020204" pitchFamily="34" charset="0"/>
              </a:rPr>
              <a:t>reak-even period </a:t>
            </a:r>
          </a:p>
          <a:p>
            <a:pPr marL="0" indent="0">
              <a:lnSpc>
                <a:spcPct val="100000"/>
              </a:lnSpc>
              <a:spcBef>
                <a:spcPts val="0"/>
              </a:spcBef>
              <a:buNone/>
            </a:pPr>
            <a:r>
              <a:rPr lang="en-GB" sz="2000" b="1">
                <a:solidFill>
                  <a:srgbClr val="000000"/>
                </a:solidFill>
                <a:latin typeface="Aptos" panose="020B0004020202020204" pitchFamily="34" charset="0"/>
              </a:rPr>
              <a:t>- </a:t>
            </a:r>
            <a:r>
              <a:rPr lang="en-GB" sz="2000">
                <a:solidFill>
                  <a:srgbClr val="000000"/>
                </a:solidFill>
                <a:effectLst/>
                <a:latin typeface="Aptos" panose="020B0004020202020204" pitchFamily="34" charset="0"/>
              </a:rPr>
              <a:t>for small farms is 8.6 months</a:t>
            </a:r>
          </a:p>
          <a:p>
            <a:pPr marL="0" indent="0">
              <a:lnSpc>
                <a:spcPct val="100000"/>
              </a:lnSpc>
              <a:spcBef>
                <a:spcPts val="0"/>
              </a:spcBef>
              <a:buNone/>
            </a:pPr>
            <a:r>
              <a:rPr lang="en-US" sz="2000">
                <a:latin typeface="Aptos" panose="020B0004020202020204" pitchFamily="34" charset="0"/>
                <a:cs typeface="Calibri"/>
              </a:rPr>
              <a:t>- </a:t>
            </a:r>
            <a:r>
              <a:rPr lang="en-GB" sz="2000">
                <a:solidFill>
                  <a:srgbClr val="000000"/>
                </a:solidFill>
                <a:effectLst/>
                <a:latin typeface="Aptos" panose="020B0004020202020204" pitchFamily="34" charset="0"/>
              </a:rPr>
              <a:t>for medium-sized farms is </a:t>
            </a:r>
            <a:r>
              <a:rPr lang="en-GB" sz="2000">
                <a:solidFill>
                  <a:srgbClr val="000000"/>
                </a:solidFill>
                <a:latin typeface="Aptos" panose="020B0004020202020204" pitchFamily="34" charset="0"/>
              </a:rPr>
              <a:t>3</a:t>
            </a:r>
            <a:r>
              <a:rPr lang="en-GB" sz="2000">
                <a:solidFill>
                  <a:srgbClr val="000000"/>
                </a:solidFill>
                <a:effectLst/>
                <a:latin typeface="Aptos" panose="020B0004020202020204" pitchFamily="34" charset="0"/>
              </a:rPr>
              <a:t>.7 months</a:t>
            </a:r>
          </a:p>
          <a:p>
            <a:pPr marL="0" indent="0">
              <a:buNone/>
            </a:pPr>
            <a:endParaRPr lang="en-US" sz="2000">
              <a:latin typeface="Aptos" panose="020B0004020202020204" pitchFamily="34" charset="0"/>
              <a:cs typeface="Calibri"/>
            </a:endParaRPr>
          </a:p>
          <a:p>
            <a:pPr marL="0" indent="0">
              <a:buNone/>
            </a:pPr>
            <a:r>
              <a:rPr lang="en-US" sz="2000" b="1">
                <a:latin typeface="Aptos" panose="020B0004020202020204" pitchFamily="34" charset="0"/>
                <a:cs typeface="Calibri"/>
              </a:rPr>
              <a:t>Double Initial Investment</a:t>
            </a:r>
          </a:p>
          <a:p>
            <a:pPr>
              <a:buFontTx/>
              <a:buChar char="-"/>
            </a:pPr>
            <a:r>
              <a:rPr lang="en-GB" sz="2000">
                <a:solidFill>
                  <a:srgbClr val="000000"/>
                </a:solidFill>
                <a:effectLst/>
                <a:latin typeface="Aptos" panose="020B0004020202020204" pitchFamily="34" charset="0"/>
              </a:rPr>
              <a:t>medium-sized </a:t>
            </a:r>
            <a:r>
              <a:rPr lang="en-GB" sz="2000">
                <a:solidFill>
                  <a:srgbClr val="000000"/>
                </a:solidFill>
                <a:latin typeface="Aptos" panose="020B0004020202020204" pitchFamily="34" charset="0"/>
              </a:rPr>
              <a:t>f</a:t>
            </a:r>
            <a:r>
              <a:rPr lang="en-GB" sz="2000">
                <a:solidFill>
                  <a:srgbClr val="000000"/>
                </a:solidFill>
                <a:effectLst/>
                <a:latin typeface="Aptos" panose="020B0004020202020204" pitchFamily="34" charset="0"/>
              </a:rPr>
              <a:t>armers within 8.5 months</a:t>
            </a:r>
          </a:p>
          <a:p>
            <a:pPr>
              <a:buFontTx/>
              <a:buChar char="-"/>
            </a:pPr>
            <a:r>
              <a:rPr lang="en-GB" sz="2000">
                <a:solidFill>
                  <a:srgbClr val="000000"/>
                </a:solidFill>
                <a:latin typeface="Aptos" panose="020B0004020202020204" pitchFamily="34" charset="0"/>
              </a:rPr>
              <a:t>small farmers </a:t>
            </a:r>
            <a:r>
              <a:rPr lang="en-GB" sz="2000">
                <a:solidFill>
                  <a:srgbClr val="000000"/>
                </a:solidFill>
                <a:effectLst/>
                <a:latin typeface="Aptos" panose="020B0004020202020204" pitchFamily="34" charset="0"/>
              </a:rPr>
              <a:t>within 1 year and 5 months</a:t>
            </a:r>
          </a:p>
        </p:txBody>
      </p:sp>
      <p:cxnSp>
        <p:nvCxnSpPr>
          <p:cNvPr id="13" name="Straight Arrow Connector 12">
            <a:extLst>
              <a:ext uri="{FF2B5EF4-FFF2-40B4-BE49-F238E27FC236}">
                <a16:creationId xmlns:a16="http://schemas.microsoft.com/office/drawing/2014/main" id="{4D4A51C9-9355-8A36-B912-AEC3DA86D84B}"/>
              </a:ext>
            </a:extLst>
          </p:cNvPr>
          <p:cNvCxnSpPr>
            <a:cxnSpLocks/>
          </p:cNvCxnSpPr>
          <p:nvPr/>
        </p:nvCxnSpPr>
        <p:spPr>
          <a:xfrm>
            <a:off x="6868281" y="1792224"/>
            <a:ext cx="57955" cy="4641225"/>
          </a:xfrm>
          <a:prstGeom prst="straightConnector1">
            <a:avLst/>
          </a:prstGeom>
          <a:ln w="57150">
            <a:solidFill>
              <a:srgbClr val="061F4A"/>
            </a:solidFill>
          </a:ln>
        </p:spPr>
        <p:style>
          <a:lnRef idx="1">
            <a:schemeClr val="accent1"/>
          </a:lnRef>
          <a:fillRef idx="0">
            <a:schemeClr val="accent1"/>
          </a:fillRef>
          <a:effectRef idx="0">
            <a:schemeClr val="accent1"/>
          </a:effectRef>
          <a:fontRef idx="minor">
            <a:schemeClr val="tx1"/>
          </a:fontRef>
        </p:style>
      </p:cxnSp>
      <p:sp>
        <p:nvSpPr>
          <p:cNvPr id="14" name="Arrow: Right 10">
            <a:extLst>
              <a:ext uri="{FF2B5EF4-FFF2-40B4-BE49-F238E27FC236}">
                <a16:creationId xmlns:a16="http://schemas.microsoft.com/office/drawing/2014/main" id="{A6D5E121-A8B5-5913-2D41-D280127A660D}"/>
              </a:ext>
            </a:extLst>
          </p:cNvPr>
          <p:cNvSpPr/>
          <p:nvPr/>
        </p:nvSpPr>
        <p:spPr>
          <a:xfrm>
            <a:off x="6896453" y="3926003"/>
            <a:ext cx="742048" cy="392025"/>
          </a:xfrm>
          <a:prstGeom prst="rightArrow">
            <a:avLst/>
          </a:prstGeom>
          <a:solidFill>
            <a:srgbClr val="061F4A"/>
          </a:solidFill>
          <a:ln>
            <a:solidFill>
              <a:srgbClr val="061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22" name="Picture 21" descr="A graphic with a dollar sign&#10;&#10;AI-generated content may be incorrect.">
            <a:extLst>
              <a:ext uri="{FF2B5EF4-FFF2-40B4-BE49-F238E27FC236}">
                <a16:creationId xmlns:a16="http://schemas.microsoft.com/office/drawing/2014/main" id="{4978AACD-C047-501C-0296-ACCE3F6FA8E7}"/>
              </a:ext>
            </a:extLst>
          </p:cNvPr>
          <p:cNvPicPr>
            <a:picLocks noChangeAspect="1"/>
          </p:cNvPicPr>
          <p:nvPr/>
        </p:nvPicPr>
        <p:blipFill>
          <a:blip r:embed="rId3"/>
          <a:stretch>
            <a:fillRect/>
          </a:stretch>
        </p:blipFill>
        <p:spPr>
          <a:xfrm>
            <a:off x="-692619" y="1098754"/>
            <a:ext cx="3334204" cy="3334204"/>
          </a:xfrm>
          <a:prstGeom prst="rect">
            <a:avLst/>
          </a:prstGeom>
        </p:spPr>
      </p:pic>
      <p:pic>
        <p:nvPicPr>
          <p:cNvPr id="24" name="Picture 23" descr="A stack of coins with leaves growing from them&#10;&#10;AI-generated content may be incorrect.">
            <a:extLst>
              <a:ext uri="{FF2B5EF4-FFF2-40B4-BE49-F238E27FC236}">
                <a16:creationId xmlns:a16="http://schemas.microsoft.com/office/drawing/2014/main" id="{8A06F4D6-66FE-AC07-DE50-336B3EF3CE8E}"/>
              </a:ext>
            </a:extLst>
          </p:cNvPr>
          <p:cNvPicPr>
            <a:picLocks noChangeAspect="1"/>
          </p:cNvPicPr>
          <p:nvPr/>
        </p:nvPicPr>
        <p:blipFill>
          <a:blip r:embed="rId4"/>
          <a:stretch>
            <a:fillRect/>
          </a:stretch>
        </p:blipFill>
        <p:spPr>
          <a:xfrm>
            <a:off x="-556134" y="2765856"/>
            <a:ext cx="3104344" cy="3104344"/>
          </a:xfrm>
          <a:prstGeom prst="rect">
            <a:avLst/>
          </a:prstGeom>
        </p:spPr>
      </p:pic>
      <p:pic>
        <p:nvPicPr>
          <p:cNvPr id="26" name="Picture 25" descr="A drone flying over plants&#10;&#10;AI-generated content may be incorrect.">
            <a:extLst>
              <a:ext uri="{FF2B5EF4-FFF2-40B4-BE49-F238E27FC236}">
                <a16:creationId xmlns:a16="http://schemas.microsoft.com/office/drawing/2014/main" id="{FAFF534B-B307-567E-676B-BA4BB7556385}"/>
              </a:ext>
            </a:extLst>
          </p:cNvPr>
          <p:cNvPicPr>
            <a:picLocks noChangeAspect="1"/>
          </p:cNvPicPr>
          <p:nvPr/>
        </p:nvPicPr>
        <p:blipFill>
          <a:blip r:embed="rId5"/>
          <a:stretch>
            <a:fillRect/>
          </a:stretch>
        </p:blipFill>
        <p:spPr>
          <a:xfrm>
            <a:off x="8477568" y="1321872"/>
            <a:ext cx="2859855" cy="2859855"/>
          </a:xfrm>
          <a:prstGeom prst="rect">
            <a:avLst/>
          </a:prstGeom>
        </p:spPr>
      </p:pic>
      <p:sp>
        <p:nvSpPr>
          <p:cNvPr id="27" name="Rectangle 26">
            <a:extLst>
              <a:ext uri="{FF2B5EF4-FFF2-40B4-BE49-F238E27FC236}">
                <a16:creationId xmlns:a16="http://schemas.microsoft.com/office/drawing/2014/main" id="{CE9268E9-5EE7-CA0B-17A2-CA51406EB98F}"/>
              </a:ext>
            </a:extLst>
          </p:cNvPr>
          <p:cNvSpPr/>
          <p:nvPr/>
        </p:nvSpPr>
        <p:spPr>
          <a:xfrm>
            <a:off x="9040305" y="2751799"/>
            <a:ext cx="1743959" cy="330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2159793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FC2B72-A87E-9C64-FEB8-72F82DB09506}"/>
              </a:ext>
            </a:extLst>
          </p:cNvPr>
          <p:cNvSpPr/>
          <p:nvPr/>
        </p:nvSpPr>
        <p:spPr>
          <a:xfrm>
            <a:off x="4089862" y="2640539"/>
            <a:ext cx="8233756" cy="631536"/>
          </a:xfrm>
          <a:prstGeom prst="rect">
            <a:avLst/>
          </a:prstGeom>
          <a:solidFill>
            <a:srgbClr val="061F4A"/>
          </a:solidFill>
          <a:ln>
            <a:solidFill>
              <a:srgbClr val="061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a:solidFill>
                  <a:schemeClr val="bg1"/>
                </a:solidFill>
                <a:effectLst/>
              </a:rPr>
              <a:t>Improving overall response time</a:t>
            </a:r>
          </a:p>
        </p:txBody>
      </p:sp>
      <p:sp>
        <p:nvSpPr>
          <p:cNvPr id="6" name="Rectangle 5">
            <a:extLst>
              <a:ext uri="{FF2B5EF4-FFF2-40B4-BE49-F238E27FC236}">
                <a16:creationId xmlns:a16="http://schemas.microsoft.com/office/drawing/2014/main" id="{5B62FB37-BA7F-B3E2-8475-4CA7A8520DFA}"/>
              </a:ext>
            </a:extLst>
          </p:cNvPr>
          <p:cNvSpPr/>
          <p:nvPr/>
        </p:nvSpPr>
        <p:spPr>
          <a:xfrm>
            <a:off x="1662545" y="1799585"/>
            <a:ext cx="10667950" cy="645288"/>
          </a:xfrm>
          <a:prstGeom prst="rect">
            <a:avLst/>
          </a:prstGeom>
          <a:solidFill>
            <a:srgbClr val="061F4A"/>
          </a:solidFill>
          <a:ln>
            <a:solidFill>
              <a:srgbClr val="061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a:solidFill>
                  <a:schemeClr val="bg1"/>
                </a:solidFill>
                <a:effectLst/>
              </a:rPr>
              <a:t>smarter farmer decisions due to data-driven decision-making</a:t>
            </a:r>
          </a:p>
        </p:txBody>
      </p:sp>
      <p:sp>
        <p:nvSpPr>
          <p:cNvPr id="7" name="Rectangle 6">
            <a:extLst>
              <a:ext uri="{FF2B5EF4-FFF2-40B4-BE49-F238E27FC236}">
                <a16:creationId xmlns:a16="http://schemas.microsoft.com/office/drawing/2014/main" id="{DE90186A-4F71-1CEF-171F-6D87D7B31AE2}"/>
              </a:ext>
            </a:extLst>
          </p:cNvPr>
          <p:cNvSpPr/>
          <p:nvPr/>
        </p:nvSpPr>
        <p:spPr>
          <a:xfrm>
            <a:off x="1053375" y="5973622"/>
            <a:ext cx="11280682" cy="672792"/>
          </a:xfrm>
          <a:prstGeom prst="rect">
            <a:avLst/>
          </a:prstGeom>
          <a:solidFill>
            <a:srgbClr val="061F4A"/>
          </a:solidFill>
          <a:ln>
            <a:solidFill>
              <a:srgbClr val="061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a:solidFill>
                  <a:schemeClr val="bg1"/>
                </a:solidFill>
                <a:effectLst/>
                <a:latin typeface="Aptos" panose="020B0004020202020204" pitchFamily="34" charset="0"/>
              </a:rPr>
              <a:t>Reduced chemical usage due to the optimised application of fertiliser and pesticides</a:t>
            </a:r>
          </a:p>
        </p:txBody>
      </p:sp>
      <p:sp>
        <p:nvSpPr>
          <p:cNvPr id="8" name="Rectangle 7">
            <a:extLst>
              <a:ext uri="{FF2B5EF4-FFF2-40B4-BE49-F238E27FC236}">
                <a16:creationId xmlns:a16="http://schemas.microsoft.com/office/drawing/2014/main" id="{7FF05700-4928-A350-87B2-7AD1113562EA}"/>
              </a:ext>
            </a:extLst>
          </p:cNvPr>
          <p:cNvSpPr/>
          <p:nvPr/>
        </p:nvSpPr>
        <p:spPr>
          <a:xfrm>
            <a:off x="1662545" y="5133875"/>
            <a:ext cx="10674825" cy="653411"/>
          </a:xfrm>
          <a:prstGeom prst="rect">
            <a:avLst/>
          </a:prstGeom>
          <a:solidFill>
            <a:srgbClr val="061F4A"/>
          </a:solidFill>
          <a:ln>
            <a:solidFill>
              <a:srgbClr val="061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noProof="0">
                <a:solidFill>
                  <a:schemeClr val="bg1"/>
                </a:solidFill>
                <a:ea typeface="Calibri"/>
                <a:cs typeface="Calibri"/>
              </a:rPr>
              <a:t>Time efficiency, as drones can cover larger areas faster than a manual inspector</a:t>
            </a:r>
            <a:endParaRPr lang="en-GB" sz="2400">
              <a:solidFill>
                <a:schemeClr val="bg1"/>
              </a:solidFill>
              <a:effectLst/>
              <a:latin typeface="Aptos" panose="020B0004020202020204" pitchFamily="34" charset="0"/>
            </a:endParaRPr>
          </a:p>
        </p:txBody>
      </p:sp>
      <p:sp>
        <p:nvSpPr>
          <p:cNvPr id="9" name="Rectangle 8">
            <a:extLst>
              <a:ext uri="{FF2B5EF4-FFF2-40B4-BE49-F238E27FC236}">
                <a16:creationId xmlns:a16="http://schemas.microsoft.com/office/drawing/2014/main" id="{30EBFAD9-1E4D-8A07-0174-6E5DDEF25935}"/>
              </a:ext>
            </a:extLst>
          </p:cNvPr>
          <p:cNvSpPr/>
          <p:nvPr/>
        </p:nvSpPr>
        <p:spPr>
          <a:xfrm>
            <a:off x="1052667" y="967652"/>
            <a:ext cx="11288017" cy="666164"/>
          </a:xfrm>
          <a:prstGeom prst="rect">
            <a:avLst/>
          </a:prstGeom>
          <a:solidFill>
            <a:srgbClr val="061F4A"/>
          </a:solidFill>
          <a:ln>
            <a:solidFill>
              <a:srgbClr val="061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a:solidFill>
                  <a:schemeClr val="bg1"/>
                </a:solidFill>
                <a:effectLst/>
                <a:latin typeface="Aptos" panose="020B0004020202020204" pitchFamily="34" charset="0"/>
              </a:rPr>
              <a:t>lower carbon footprint due to the reduced use of vehicle-based field inspections</a:t>
            </a:r>
          </a:p>
        </p:txBody>
      </p:sp>
      <p:sp>
        <p:nvSpPr>
          <p:cNvPr id="15" name="Title 1">
            <a:extLst>
              <a:ext uri="{FF2B5EF4-FFF2-40B4-BE49-F238E27FC236}">
                <a16:creationId xmlns:a16="http://schemas.microsoft.com/office/drawing/2014/main" id="{D9E87B24-8857-9A29-609B-80024C7120FA}"/>
              </a:ext>
            </a:extLst>
          </p:cNvPr>
          <p:cNvSpPr>
            <a:spLocks noGrp="1"/>
          </p:cNvSpPr>
          <p:nvPr>
            <p:ph type="title"/>
          </p:nvPr>
        </p:nvSpPr>
        <p:spPr>
          <a:xfrm>
            <a:off x="177753" y="-15574"/>
            <a:ext cx="11159670" cy="1212050"/>
          </a:xfrm>
        </p:spPr>
        <p:txBody>
          <a:bodyPr>
            <a:noAutofit/>
          </a:bodyPr>
          <a:lstStyle/>
          <a:p>
            <a:r>
              <a:rPr lang="en-US" noProof="0">
                <a:ea typeface="Calibri"/>
                <a:cs typeface="Calibri"/>
              </a:rPr>
              <a:t>Benefits</a:t>
            </a:r>
            <a:endParaRPr lang="en-US" noProof="0"/>
          </a:p>
        </p:txBody>
      </p:sp>
      <p:pic>
        <p:nvPicPr>
          <p:cNvPr id="16" name="Picture 15" descr="A drone flying over plants&#10;&#10;AI-generated content may be incorrect.">
            <a:extLst>
              <a:ext uri="{FF2B5EF4-FFF2-40B4-BE49-F238E27FC236}">
                <a16:creationId xmlns:a16="http://schemas.microsoft.com/office/drawing/2014/main" id="{092FA356-6611-EB1D-4B03-4CE42D4E7EFA}"/>
              </a:ext>
            </a:extLst>
          </p:cNvPr>
          <p:cNvPicPr>
            <a:picLocks noChangeAspect="1"/>
          </p:cNvPicPr>
          <p:nvPr/>
        </p:nvPicPr>
        <p:blipFill>
          <a:blip r:embed="rId3"/>
          <a:stretch>
            <a:fillRect/>
          </a:stretch>
        </p:blipFill>
        <p:spPr>
          <a:xfrm>
            <a:off x="177753" y="2390467"/>
            <a:ext cx="2859855" cy="2859855"/>
          </a:xfrm>
          <a:prstGeom prst="rect">
            <a:avLst/>
          </a:prstGeom>
        </p:spPr>
      </p:pic>
      <p:sp>
        <p:nvSpPr>
          <p:cNvPr id="17" name="Rectangle 16">
            <a:extLst>
              <a:ext uri="{FF2B5EF4-FFF2-40B4-BE49-F238E27FC236}">
                <a16:creationId xmlns:a16="http://schemas.microsoft.com/office/drawing/2014/main" id="{2B618EAE-7AC5-EF7D-E0E7-4B9784C0CF1B}"/>
              </a:ext>
            </a:extLst>
          </p:cNvPr>
          <p:cNvSpPr/>
          <p:nvPr/>
        </p:nvSpPr>
        <p:spPr>
          <a:xfrm>
            <a:off x="740490" y="3820394"/>
            <a:ext cx="1743959" cy="330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8" name="Rectangle 17">
            <a:extLst>
              <a:ext uri="{FF2B5EF4-FFF2-40B4-BE49-F238E27FC236}">
                <a16:creationId xmlns:a16="http://schemas.microsoft.com/office/drawing/2014/main" id="{6CF5F499-92B8-671D-19BC-CF48E416C58B}"/>
              </a:ext>
            </a:extLst>
          </p:cNvPr>
          <p:cNvSpPr/>
          <p:nvPr/>
        </p:nvSpPr>
        <p:spPr>
          <a:xfrm>
            <a:off x="4089862" y="4292555"/>
            <a:ext cx="8239852" cy="631536"/>
          </a:xfrm>
          <a:prstGeom prst="rect">
            <a:avLst/>
          </a:prstGeom>
          <a:solidFill>
            <a:srgbClr val="061F4A"/>
          </a:solidFill>
          <a:ln>
            <a:solidFill>
              <a:srgbClr val="061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a:solidFill>
                  <a:schemeClr val="bg1"/>
                </a:solidFill>
                <a:effectLst/>
                <a:latin typeface="Aptos" panose="020B0004020202020204" pitchFamily="34" charset="0"/>
              </a:rPr>
              <a:t>a competitive edge compared to competitors</a:t>
            </a:r>
          </a:p>
        </p:txBody>
      </p:sp>
      <p:sp>
        <p:nvSpPr>
          <p:cNvPr id="19" name="Rectangle 18">
            <a:extLst>
              <a:ext uri="{FF2B5EF4-FFF2-40B4-BE49-F238E27FC236}">
                <a16:creationId xmlns:a16="http://schemas.microsoft.com/office/drawing/2014/main" id="{15AE10D1-B17A-6210-1E53-90E6E60636D1}"/>
              </a:ext>
            </a:extLst>
          </p:cNvPr>
          <p:cNvSpPr/>
          <p:nvPr/>
        </p:nvSpPr>
        <p:spPr>
          <a:xfrm>
            <a:off x="5918662" y="3457403"/>
            <a:ext cx="6435436" cy="631536"/>
          </a:xfrm>
          <a:prstGeom prst="rect">
            <a:avLst/>
          </a:prstGeom>
          <a:solidFill>
            <a:srgbClr val="061F4A"/>
          </a:solidFill>
          <a:ln>
            <a:solidFill>
              <a:srgbClr val="061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a:solidFill>
                  <a:schemeClr val="bg1"/>
                </a:solidFill>
                <a:effectLst/>
                <a:latin typeface="Aptos" panose="020B0004020202020204" pitchFamily="34" charset="0"/>
              </a:rPr>
              <a:t>Water conservation</a:t>
            </a:r>
          </a:p>
        </p:txBody>
      </p:sp>
    </p:spTree>
    <p:extLst>
      <p:ext uri="{BB962C8B-B14F-4D97-AF65-F5344CB8AC3E}">
        <p14:creationId xmlns:p14="http://schemas.microsoft.com/office/powerpoint/2010/main" val="3242536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711D8-99EE-B202-F57C-0DB8E3406B97}"/>
              </a:ext>
            </a:extLst>
          </p:cNvPr>
          <p:cNvSpPr>
            <a:spLocks noGrp="1"/>
          </p:cNvSpPr>
          <p:nvPr>
            <p:ph type="title"/>
          </p:nvPr>
        </p:nvSpPr>
        <p:spPr>
          <a:xfrm>
            <a:off x="177753" y="-15574"/>
            <a:ext cx="11159670" cy="1212050"/>
          </a:xfrm>
        </p:spPr>
        <p:txBody>
          <a:bodyPr>
            <a:noAutofit/>
          </a:bodyPr>
          <a:lstStyle/>
          <a:p>
            <a:r>
              <a:rPr lang="en-US">
                <a:cs typeface="Calibri"/>
              </a:rPr>
              <a:t>Cost – Benefit Analysis Conclusion</a:t>
            </a:r>
            <a:endParaRPr lang="en-US" noProof="0"/>
          </a:p>
        </p:txBody>
      </p:sp>
      <p:grpSp>
        <p:nvGrpSpPr>
          <p:cNvPr id="4" name="Group 3">
            <a:extLst>
              <a:ext uri="{FF2B5EF4-FFF2-40B4-BE49-F238E27FC236}">
                <a16:creationId xmlns:a16="http://schemas.microsoft.com/office/drawing/2014/main" id="{B5E8338D-452E-7909-F327-889404B12E9A}"/>
              </a:ext>
            </a:extLst>
          </p:cNvPr>
          <p:cNvGrpSpPr/>
          <p:nvPr/>
        </p:nvGrpSpPr>
        <p:grpSpPr>
          <a:xfrm>
            <a:off x="852760" y="1564490"/>
            <a:ext cx="5397367" cy="4368477"/>
            <a:chOff x="466185" y="1198702"/>
            <a:chExt cx="4687542" cy="1729190"/>
          </a:xfrm>
        </p:grpSpPr>
        <p:sp>
          <p:nvSpPr>
            <p:cNvPr id="5" name="Rectangle 4">
              <a:extLst>
                <a:ext uri="{FF2B5EF4-FFF2-40B4-BE49-F238E27FC236}">
                  <a16:creationId xmlns:a16="http://schemas.microsoft.com/office/drawing/2014/main" id="{07D94C58-D136-FDC6-7A8F-9684C1051E2B}"/>
                </a:ext>
              </a:extLst>
            </p:cNvPr>
            <p:cNvSpPr/>
            <p:nvPr/>
          </p:nvSpPr>
          <p:spPr>
            <a:xfrm>
              <a:off x="466185" y="1198702"/>
              <a:ext cx="4687542" cy="288316"/>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noProof="0">
                  <a:ea typeface="Calibri"/>
                  <a:cs typeface="Calibri"/>
                </a:rPr>
                <a:t>Financial viability through…</a:t>
              </a:r>
              <a:endParaRPr lang="en-US" sz="2800" noProof="0">
                <a:cs typeface="Calibri"/>
              </a:endParaRPr>
            </a:p>
          </p:txBody>
        </p:sp>
        <p:sp>
          <p:nvSpPr>
            <p:cNvPr id="6" name="Rectangle 5">
              <a:extLst>
                <a:ext uri="{FF2B5EF4-FFF2-40B4-BE49-F238E27FC236}">
                  <a16:creationId xmlns:a16="http://schemas.microsoft.com/office/drawing/2014/main" id="{E672E379-AAF5-91F7-6D83-AF213A58B37A}"/>
                </a:ext>
              </a:extLst>
            </p:cNvPr>
            <p:cNvSpPr/>
            <p:nvPr/>
          </p:nvSpPr>
          <p:spPr>
            <a:xfrm>
              <a:off x="475681" y="1487018"/>
              <a:ext cx="4678046" cy="144087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buFontTx/>
                <a:buChar char="-"/>
              </a:pPr>
              <a:r>
                <a:rPr lang="en-IE" sz="2000">
                  <a:solidFill>
                    <a:srgbClr val="000000"/>
                  </a:solidFill>
                  <a:effectLst/>
                  <a:cs typeface="Aparajita" panose="02020603050405020304" pitchFamily="18" charset="0"/>
                </a:rPr>
                <a:t>market demand for precision agriculture</a:t>
              </a:r>
            </a:p>
            <a:p>
              <a:endParaRPr lang="en-IE" sz="2000">
                <a:solidFill>
                  <a:srgbClr val="000000"/>
                </a:solidFill>
                <a:effectLst/>
                <a:cs typeface="Aparajita" panose="02020603050405020304" pitchFamily="18" charset="0"/>
              </a:endParaRPr>
            </a:p>
            <a:p>
              <a:pPr marL="342900" indent="-342900">
                <a:buFontTx/>
                <a:buChar char="-"/>
              </a:pPr>
              <a:r>
                <a:rPr lang="en-IE" sz="2000">
                  <a:solidFill>
                    <a:srgbClr val="000000"/>
                  </a:solidFill>
                  <a:effectLst/>
                  <a:cs typeface="Aparajita" panose="02020603050405020304" pitchFamily="18" charset="0"/>
                </a:rPr>
                <a:t>a scalable pricing model, ensuring recurring revenue</a:t>
              </a:r>
            </a:p>
            <a:p>
              <a:pPr marL="342900" indent="-342900">
                <a:buFontTx/>
                <a:buChar char="-"/>
              </a:pPr>
              <a:endParaRPr lang="en-IE" sz="2000">
                <a:solidFill>
                  <a:srgbClr val="000000"/>
                </a:solidFill>
                <a:effectLst/>
                <a:cs typeface="Aparajita" panose="02020603050405020304" pitchFamily="18" charset="0"/>
              </a:endParaRPr>
            </a:p>
            <a:p>
              <a:pPr marL="342900" indent="-342900">
                <a:buFontTx/>
                <a:buChar char="-"/>
              </a:pPr>
              <a:r>
                <a:rPr lang="en-IE" sz="2000" noProof="0">
                  <a:solidFill>
                    <a:srgbClr val="000000"/>
                  </a:solidFill>
                  <a:ea typeface="Calibri" panose="020F0502020204030204"/>
                  <a:cs typeface="Aparajita" panose="02020603050405020304" pitchFamily="18" charset="0"/>
                </a:rPr>
                <a:t>demand for cost-efficient, climate-friendly solutions</a:t>
              </a:r>
              <a:endParaRPr lang="en-IE" sz="2000" noProof="0">
                <a:ea typeface="Calibri" panose="020F0502020204030204"/>
                <a:cs typeface="Aparajita" panose="02020603050405020304" pitchFamily="18" charset="0"/>
              </a:endParaRPr>
            </a:p>
          </p:txBody>
        </p:sp>
      </p:grpSp>
      <p:pic>
        <p:nvPicPr>
          <p:cNvPr id="12" name="Picture 11" descr="A drone flying over plants&#10;&#10;AI-generated content may be incorrect.">
            <a:extLst>
              <a:ext uri="{FF2B5EF4-FFF2-40B4-BE49-F238E27FC236}">
                <a16:creationId xmlns:a16="http://schemas.microsoft.com/office/drawing/2014/main" id="{64E0167E-D37F-F5E3-E247-FD074E13D9C6}"/>
              </a:ext>
            </a:extLst>
          </p:cNvPr>
          <p:cNvPicPr>
            <a:picLocks noChangeAspect="1"/>
          </p:cNvPicPr>
          <p:nvPr/>
        </p:nvPicPr>
        <p:blipFill>
          <a:blip r:embed="rId3"/>
          <a:stretch>
            <a:fillRect/>
          </a:stretch>
        </p:blipFill>
        <p:spPr>
          <a:xfrm>
            <a:off x="7624820" y="1793987"/>
            <a:ext cx="3712603" cy="3712603"/>
          </a:xfrm>
          <a:prstGeom prst="rect">
            <a:avLst/>
          </a:prstGeom>
        </p:spPr>
      </p:pic>
      <p:sp>
        <p:nvSpPr>
          <p:cNvPr id="13" name="Rectangle 12">
            <a:extLst>
              <a:ext uri="{FF2B5EF4-FFF2-40B4-BE49-F238E27FC236}">
                <a16:creationId xmlns:a16="http://schemas.microsoft.com/office/drawing/2014/main" id="{92B079E1-BF3B-4E42-C5FA-23040DE2BC63}"/>
              </a:ext>
            </a:extLst>
          </p:cNvPr>
          <p:cNvSpPr/>
          <p:nvPr/>
        </p:nvSpPr>
        <p:spPr>
          <a:xfrm>
            <a:off x="8254059" y="3629315"/>
            <a:ext cx="2263971" cy="3957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729393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2818F-43DF-6781-91E4-551E4FAE1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913ED-BFA1-49B7-F6BE-B21FC8C7E7E5}"/>
              </a:ext>
            </a:extLst>
          </p:cNvPr>
          <p:cNvSpPr>
            <a:spLocks noGrp="1"/>
          </p:cNvSpPr>
          <p:nvPr>
            <p:ph type="title"/>
          </p:nvPr>
        </p:nvSpPr>
        <p:spPr>
          <a:xfrm>
            <a:off x="1035003" y="311473"/>
            <a:ext cx="11159670" cy="1212050"/>
          </a:xfrm>
        </p:spPr>
        <p:txBody>
          <a:bodyPr>
            <a:noAutofit/>
          </a:bodyPr>
          <a:lstStyle/>
          <a:p>
            <a:r>
              <a:rPr lang="en-US" sz="3200">
                <a:solidFill>
                  <a:schemeClr val="tx1">
                    <a:lumMod val="76000"/>
                    <a:lumOff val="24000"/>
                  </a:schemeClr>
                </a:solidFill>
                <a:effectLst/>
                <a:latin typeface="Calibri"/>
                <a:ea typeface="Times New Roman" panose="02020603050405020304" pitchFamily="18" charset="0"/>
                <a:cs typeface="Arial"/>
              </a:rPr>
              <a:t>Risks and Assumptions</a:t>
            </a:r>
            <a:endParaRPr lang="en-US" sz="3200">
              <a:solidFill>
                <a:schemeClr val="tx1">
                  <a:lumMod val="76000"/>
                  <a:lumOff val="24000"/>
                </a:schemeClr>
              </a:solidFill>
              <a:effectLst/>
              <a:latin typeface="Arial" panose="020B0604020202020204" pitchFamily="34" charset="0"/>
              <a:ea typeface="Times New Roman" panose="02020603050405020304" pitchFamily="18" charset="0"/>
              <a:cs typeface="Arial"/>
            </a:endParaRPr>
          </a:p>
        </p:txBody>
      </p:sp>
      <p:pic>
        <p:nvPicPr>
          <p:cNvPr id="4" name="Picture 3" descr="A drone flying over plants&#10;&#10;AI-generated content may be incorrect.">
            <a:extLst>
              <a:ext uri="{FF2B5EF4-FFF2-40B4-BE49-F238E27FC236}">
                <a16:creationId xmlns:a16="http://schemas.microsoft.com/office/drawing/2014/main" id="{1FCA01E7-DEE8-2B23-6CCC-265A2B85585B}"/>
              </a:ext>
            </a:extLst>
          </p:cNvPr>
          <p:cNvPicPr>
            <a:picLocks noChangeAspect="1"/>
          </p:cNvPicPr>
          <p:nvPr/>
        </p:nvPicPr>
        <p:blipFill>
          <a:blip r:embed="rId3"/>
          <a:srcRect l="-399" t="-49931" r="-377" b="51861"/>
          <a:stretch/>
        </p:blipFill>
        <p:spPr>
          <a:xfrm>
            <a:off x="284160" y="-887148"/>
            <a:ext cx="5018238" cy="4835428"/>
          </a:xfrm>
          <a:prstGeom prst="rect">
            <a:avLst/>
          </a:prstGeom>
        </p:spPr>
      </p:pic>
      <p:graphicFrame>
        <p:nvGraphicFramePr>
          <p:cNvPr id="6" name="Diagram 5">
            <a:extLst>
              <a:ext uri="{FF2B5EF4-FFF2-40B4-BE49-F238E27FC236}">
                <a16:creationId xmlns:a16="http://schemas.microsoft.com/office/drawing/2014/main" id="{B8FCF519-058C-9D04-E5FE-3336E5A19058}"/>
              </a:ext>
            </a:extLst>
          </p:cNvPr>
          <p:cNvGraphicFramePr/>
          <p:nvPr>
            <p:extLst>
              <p:ext uri="{D42A27DB-BD31-4B8C-83A1-F6EECF244321}">
                <p14:modId xmlns:p14="http://schemas.microsoft.com/office/powerpoint/2010/main" val="1373495584"/>
              </p:ext>
            </p:extLst>
          </p:nvPr>
        </p:nvGraphicFramePr>
        <p:xfrm>
          <a:off x="4482285" y="308080"/>
          <a:ext cx="7209123" cy="60566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2" name="Graphic 11" descr="Lightning bolt with solid fill">
            <a:extLst>
              <a:ext uri="{FF2B5EF4-FFF2-40B4-BE49-F238E27FC236}">
                <a16:creationId xmlns:a16="http://schemas.microsoft.com/office/drawing/2014/main" id="{72D1842D-CC68-7569-5A43-1769EB61AA1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440000">
            <a:off x="2230394" y="1447801"/>
            <a:ext cx="1130643" cy="2994453"/>
          </a:xfrm>
          <a:prstGeom prst="rect">
            <a:avLst/>
          </a:prstGeom>
        </p:spPr>
      </p:pic>
    </p:spTree>
    <p:extLst>
      <p:ext uri="{BB962C8B-B14F-4D97-AF65-F5344CB8AC3E}">
        <p14:creationId xmlns:p14="http://schemas.microsoft.com/office/powerpoint/2010/main" val="345731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7D047-3061-E157-4A70-A728C2C97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51668-D600-56D8-B8B3-28BC66BFDA54}"/>
              </a:ext>
            </a:extLst>
          </p:cNvPr>
          <p:cNvSpPr>
            <a:spLocks noGrp="1"/>
          </p:cNvSpPr>
          <p:nvPr>
            <p:ph type="title"/>
          </p:nvPr>
        </p:nvSpPr>
        <p:spPr>
          <a:xfrm>
            <a:off x="177753" y="-15574"/>
            <a:ext cx="11159670" cy="1212050"/>
          </a:xfrm>
        </p:spPr>
        <p:txBody>
          <a:bodyPr>
            <a:noAutofit/>
          </a:bodyPr>
          <a:lstStyle/>
          <a:p>
            <a:r>
              <a:rPr lang="en-US" sz="3200" dirty="0">
                <a:solidFill>
                  <a:srgbClr val="000000"/>
                </a:solidFill>
                <a:latin typeface="Calibri"/>
                <a:cs typeface="Arial"/>
              </a:rPr>
              <a:t>Recommendation</a:t>
            </a:r>
            <a:endParaRPr lang="en-US" sz="3200" dirty="0">
              <a:solidFill>
                <a:srgbClr val="094329"/>
              </a:solidFill>
              <a:latin typeface="Arial"/>
              <a:cs typeface="Arial"/>
            </a:endParaRPr>
          </a:p>
        </p:txBody>
      </p:sp>
      <p:graphicFrame>
        <p:nvGraphicFramePr>
          <p:cNvPr id="15" name="Diagram 14">
            <a:extLst>
              <a:ext uri="{FF2B5EF4-FFF2-40B4-BE49-F238E27FC236}">
                <a16:creationId xmlns:a16="http://schemas.microsoft.com/office/drawing/2014/main" id="{032DAA37-40F6-11A9-15AE-1AFA714F1143}"/>
              </a:ext>
            </a:extLst>
          </p:cNvPr>
          <p:cNvGraphicFramePr/>
          <p:nvPr>
            <p:extLst>
              <p:ext uri="{D42A27DB-BD31-4B8C-83A1-F6EECF244321}">
                <p14:modId xmlns:p14="http://schemas.microsoft.com/office/powerpoint/2010/main" val="3519264714"/>
              </p:ext>
            </p:extLst>
          </p:nvPr>
        </p:nvGraphicFramePr>
        <p:xfrm>
          <a:off x="1082565" y="31723"/>
          <a:ext cx="10026869" cy="68735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7544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5713D-971F-8C25-646D-96145CADD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0A365-F9F7-7409-FB73-8B07B6A0C59F}"/>
              </a:ext>
            </a:extLst>
          </p:cNvPr>
          <p:cNvSpPr>
            <a:spLocks noGrp="1"/>
          </p:cNvSpPr>
          <p:nvPr>
            <p:ph type="title"/>
          </p:nvPr>
        </p:nvSpPr>
        <p:spPr>
          <a:xfrm>
            <a:off x="177753" y="-15574"/>
            <a:ext cx="11159670" cy="1212050"/>
          </a:xfrm>
        </p:spPr>
        <p:txBody>
          <a:bodyPr>
            <a:noAutofit/>
          </a:bodyPr>
          <a:lstStyle/>
          <a:p>
            <a:r>
              <a:rPr lang="en-US" sz="3200">
                <a:solidFill>
                  <a:srgbClr val="000000"/>
                </a:solidFill>
                <a:latin typeface="Calibri"/>
                <a:ea typeface="Calibri"/>
                <a:cs typeface="Arial"/>
              </a:rPr>
              <a:t>Benefits &amp; Market Opportunities</a:t>
            </a:r>
            <a:endParaRPr lang="en-US" err="1"/>
          </a:p>
        </p:txBody>
      </p:sp>
      <p:graphicFrame>
        <p:nvGraphicFramePr>
          <p:cNvPr id="1044" name="Diagram 1043">
            <a:extLst>
              <a:ext uri="{FF2B5EF4-FFF2-40B4-BE49-F238E27FC236}">
                <a16:creationId xmlns:a16="http://schemas.microsoft.com/office/drawing/2014/main" id="{00F38841-E982-B10A-F70F-B6B91A7C2868}"/>
              </a:ext>
            </a:extLst>
          </p:cNvPr>
          <p:cNvGraphicFramePr/>
          <p:nvPr>
            <p:extLst>
              <p:ext uri="{D42A27DB-BD31-4B8C-83A1-F6EECF244321}">
                <p14:modId xmlns:p14="http://schemas.microsoft.com/office/powerpoint/2010/main" val="3059508965"/>
              </p:ext>
            </p:extLst>
          </p:nvPr>
        </p:nvGraphicFramePr>
        <p:xfrm>
          <a:off x="2827869" y="1199445"/>
          <a:ext cx="5858932" cy="4667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02360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75401-3EF4-C61B-8103-B3D2740D6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869D9-3EBE-F197-886E-9F71F1C763A2}"/>
              </a:ext>
            </a:extLst>
          </p:cNvPr>
          <p:cNvSpPr>
            <a:spLocks noGrp="1"/>
          </p:cNvSpPr>
          <p:nvPr>
            <p:ph type="title"/>
          </p:nvPr>
        </p:nvSpPr>
        <p:spPr>
          <a:xfrm>
            <a:off x="177753" y="-15574"/>
            <a:ext cx="11159670" cy="1212050"/>
          </a:xfrm>
        </p:spPr>
        <p:txBody>
          <a:bodyPr>
            <a:noAutofit/>
          </a:bodyPr>
          <a:lstStyle/>
          <a:p>
            <a:r>
              <a:rPr lang="en-US" sz="3200">
                <a:solidFill>
                  <a:srgbClr val="000000"/>
                </a:solidFill>
                <a:latin typeface="Calibri"/>
                <a:ea typeface="Calibri"/>
                <a:cs typeface="Arial"/>
              </a:rPr>
              <a:t>Implementation Timeline &amp; Compliance</a:t>
            </a:r>
            <a:endParaRPr lang="en-US"/>
          </a:p>
        </p:txBody>
      </p:sp>
      <p:graphicFrame>
        <p:nvGraphicFramePr>
          <p:cNvPr id="4" name="Diagram 3">
            <a:extLst>
              <a:ext uri="{FF2B5EF4-FFF2-40B4-BE49-F238E27FC236}">
                <a16:creationId xmlns:a16="http://schemas.microsoft.com/office/drawing/2014/main" id="{5DB0A0D9-FD4D-8B59-B207-0134EF2353D8}"/>
              </a:ext>
            </a:extLst>
          </p:cNvPr>
          <p:cNvGraphicFramePr/>
          <p:nvPr>
            <p:extLst>
              <p:ext uri="{D42A27DB-BD31-4B8C-83A1-F6EECF244321}">
                <p14:modId xmlns:p14="http://schemas.microsoft.com/office/powerpoint/2010/main" val="1603130979"/>
              </p:ext>
            </p:extLst>
          </p:nvPr>
        </p:nvGraphicFramePr>
        <p:xfrm>
          <a:off x="3251200" y="1154289"/>
          <a:ext cx="5689600" cy="45494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93" name="TextBox 892">
            <a:extLst>
              <a:ext uri="{FF2B5EF4-FFF2-40B4-BE49-F238E27FC236}">
                <a16:creationId xmlns:a16="http://schemas.microsoft.com/office/drawing/2014/main" id="{1E7F1E7F-D2FE-058F-4C99-00CD67F6EC76}"/>
              </a:ext>
            </a:extLst>
          </p:cNvPr>
          <p:cNvSpPr txBox="1"/>
          <p:nvPr/>
        </p:nvSpPr>
        <p:spPr>
          <a:xfrm>
            <a:off x="282222" y="5791200"/>
            <a:ext cx="528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t>Ensuring smooth execution with key phases..</a:t>
            </a:r>
          </a:p>
        </p:txBody>
      </p:sp>
    </p:spTree>
    <p:extLst>
      <p:ext uri="{BB962C8B-B14F-4D97-AF65-F5344CB8AC3E}">
        <p14:creationId xmlns:p14="http://schemas.microsoft.com/office/powerpoint/2010/main" val="91466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3F51B-51F3-8721-8571-87777B1CA652}"/>
            </a:ext>
          </a:extLst>
        </p:cNvPr>
        <p:cNvGrpSpPr/>
        <p:nvPr/>
      </p:nvGrpSpPr>
      <p:grpSpPr>
        <a:xfrm>
          <a:off x="0" y="0"/>
          <a:ext cx="0" cy="0"/>
          <a:chOff x="0" y="0"/>
          <a:chExt cx="0" cy="0"/>
        </a:xfrm>
      </p:grpSpPr>
      <p:sp>
        <p:nvSpPr>
          <p:cNvPr id="1149" name="TextBox 1148">
            <a:extLst>
              <a:ext uri="{FF2B5EF4-FFF2-40B4-BE49-F238E27FC236}">
                <a16:creationId xmlns:a16="http://schemas.microsoft.com/office/drawing/2014/main" id="{D6402CF8-BA02-9DE5-454B-7D6ECE0FCC28}"/>
              </a:ext>
            </a:extLst>
          </p:cNvPr>
          <p:cNvSpPr txBox="1"/>
          <p:nvPr/>
        </p:nvSpPr>
        <p:spPr>
          <a:xfrm>
            <a:off x="719998" y="257318"/>
            <a:ext cx="369702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rgbClr val="000000"/>
                </a:solidFill>
                <a:latin typeface="Calibri"/>
                <a:ea typeface="Calibri"/>
                <a:cs typeface="Arial"/>
              </a:rPr>
              <a:t>Impact analysis</a:t>
            </a:r>
          </a:p>
        </p:txBody>
      </p:sp>
      <p:grpSp>
        <p:nvGrpSpPr>
          <p:cNvPr id="2" name="Group 1">
            <a:extLst>
              <a:ext uri="{FF2B5EF4-FFF2-40B4-BE49-F238E27FC236}">
                <a16:creationId xmlns:a16="http://schemas.microsoft.com/office/drawing/2014/main" id="{9CD1ACF4-E417-EA9C-AEE4-BC070CA97E1F}"/>
              </a:ext>
            </a:extLst>
          </p:cNvPr>
          <p:cNvGrpSpPr/>
          <p:nvPr/>
        </p:nvGrpSpPr>
        <p:grpSpPr>
          <a:xfrm>
            <a:off x="784475" y="1132569"/>
            <a:ext cx="4879040" cy="2540448"/>
            <a:chOff x="467763" y="1001228"/>
            <a:chExt cx="4687542" cy="1711259"/>
          </a:xfrm>
        </p:grpSpPr>
        <p:sp>
          <p:nvSpPr>
            <p:cNvPr id="3" name="Rectangle 2">
              <a:extLst>
                <a:ext uri="{FF2B5EF4-FFF2-40B4-BE49-F238E27FC236}">
                  <a16:creationId xmlns:a16="http://schemas.microsoft.com/office/drawing/2014/main" id="{D46D62C2-9056-D079-AD80-CA53EAB540F0}"/>
                </a:ext>
              </a:extLst>
            </p:cNvPr>
            <p:cNvSpPr/>
            <p:nvPr/>
          </p:nvSpPr>
          <p:spPr>
            <a:xfrm>
              <a:off x="467763" y="1001228"/>
              <a:ext cx="4687542" cy="339114"/>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Economic</a:t>
              </a:r>
              <a:endParaRPr lang="en-US" noProof="0" dirty="0">
                <a:cs typeface="Calibri"/>
              </a:endParaRPr>
            </a:p>
          </p:txBody>
        </p:sp>
        <p:sp>
          <p:nvSpPr>
            <p:cNvPr id="4" name="Rectangle 3">
              <a:extLst>
                <a:ext uri="{FF2B5EF4-FFF2-40B4-BE49-F238E27FC236}">
                  <a16:creationId xmlns:a16="http://schemas.microsoft.com/office/drawing/2014/main" id="{E3A82570-145A-9F56-8946-91130950EB5D}"/>
                </a:ext>
              </a:extLst>
            </p:cNvPr>
            <p:cNvSpPr/>
            <p:nvPr/>
          </p:nvSpPr>
          <p:spPr>
            <a:xfrm>
              <a:off x="475681" y="1340342"/>
              <a:ext cx="4678045" cy="1372145"/>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rtl="0">
                <a:buFontTx/>
                <a:buChar char="-"/>
              </a:pPr>
              <a:r>
                <a:rPr lang="en-US" dirty="0">
                  <a:solidFill>
                    <a:schemeClr val="tx1"/>
                  </a:solidFill>
                </a:rPr>
                <a:t>Cost savings: €10,000-€25,000 </a:t>
              </a:r>
              <a:r>
                <a:rPr lang="en-US" dirty="0">
                  <a:solidFill>
                    <a:schemeClr val="tx1"/>
                  </a:solidFill>
                  <a:latin typeface="Aptos Display" panose="02110004020202020204"/>
                </a:rPr>
                <a:t>annually</a:t>
              </a:r>
            </a:p>
            <a:p>
              <a:pPr marL="285750" lvl="0" indent="-285750" algn="l" rtl="0">
                <a:buFontTx/>
                <a:buChar char="-"/>
              </a:pPr>
              <a:r>
                <a:rPr lang="en-US" dirty="0">
                  <a:solidFill>
                    <a:schemeClr val="tx1"/>
                  </a:solidFill>
                  <a:latin typeface="Aptos Display" panose="02110004020202020204"/>
                </a:rPr>
                <a:t>Labor</a:t>
              </a:r>
              <a:r>
                <a:rPr lang="en-US" dirty="0">
                  <a:solidFill>
                    <a:schemeClr val="tx1"/>
                  </a:solidFill>
                </a:rPr>
                <a:t> efficiency: 40-60% less inspection time</a:t>
              </a:r>
            </a:p>
            <a:p>
              <a:pPr marL="285750" lvl="0" indent="-285750" algn="l" rtl="0">
                <a:buFontTx/>
                <a:buChar char="-"/>
              </a:pPr>
              <a:r>
                <a:rPr lang="en-US" dirty="0">
                  <a:solidFill>
                    <a:schemeClr val="tx1"/>
                  </a:solidFill>
                </a:rPr>
                <a:t>Resource </a:t>
              </a:r>
              <a:r>
                <a:rPr lang="en-US" dirty="0" err="1">
                  <a:solidFill>
                    <a:schemeClr val="tx1"/>
                  </a:solidFill>
                </a:rPr>
                <a:t>optimisation</a:t>
              </a:r>
              <a:r>
                <a:rPr lang="en-US" dirty="0">
                  <a:solidFill>
                    <a:schemeClr val="tx1"/>
                  </a:solidFill>
                </a:rPr>
                <a:t>: 15% savings in water/</a:t>
              </a:r>
              <a:r>
                <a:rPr lang="en-US" dirty="0" err="1">
                  <a:solidFill>
                    <a:schemeClr val="tx1"/>
                  </a:solidFill>
                  <a:latin typeface="Aptos Display" panose="02110004020202020204"/>
                </a:rPr>
                <a:t>fertiliser</a:t>
              </a:r>
              <a:endParaRPr lang="en-US" dirty="0">
                <a:solidFill>
                  <a:schemeClr val="tx1"/>
                </a:solidFill>
                <a:latin typeface="Aptos Display" panose="02110004020202020204"/>
              </a:endParaRPr>
            </a:p>
            <a:p>
              <a:pPr marL="285750" lvl="0" indent="-285750" algn="l" rtl="0">
                <a:buFontTx/>
                <a:buChar char="-"/>
              </a:pPr>
              <a:r>
                <a:rPr lang="en-US" dirty="0">
                  <a:solidFill>
                    <a:schemeClr val="tx1"/>
                  </a:solidFill>
                  <a:latin typeface="Aptos Display" panose="02110004020202020204"/>
                </a:rPr>
                <a:t>Higher</a:t>
              </a:r>
              <a:r>
                <a:rPr lang="en-US" dirty="0">
                  <a:solidFill>
                    <a:schemeClr val="tx1"/>
                  </a:solidFill>
                </a:rPr>
                <a:t> yields from early issue detection</a:t>
              </a:r>
            </a:p>
          </p:txBody>
        </p:sp>
      </p:grpSp>
      <p:grpSp>
        <p:nvGrpSpPr>
          <p:cNvPr id="5" name="Group 4">
            <a:extLst>
              <a:ext uri="{FF2B5EF4-FFF2-40B4-BE49-F238E27FC236}">
                <a16:creationId xmlns:a16="http://schemas.microsoft.com/office/drawing/2014/main" id="{886FE628-A406-31C1-66EE-FD5AE90F226F}"/>
              </a:ext>
            </a:extLst>
          </p:cNvPr>
          <p:cNvGrpSpPr/>
          <p:nvPr/>
        </p:nvGrpSpPr>
        <p:grpSpPr>
          <a:xfrm>
            <a:off x="791519" y="3947612"/>
            <a:ext cx="4879040" cy="2413014"/>
            <a:chOff x="467763" y="1001228"/>
            <a:chExt cx="4687542" cy="2112881"/>
          </a:xfrm>
        </p:grpSpPr>
        <p:sp>
          <p:nvSpPr>
            <p:cNvPr id="6" name="Rectangle 5">
              <a:extLst>
                <a:ext uri="{FF2B5EF4-FFF2-40B4-BE49-F238E27FC236}">
                  <a16:creationId xmlns:a16="http://schemas.microsoft.com/office/drawing/2014/main" id="{C5B0AC47-F3E5-27FB-C651-8DF1310974AB}"/>
                </a:ext>
              </a:extLst>
            </p:cNvPr>
            <p:cNvSpPr/>
            <p:nvPr/>
          </p:nvSpPr>
          <p:spPr>
            <a:xfrm>
              <a:off x="467763" y="1001228"/>
              <a:ext cx="4687542" cy="339114"/>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Social</a:t>
              </a:r>
              <a:endParaRPr lang="en-US" noProof="0" dirty="0">
                <a:cs typeface="Calibri"/>
              </a:endParaRPr>
            </a:p>
          </p:txBody>
        </p:sp>
        <p:sp>
          <p:nvSpPr>
            <p:cNvPr id="7" name="Rectangle 6">
              <a:extLst>
                <a:ext uri="{FF2B5EF4-FFF2-40B4-BE49-F238E27FC236}">
                  <a16:creationId xmlns:a16="http://schemas.microsoft.com/office/drawing/2014/main" id="{D9066FC3-0EBB-D568-775C-C9A3FAEDB4B5}"/>
                </a:ext>
              </a:extLst>
            </p:cNvPr>
            <p:cNvSpPr/>
            <p:nvPr/>
          </p:nvSpPr>
          <p:spPr>
            <a:xfrm>
              <a:off x="475681" y="1340342"/>
              <a:ext cx="4678045" cy="1773767"/>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a:buFontTx/>
                <a:buChar char="-"/>
              </a:pPr>
              <a:r>
                <a:rPr lang="en-US" dirty="0">
                  <a:solidFill>
                    <a:schemeClr val="tx1"/>
                  </a:solidFill>
                </a:rPr>
                <a:t>Addressing aging farmer population</a:t>
              </a:r>
            </a:p>
            <a:p>
              <a:pPr marL="285750" lvl="0" indent="-285750" algn="l">
                <a:buFontTx/>
                <a:buChar char="-"/>
              </a:pPr>
              <a:r>
                <a:rPr lang="en-US" dirty="0">
                  <a:solidFill>
                    <a:schemeClr val="tx1"/>
                  </a:solidFill>
                </a:rPr>
                <a:t>Attracting younger generation to agriculture</a:t>
              </a:r>
            </a:p>
            <a:p>
              <a:pPr marL="285750" lvl="0" indent="-285750" algn="l">
                <a:buFontTx/>
                <a:buChar char="-"/>
              </a:pPr>
              <a:r>
                <a:rPr lang="en-US" dirty="0">
                  <a:solidFill>
                    <a:schemeClr val="tx1"/>
                  </a:solidFill>
                </a:rPr>
                <a:t>New skilled job creation in rural areas</a:t>
              </a:r>
            </a:p>
            <a:p>
              <a:pPr marL="285750" lvl="0" indent="-285750" algn="l">
                <a:buFontTx/>
                <a:buChar char="-"/>
              </a:pPr>
              <a:r>
                <a:rPr lang="en-US" dirty="0">
                  <a:solidFill>
                    <a:schemeClr val="tx1"/>
                  </a:solidFill>
                </a:rPr>
                <a:t>Knowledge transfer through training</a:t>
              </a:r>
            </a:p>
          </p:txBody>
        </p:sp>
      </p:grpSp>
      <p:grpSp>
        <p:nvGrpSpPr>
          <p:cNvPr id="8" name="Group 7">
            <a:extLst>
              <a:ext uri="{FF2B5EF4-FFF2-40B4-BE49-F238E27FC236}">
                <a16:creationId xmlns:a16="http://schemas.microsoft.com/office/drawing/2014/main" id="{FFA57CDB-E964-1A1B-E623-F2F283524A90}"/>
              </a:ext>
            </a:extLst>
          </p:cNvPr>
          <p:cNvGrpSpPr/>
          <p:nvPr/>
        </p:nvGrpSpPr>
        <p:grpSpPr>
          <a:xfrm>
            <a:off x="6267948" y="1132569"/>
            <a:ext cx="5486399" cy="2553997"/>
            <a:chOff x="467763" y="1001228"/>
            <a:chExt cx="4687542" cy="2062236"/>
          </a:xfrm>
        </p:grpSpPr>
        <p:sp>
          <p:nvSpPr>
            <p:cNvPr id="9" name="Rectangle 8">
              <a:extLst>
                <a:ext uri="{FF2B5EF4-FFF2-40B4-BE49-F238E27FC236}">
                  <a16:creationId xmlns:a16="http://schemas.microsoft.com/office/drawing/2014/main" id="{E4C03E06-9398-3A8A-FA73-93C497E79E57}"/>
                </a:ext>
              </a:extLst>
            </p:cNvPr>
            <p:cNvSpPr/>
            <p:nvPr/>
          </p:nvSpPr>
          <p:spPr>
            <a:xfrm>
              <a:off x="467763" y="1001228"/>
              <a:ext cx="4687542" cy="339114"/>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Environmental</a:t>
              </a:r>
              <a:endParaRPr lang="en-US" noProof="0" dirty="0">
                <a:cs typeface="Calibri"/>
              </a:endParaRPr>
            </a:p>
          </p:txBody>
        </p:sp>
        <p:sp>
          <p:nvSpPr>
            <p:cNvPr id="10" name="Rectangle 9">
              <a:extLst>
                <a:ext uri="{FF2B5EF4-FFF2-40B4-BE49-F238E27FC236}">
                  <a16:creationId xmlns:a16="http://schemas.microsoft.com/office/drawing/2014/main" id="{AC8DA333-CA4D-816B-1B45-97AE62B69BA3}"/>
                </a:ext>
              </a:extLst>
            </p:cNvPr>
            <p:cNvSpPr/>
            <p:nvPr/>
          </p:nvSpPr>
          <p:spPr>
            <a:xfrm>
              <a:off x="475681" y="1340342"/>
              <a:ext cx="4678045" cy="1723122"/>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a:buFontTx/>
                <a:buChar char="-"/>
              </a:pPr>
              <a:r>
                <a:rPr lang="en-US" dirty="0">
                  <a:solidFill>
                    <a:schemeClr val="tx1"/>
                  </a:solidFill>
                </a:rPr>
                <a:t>Reduced chemical use: 20-30% less pesticides</a:t>
              </a:r>
            </a:p>
            <a:p>
              <a:pPr marL="285750" lvl="0" indent="-285750" algn="l">
                <a:buFontTx/>
                <a:buChar char="-"/>
              </a:pPr>
              <a:r>
                <a:rPr lang="en-US" dirty="0">
                  <a:solidFill>
                    <a:schemeClr val="tx1"/>
                  </a:solidFill>
                </a:rPr>
                <a:t>Lower carbon footprint from fewer field inspections</a:t>
              </a:r>
            </a:p>
            <a:p>
              <a:pPr marL="285750" lvl="0" indent="-285750" algn="l">
                <a:buFontTx/>
                <a:buChar char="-"/>
              </a:pPr>
              <a:r>
                <a:rPr lang="en-US" dirty="0">
                  <a:solidFill>
                    <a:schemeClr val="tx1"/>
                  </a:solidFill>
                </a:rPr>
                <a:t>Water conservation through precision irrigation</a:t>
              </a:r>
            </a:p>
            <a:p>
              <a:pPr marL="285750" lvl="0" indent="-285750" algn="l">
                <a:buFontTx/>
                <a:buChar char="-"/>
              </a:pPr>
              <a:r>
                <a:rPr lang="en-US" dirty="0">
                  <a:solidFill>
                    <a:schemeClr val="tx1"/>
                  </a:solidFill>
                </a:rPr>
                <a:t>Support for EU's 55% emissions reduction goal</a:t>
              </a:r>
            </a:p>
          </p:txBody>
        </p:sp>
      </p:grpSp>
      <p:grpSp>
        <p:nvGrpSpPr>
          <p:cNvPr id="11" name="Group 10">
            <a:extLst>
              <a:ext uri="{FF2B5EF4-FFF2-40B4-BE49-F238E27FC236}">
                <a16:creationId xmlns:a16="http://schemas.microsoft.com/office/drawing/2014/main" id="{72AE8F5A-3924-FB47-B211-E41BDAB87AE4}"/>
              </a:ext>
            </a:extLst>
          </p:cNvPr>
          <p:cNvGrpSpPr/>
          <p:nvPr/>
        </p:nvGrpSpPr>
        <p:grpSpPr>
          <a:xfrm>
            <a:off x="6267948" y="3947612"/>
            <a:ext cx="5484551" cy="2355175"/>
            <a:chOff x="467763" y="1001228"/>
            <a:chExt cx="4687542" cy="2062236"/>
          </a:xfrm>
        </p:grpSpPr>
        <p:sp>
          <p:nvSpPr>
            <p:cNvPr id="12" name="Rectangle 11">
              <a:extLst>
                <a:ext uri="{FF2B5EF4-FFF2-40B4-BE49-F238E27FC236}">
                  <a16:creationId xmlns:a16="http://schemas.microsoft.com/office/drawing/2014/main" id="{22267EC3-926D-9FA8-37BF-0521A75909C7}"/>
                </a:ext>
              </a:extLst>
            </p:cNvPr>
            <p:cNvSpPr/>
            <p:nvPr/>
          </p:nvSpPr>
          <p:spPr>
            <a:xfrm>
              <a:off x="467763" y="1001228"/>
              <a:ext cx="4687542" cy="339114"/>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Technological</a:t>
              </a:r>
              <a:endParaRPr lang="en-US" noProof="0" dirty="0">
                <a:cs typeface="Calibri"/>
              </a:endParaRPr>
            </a:p>
          </p:txBody>
        </p:sp>
        <p:sp>
          <p:nvSpPr>
            <p:cNvPr id="13" name="Rectangle 12">
              <a:extLst>
                <a:ext uri="{FF2B5EF4-FFF2-40B4-BE49-F238E27FC236}">
                  <a16:creationId xmlns:a16="http://schemas.microsoft.com/office/drawing/2014/main" id="{671906B7-ADE5-9802-CDF6-594C2962D051}"/>
                </a:ext>
              </a:extLst>
            </p:cNvPr>
            <p:cNvSpPr/>
            <p:nvPr/>
          </p:nvSpPr>
          <p:spPr>
            <a:xfrm>
              <a:off x="475681" y="1340342"/>
              <a:ext cx="4678045" cy="1723122"/>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a:buFontTx/>
                <a:buChar char="-"/>
              </a:pPr>
              <a:r>
                <a:rPr lang="en-US" dirty="0">
                  <a:solidFill>
                    <a:schemeClr val="tx1"/>
                  </a:solidFill>
                </a:rPr>
                <a:t>Advancement in precision agriculture</a:t>
              </a:r>
            </a:p>
            <a:p>
              <a:pPr marL="285750" lvl="0" indent="-285750" algn="l">
                <a:buFontTx/>
                <a:buChar char="-"/>
              </a:pPr>
              <a:r>
                <a:rPr lang="en-US" dirty="0">
                  <a:solidFill>
                    <a:schemeClr val="tx1"/>
                  </a:solidFill>
                </a:rPr>
                <a:t>Data-driven decision making in farming</a:t>
              </a:r>
            </a:p>
            <a:p>
              <a:pPr marL="285750" lvl="0" indent="-285750" algn="l">
                <a:buFontTx/>
                <a:buChar char="-"/>
              </a:pPr>
              <a:r>
                <a:rPr lang="en-US" dirty="0">
                  <a:solidFill>
                    <a:schemeClr val="tx1"/>
                  </a:solidFill>
                </a:rPr>
                <a:t>Integration of AI and machine learning</a:t>
              </a:r>
            </a:p>
            <a:p>
              <a:pPr marL="285750" lvl="0" indent="-285750" algn="l">
                <a:buFontTx/>
                <a:buChar char="-"/>
              </a:pPr>
              <a:r>
                <a:rPr lang="en-US" dirty="0">
                  <a:solidFill>
                    <a:schemeClr val="tx1"/>
                  </a:solidFill>
                </a:rPr>
                <a:t>Platform for future agricultural innovations</a:t>
              </a:r>
              <a:endParaRPr lang="en-GB" dirty="0">
                <a:solidFill>
                  <a:schemeClr val="tx1"/>
                </a:solidFill>
              </a:endParaRPr>
            </a:p>
          </p:txBody>
        </p:sp>
      </p:grpSp>
    </p:spTree>
    <p:extLst>
      <p:ext uri="{BB962C8B-B14F-4D97-AF65-F5344CB8AC3E}">
        <p14:creationId xmlns:p14="http://schemas.microsoft.com/office/powerpoint/2010/main" val="3223217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AE685-556B-1CBA-61A4-CC32295DB5C9}"/>
              </a:ext>
            </a:extLst>
          </p:cNvPr>
          <p:cNvSpPr>
            <a:spLocks noGrp="1"/>
          </p:cNvSpPr>
          <p:nvPr>
            <p:ph type="title"/>
          </p:nvPr>
        </p:nvSpPr>
        <p:spPr>
          <a:xfrm>
            <a:off x="419637" y="202933"/>
            <a:ext cx="10515600" cy="1325563"/>
          </a:xfrm>
        </p:spPr>
        <p:txBody>
          <a:bodyPr>
            <a:normAutofit/>
          </a:bodyPr>
          <a:lstStyle/>
          <a:p>
            <a:r>
              <a:rPr lang="en-DE" dirty="0"/>
              <a:t>SWOT Analysis</a:t>
            </a:r>
          </a:p>
        </p:txBody>
      </p:sp>
      <p:grpSp>
        <p:nvGrpSpPr>
          <p:cNvPr id="4" name="Group 3">
            <a:extLst>
              <a:ext uri="{FF2B5EF4-FFF2-40B4-BE49-F238E27FC236}">
                <a16:creationId xmlns:a16="http://schemas.microsoft.com/office/drawing/2014/main" id="{10F835EB-519B-22EC-C79C-790C8DA85FC9}"/>
              </a:ext>
            </a:extLst>
          </p:cNvPr>
          <p:cNvGrpSpPr/>
          <p:nvPr/>
        </p:nvGrpSpPr>
        <p:grpSpPr>
          <a:xfrm>
            <a:off x="419637" y="1965717"/>
            <a:ext cx="5851739" cy="3527067"/>
            <a:chOff x="467763" y="1001229"/>
            <a:chExt cx="4687542" cy="1249021"/>
          </a:xfrm>
        </p:grpSpPr>
        <p:sp>
          <p:nvSpPr>
            <p:cNvPr id="5" name="Rectangle 4">
              <a:extLst>
                <a:ext uri="{FF2B5EF4-FFF2-40B4-BE49-F238E27FC236}">
                  <a16:creationId xmlns:a16="http://schemas.microsoft.com/office/drawing/2014/main" id="{210427AA-C9AA-1676-6735-C2BE4FEE716D}"/>
                </a:ext>
              </a:extLst>
            </p:cNvPr>
            <p:cNvSpPr/>
            <p:nvPr/>
          </p:nvSpPr>
          <p:spPr>
            <a:xfrm>
              <a:off x="467763" y="1001229"/>
              <a:ext cx="4687542" cy="213326"/>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ea typeface="Calibri"/>
                  <a:cs typeface="Calibri"/>
                </a:rPr>
                <a:t>Strength</a:t>
              </a:r>
              <a:endParaRPr lang="en-US" noProof="0">
                <a:cs typeface="Calibri"/>
              </a:endParaRPr>
            </a:p>
          </p:txBody>
        </p:sp>
        <p:sp>
          <p:nvSpPr>
            <p:cNvPr id="6" name="Rectangle 5">
              <a:extLst>
                <a:ext uri="{FF2B5EF4-FFF2-40B4-BE49-F238E27FC236}">
                  <a16:creationId xmlns:a16="http://schemas.microsoft.com/office/drawing/2014/main" id="{D3C98A44-6CBD-FD87-4B82-4C856A15AE9D}"/>
                </a:ext>
              </a:extLst>
            </p:cNvPr>
            <p:cNvSpPr/>
            <p:nvPr/>
          </p:nvSpPr>
          <p:spPr>
            <a:xfrm>
              <a:off x="475681" y="1214555"/>
              <a:ext cx="4678046" cy="1035695"/>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r>
                <a:rPr lang="en-DE" sz="2000" dirty="0">
                  <a:solidFill>
                    <a:schemeClr val="tx1"/>
                  </a:solidFill>
                </a:rPr>
                <a:t>- </a:t>
              </a:r>
              <a:r>
                <a:rPr lang="en-GB" dirty="0">
                  <a:solidFill>
                    <a:schemeClr val="tx1"/>
                  </a:solidFill>
                </a:rPr>
                <a:t>Expert drone and software team</a:t>
              </a:r>
              <a:br>
                <a:rPr lang="en-GB" dirty="0">
                  <a:solidFill>
                    <a:schemeClr val="tx1"/>
                  </a:solidFill>
                </a:rPr>
              </a:br>
              <a:r>
                <a:rPr lang="en-DE" dirty="0">
                  <a:solidFill>
                    <a:schemeClr val="tx1"/>
                  </a:solidFill>
                </a:rPr>
                <a:t>- </a:t>
              </a:r>
              <a:r>
                <a:rPr lang="en-GB" dirty="0">
                  <a:solidFill>
                    <a:schemeClr val="tx1"/>
                  </a:solidFill>
                </a:rPr>
                <a:t>High-resolution cameras &amp; multispectral sensors for precision monitoring</a:t>
              </a:r>
              <a:br>
                <a:rPr lang="en-GB" dirty="0">
                  <a:solidFill>
                    <a:schemeClr val="tx1"/>
                  </a:solidFill>
                </a:rPr>
              </a:br>
              <a:r>
                <a:rPr lang="en-DE" dirty="0">
                  <a:solidFill>
                    <a:schemeClr val="tx1"/>
                  </a:solidFill>
                </a:rPr>
                <a:t>- </a:t>
              </a:r>
              <a:r>
                <a:rPr lang="en-GB" dirty="0">
                  <a:solidFill>
                    <a:schemeClr val="tx1"/>
                  </a:solidFill>
                </a:rPr>
                <a:t>Cost savings by optimising water, fertiliser, pesticide use</a:t>
              </a:r>
              <a:br>
                <a:rPr lang="en-GB" dirty="0">
                  <a:solidFill>
                    <a:schemeClr val="tx1"/>
                  </a:solidFill>
                </a:rPr>
              </a:br>
              <a:r>
                <a:rPr lang="en-DE" dirty="0">
                  <a:solidFill>
                    <a:schemeClr val="tx1"/>
                  </a:solidFill>
                </a:rPr>
                <a:t>- </a:t>
              </a:r>
              <a:r>
                <a:rPr lang="en-GB" dirty="0">
                  <a:solidFill>
                    <a:schemeClr val="tx1"/>
                  </a:solidFill>
                </a:rPr>
                <a:t>Compliance with EU sustainability regulations</a:t>
              </a:r>
              <a:br>
                <a:rPr lang="en-GB" dirty="0">
                  <a:solidFill>
                    <a:schemeClr val="tx1"/>
                  </a:solidFill>
                </a:rPr>
              </a:br>
              <a:r>
                <a:rPr lang="en-DE" dirty="0">
                  <a:solidFill>
                    <a:schemeClr val="tx1"/>
                  </a:solidFill>
                </a:rPr>
                <a:t>- </a:t>
              </a:r>
              <a:r>
                <a:rPr lang="en-GB" dirty="0">
                  <a:solidFill>
                    <a:schemeClr val="tx1"/>
                  </a:solidFill>
                </a:rPr>
                <a:t>Scalable system reducing manual labour</a:t>
              </a:r>
              <a:br>
                <a:rPr lang="en-GB" dirty="0">
                  <a:solidFill>
                    <a:schemeClr val="tx1"/>
                  </a:solidFill>
                </a:rPr>
              </a:br>
              <a:r>
                <a:rPr lang="en-DE" dirty="0">
                  <a:solidFill>
                    <a:schemeClr val="tx1"/>
                  </a:solidFill>
                </a:rPr>
                <a:t>- </a:t>
              </a:r>
              <a:r>
                <a:rPr lang="en-GB" dirty="0">
                  <a:solidFill>
                    <a:schemeClr val="tx1"/>
                  </a:solidFill>
                </a:rPr>
                <a:t>Strong market differentiation with data-driven insights</a:t>
              </a:r>
              <a:endParaRPr lang="en-US" sz="2000" noProof="0" dirty="0">
                <a:solidFill>
                  <a:schemeClr val="tx1"/>
                </a:solidFill>
                <a:latin typeface="Aptos" panose="020B0004020202020204" pitchFamily="34" charset="0"/>
                <a:ea typeface="Calibri" panose="020F0502020204030204"/>
                <a:cs typeface="Aparajita" panose="02020603050405020304" pitchFamily="18" charset="0"/>
              </a:endParaRPr>
            </a:p>
          </p:txBody>
        </p:sp>
      </p:grpSp>
      <p:grpSp>
        <p:nvGrpSpPr>
          <p:cNvPr id="20" name="Group 19">
            <a:extLst>
              <a:ext uri="{FF2B5EF4-FFF2-40B4-BE49-F238E27FC236}">
                <a16:creationId xmlns:a16="http://schemas.microsoft.com/office/drawing/2014/main" id="{3B961FB8-C4BC-59BC-548B-8027A2FC4B0E}"/>
              </a:ext>
            </a:extLst>
          </p:cNvPr>
          <p:cNvGrpSpPr/>
          <p:nvPr/>
        </p:nvGrpSpPr>
        <p:grpSpPr>
          <a:xfrm>
            <a:off x="6434893" y="1965717"/>
            <a:ext cx="5337470" cy="3527067"/>
            <a:chOff x="467763" y="981595"/>
            <a:chExt cx="4687542" cy="1220040"/>
          </a:xfrm>
        </p:grpSpPr>
        <p:sp>
          <p:nvSpPr>
            <p:cNvPr id="21" name="Rectangle 20">
              <a:extLst>
                <a:ext uri="{FF2B5EF4-FFF2-40B4-BE49-F238E27FC236}">
                  <a16:creationId xmlns:a16="http://schemas.microsoft.com/office/drawing/2014/main" id="{28F10F4E-8158-3B9D-4083-FE79250D2A8E}"/>
                </a:ext>
              </a:extLst>
            </p:cNvPr>
            <p:cNvSpPr/>
            <p:nvPr/>
          </p:nvSpPr>
          <p:spPr>
            <a:xfrm>
              <a:off x="467763" y="981595"/>
              <a:ext cx="4687542" cy="213326"/>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ea typeface="Calibri"/>
                  <a:cs typeface="Calibri"/>
                </a:rPr>
                <a:t>Weaknesses</a:t>
              </a:r>
              <a:endParaRPr lang="en-US" noProof="0">
                <a:cs typeface="Calibri"/>
              </a:endParaRPr>
            </a:p>
          </p:txBody>
        </p:sp>
        <p:sp>
          <p:nvSpPr>
            <p:cNvPr id="22" name="Rectangle 21">
              <a:extLst>
                <a:ext uri="{FF2B5EF4-FFF2-40B4-BE49-F238E27FC236}">
                  <a16:creationId xmlns:a16="http://schemas.microsoft.com/office/drawing/2014/main" id="{53426C6A-781A-36EB-F371-D51291915B35}"/>
                </a:ext>
              </a:extLst>
            </p:cNvPr>
            <p:cNvSpPr/>
            <p:nvPr/>
          </p:nvSpPr>
          <p:spPr>
            <a:xfrm>
              <a:off x="475681" y="1194921"/>
              <a:ext cx="4678046" cy="1006714"/>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r>
                <a:rPr lang="en-GB" dirty="0">
                  <a:solidFill>
                    <a:schemeClr val="tx1"/>
                  </a:solidFill>
                </a:rPr>
                <a:t>- High initial investment &amp; maintenance costs</a:t>
              </a:r>
            </a:p>
            <a:p>
              <a:pPr lvl="0"/>
              <a:r>
                <a:rPr lang="en-GB" dirty="0">
                  <a:solidFill>
                    <a:schemeClr val="tx1"/>
                  </a:solidFill>
                </a:rPr>
                <a:t>- Dependence on weather for accurate data collection</a:t>
              </a:r>
            </a:p>
            <a:p>
              <a:pPr lvl="0"/>
              <a:r>
                <a:rPr lang="en-GB" dirty="0">
                  <a:solidFill>
                    <a:schemeClr val="tx1"/>
                  </a:solidFill>
                </a:rPr>
                <a:t>- Need for farmer training &amp; ongoing software costs</a:t>
              </a:r>
            </a:p>
            <a:p>
              <a:pPr lvl="0"/>
              <a:r>
                <a:rPr lang="en-GB" dirty="0">
                  <a:solidFill>
                    <a:schemeClr val="tx1"/>
                  </a:solidFill>
                </a:rPr>
                <a:t>- Potential drone maintenance and wear issues</a:t>
              </a:r>
              <a:endParaRPr lang="en-US" sz="2000" noProof="0" dirty="0">
                <a:solidFill>
                  <a:schemeClr val="tx1"/>
                </a:solidFill>
                <a:latin typeface="Aptos" panose="020B0004020202020204" pitchFamily="34" charset="0"/>
                <a:ea typeface="Calibri" panose="020F0502020204030204"/>
                <a:cs typeface="Aparajita" panose="02020603050405020304" pitchFamily="18" charset="0"/>
              </a:endParaRPr>
            </a:p>
          </p:txBody>
        </p:sp>
      </p:grpSp>
    </p:spTree>
    <p:extLst>
      <p:ext uri="{BB962C8B-B14F-4D97-AF65-F5344CB8AC3E}">
        <p14:creationId xmlns:p14="http://schemas.microsoft.com/office/powerpoint/2010/main" val="1671116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6A85E-3AA8-87CA-0A32-2890CD1F498E}"/>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7B1FA33A-2E9F-7E2B-7228-6CB1D4588464}"/>
              </a:ext>
            </a:extLst>
          </p:cNvPr>
          <p:cNvGrpSpPr/>
          <p:nvPr/>
        </p:nvGrpSpPr>
        <p:grpSpPr>
          <a:xfrm>
            <a:off x="409752" y="1969075"/>
            <a:ext cx="5851739" cy="3630778"/>
            <a:chOff x="467763" y="1001229"/>
            <a:chExt cx="4687542" cy="1665241"/>
          </a:xfrm>
        </p:grpSpPr>
        <p:sp>
          <p:nvSpPr>
            <p:cNvPr id="7" name="Rectangle 6">
              <a:extLst>
                <a:ext uri="{FF2B5EF4-FFF2-40B4-BE49-F238E27FC236}">
                  <a16:creationId xmlns:a16="http://schemas.microsoft.com/office/drawing/2014/main" id="{1A76CA25-BF21-DA5E-A310-7546DA32F994}"/>
                </a:ext>
              </a:extLst>
            </p:cNvPr>
            <p:cNvSpPr/>
            <p:nvPr/>
          </p:nvSpPr>
          <p:spPr>
            <a:xfrm>
              <a:off x="467763" y="1001229"/>
              <a:ext cx="4687542" cy="306679"/>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ea typeface="Calibri"/>
                  <a:cs typeface="Calibri"/>
                </a:rPr>
                <a:t>Opportunities</a:t>
              </a:r>
              <a:endParaRPr lang="en-US" noProof="0">
                <a:cs typeface="Calibri"/>
              </a:endParaRPr>
            </a:p>
          </p:txBody>
        </p:sp>
        <p:sp>
          <p:nvSpPr>
            <p:cNvPr id="8" name="Rectangle 7">
              <a:extLst>
                <a:ext uri="{FF2B5EF4-FFF2-40B4-BE49-F238E27FC236}">
                  <a16:creationId xmlns:a16="http://schemas.microsoft.com/office/drawing/2014/main" id="{2D116E4E-4895-211C-FF64-29428ABFDBA4}"/>
                </a:ext>
              </a:extLst>
            </p:cNvPr>
            <p:cNvSpPr/>
            <p:nvPr/>
          </p:nvSpPr>
          <p:spPr>
            <a:xfrm>
              <a:off x="475681" y="1307908"/>
              <a:ext cx="4678046" cy="1358562"/>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r>
                <a:rPr lang="en-GB" dirty="0">
                  <a:solidFill>
                    <a:schemeClr val="tx1"/>
                  </a:solidFill>
                </a:rPr>
                <a:t>- Rising demand for sustainable &amp; precision agriculture</a:t>
              </a:r>
            </a:p>
            <a:p>
              <a:pPr lvl="0"/>
              <a:r>
                <a:rPr lang="en-GB" dirty="0">
                  <a:solidFill>
                    <a:schemeClr val="tx1"/>
                  </a:solidFill>
                </a:rPr>
                <a:t>- EU funding &amp; government incentives</a:t>
              </a:r>
              <a:br>
                <a:rPr lang="en-GB" dirty="0">
                  <a:solidFill>
                    <a:schemeClr val="tx1"/>
                  </a:solidFill>
                </a:rPr>
              </a:br>
              <a:r>
                <a:rPr lang="en-GB" dirty="0">
                  <a:solidFill>
                    <a:schemeClr val="tx1"/>
                  </a:solidFill>
                </a:rPr>
                <a:t>- Market growth due to labour shortages &amp; tech adoption by younger farmers</a:t>
              </a:r>
            </a:p>
            <a:p>
              <a:pPr lvl="0"/>
              <a:r>
                <a:rPr lang="en-DE" dirty="0">
                  <a:solidFill>
                    <a:schemeClr val="tx1"/>
                  </a:solidFill>
                </a:rPr>
                <a:t>- </a:t>
              </a:r>
              <a:r>
                <a:rPr lang="en-GB" dirty="0">
                  <a:solidFill>
                    <a:schemeClr val="tx1"/>
                  </a:solidFill>
                </a:rPr>
                <a:t>AI-driven insights &amp; new business models (leasing, pay-per-use)</a:t>
              </a:r>
              <a:br>
                <a:rPr lang="en-GB" dirty="0">
                  <a:solidFill>
                    <a:schemeClr val="tx1"/>
                  </a:solidFill>
                </a:rPr>
              </a:br>
              <a:r>
                <a:rPr lang="en-GB" dirty="0">
                  <a:solidFill>
                    <a:schemeClr val="tx1"/>
                  </a:solidFill>
                </a:rPr>
                <a:t>- Partnerships with cooperatives &amp; research institutions</a:t>
              </a:r>
              <a:endParaRPr lang="en-US" sz="2000" noProof="0" dirty="0">
                <a:solidFill>
                  <a:schemeClr val="tx1"/>
                </a:solidFill>
                <a:latin typeface="Aptos" panose="020B0004020202020204" pitchFamily="34" charset="0"/>
                <a:ea typeface="Calibri" panose="020F0502020204030204"/>
                <a:cs typeface="Aparajita" panose="02020603050405020304" pitchFamily="18" charset="0"/>
              </a:endParaRPr>
            </a:p>
          </p:txBody>
        </p:sp>
      </p:grpSp>
      <p:grpSp>
        <p:nvGrpSpPr>
          <p:cNvPr id="9" name="Group 8">
            <a:extLst>
              <a:ext uri="{FF2B5EF4-FFF2-40B4-BE49-F238E27FC236}">
                <a16:creationId xmlns:a16="http://schemas.microsoft.com/office/drawing/2014/main" id="{AAAB336F-E45A-A54A-579E-ADD3ED1276D2}"/>
              </a:ext>
            </a:extLst>
          </p:cNvPr>
          <p:cNvGrpSpPr/>
          <p:nvPr/>
        </p:nvGrpSpPr>
        <p:grpSpPr>
          <a:xfrm>
            <a:off x="6444779" y="1969075"/>
            <a:ext cx="5337469" cy="3630778"/>
            <a:chOff x="467763" y="981595"/>
            <a:chExt cx="4687542" cy="1158344"/>
          </a:xfrm>
        </p:grpSpPr>
        <p:sp>
          <p:nvSpPr>
            <p:cNvPr id="10" name="Rectangle 9">
              <a:extLst>
                <a:ext uri="{FF2B5EF4-FFF2-40B4-BE49-F238E27FC236}">
                  <a16:creationId xmlns:a16="http://schemas.microsoft.com/office/drawing/2014/main" id="{2488B615-D473-CC49-5FDA-39B274A10BBD}"/>
                </a:ext>
              </a:extLst>
            </p:cNvPr>
            <p:cNvSpPr/>
            <p:nvPr/>
          </p:nvSpPr>
          <p:spPr>
            <a:xfrm>
              <a:off x="467763" y="981595"/>
              <a:ext cx="4687542" cy="213326"/>
            </a:xfrm>
            <a:prstGeom prst="rect">
              <a:avLst/>
            </a:prstGeom>
            <a:solidFill>
              <a:srgbClr val="061F4A"/>
            </a:solidFill>
            <a:ln>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ea typeface="Calibri"/>
                  <a:cs typeface="Calibri"/>
                </a:rPr>
                <a:t>Threats</a:t>
              </a:r>
              <a:endParaRPr lang="en-US" noProof="0">
                <a:cs typeface="Calibri"/>
              </a:endParaRPr>
            </a:p>
          </p:txBody>
        </p:sp>
        <p:sp>
          <p:nvSpPr>
            <p:cNvPr id="11" name="Rectangle 10">
              <a:extLst>
                <a:ext uri="{FF2B5EF4-FFF2-40B4-BE49-F238E27FC236}">
                  <a16:creationId xmlns:a16="http://schemas.microsoft.com/office/drawing/2014/main" id="{A95F188B-2F6A-DD54-4A32-5351949D5CA1}"/>
                </a:ext>
              </a:extLst>
            </p:cNvPr>
            <p:cNvSpPr/>
            <p:nvPr/>
          </p:nvSpPr>
          <p:spPr>
            <a:xfrm>
              <a:off x="475681" y="1194921"/>
              <a:ext cx="4678046" cy="945018"/>
            </a:xfrm>
            <a:prstGeom prst="rect">
              <a:avLst/>
            </a:prstGeom>
            <a:noFill/>
            <a:ln w="28575">
              <a:solidFill>
                <a:srgbClr val="0A2E6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r>
                <a:rPr lang="en-GB" dirty="0">
                  <a:solidFill>
                    <a:schemeClr val="tx1"/>
                  </a:solidFill>
                </a:rPr>
                <a:t>- Data security &amp; regulatory challenges</a:t>
              </a:r>
              <a:br>
                <a:rPr lang="en-GB" dirty="0">
                  <a:solidFill>
                    <a:schemeClr val="tx1"/>
                  </a:solidFill>
                </a:rPr>
              </a:br>
              <a:r>
                <a:rPr lang="en-GB" dirty="0">
                  <a:solidFill>
                    <a:schemeClr val="tx1"/>
                  </a:solidFill>
                </a:rPr>
                <a:t>- Rapid tech evolution requiring continuous innovation</a:t>
              </a:r>
              <a:br>
                <a:rPr lang="en-GB" dirty="0">
                  <a:solidFill>
                    <a:schemeClr val="tx1"/>
                  </a:solidFill>
                </a:rPr>
              </a:br>
              <a:r>
                <a:rPr lang="en-GB" dirty="0">
                  <a:solidFill>
                    <a:schemeClr val="tx1"/>
                  </a:solidFill>
                </a:rPr>
                <a:t>- Competition from alternative precision </a:t>
              </a:r>
              <a:r>
                <a:rPr lang="en-GB" dirty="0" err="1">
                  <a:solidFill>
                    <a:schemeClr val="tx1"/>
                  </a:solidFill>
                </a:rPr>
                <a:t>agri</a:t>
              </a:r>
              <a:r>
                <a:rPr lang="en-GB" dirty="0">
                  <a:solidFill>
                    <a:schemeClr val="tx1"/>
                  </a:solidFill>
                </a:rPr>
                <a:t>-tech solutions</a:t>
              </a:r>
              <a:br>
                <a:rPr lang="en-GB" dirty="0">
                  <a:solidFill>
                    <a:schemeClr val="tx1"/>
                  </a:solidFill>
                </a:rPr>
              </a:br>
              <a:r>
                <a:rPr lang="en-GB" dirty="0">
                  <a:solidFill>
                    <a:schemeClr val="tx1"/>
                  </a:solidFill>
                </a:rPr>
                <a:t>- Environmental risks &amp; resistance from traditional farmers</a:t>
              </a:r>
              <a:br>
                <a:rPr lang="en-GB" dirty="0">
                  <a:solidFill>
                    <a:schemeClr val="tx1"/>
                  </a:solidFill>
                </a:rPr>
              </a:br>
              <a:r>
                <a:rPr lang="en-GB" dirty="0">
                  <a:solidFill>
                    <a:schemeClr val="tx1"/>
                  </a:solidFill>
                </a:rPr>
                <a:t>- Drone interference risks (birds, aircraft, obstacles)</a:t>
              </a:r>
              <a:endParaRPr lang="en-US" noProof="0" dirty="0">
                <a:solidFill>
                  <a:schemeClr val="tx1"/>
                </a:solidFill>
                <a:latin typeface="Aptos" panose="020B0004020202020204" pitchFamily="34" charset="0"/>
                <a:ea typeface="Calibri" panose="020F0502020204030204"/>
                <a:cs typeface="Aparajita" panose="02020603050405020304" pitchFamily="18" charset="0"/>
              </a:endParaRPr>
            </a:p>
          </p:txBody>
        </p:sp>
      </p:grpSp>
      <p:sp>
        <p:nvSpPr>
          <p:cNvPr id="14" name="Title 1">
            <a:extLst>
              <a:ext uri="{FF2B5EF4-FFF2-40B4-BE49-F238E27FC236}">
                <a16:creationId xmlns:a16="http://schemas.microsoft.com/office/drawing/2014/main" id="{CD685811-FB4F-B790-21C3-B2FA511FB8B9}"/>
              </a:ext>
            </a:extLst>
          </p:cNvPr>
          <p:cNvSpPr txBox="1">
            <a:spLocks/>
          </p:cNvSpPr>
          <p:nvPr/>
        </p:nvSpPr>
        <p:spPr>
          <a:xfrm>
            <a:off x="419637" y="2029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DE"/>
              <a:t>SWOT Analysis</a:t>
            </a:r>
            <a:endParaRPr lang="en-DE" dirty="0"/>
          </a:p>
        </p:txBody>
      </p:sp>
    </p:spTree>
    <p:extLst>
      <p:ext uri="{BB962C8B-B14F-4D97-AF65-F5344CB8AC3E}">
        <p14:creationId xmlns:p14="http://schemas.microsoft.com/office/powerpoint/2010/main" val="2314262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084b924-3ab4-4116-9251-9939f695e54c}" enabled="0" method="" siteId="{0084b924-3ab4-4116-9251-9939f695e54c}" removed="1"/>
</clbl:labelList>
</file>

<file path=docProps/app.xml><?xml version="1.0" encoding="utf-8"?>
<Properties xmlns="http://schemas.openxmlformats.org/officeDocument/2006/extended-properties" xmlns:vt="http://schemas.openxmlformats.org/officeDocument/2006/docPropsVTypes">
  <TotalTime>15</TotalTime>
  <Words>2143</Words>
  <Application>Microsoft Office PowerPoint</Application>
  <PresentationFormat>Widescreen</PresentationFormat>
  <Paragraphs>279</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Calibri</vt:lpstr>
      <vt:lpstr>Wingdings</vt:lpstr>
      <vt:lpstr>Wingdings,Sans-Serif</vt:lpstr>
      <vt:lpstr>Office Theme</vt:lpstr>
      <vt:lpstr>Executive Summary</vt:lpstr>
      <vt:lpstr>Situation Analysis </vt:lpstr>
      <vt:lpstr>Solution Options</vt:lpstr>
      <vt:lpstr>Cost – Benefit Analysis</vt:lpstr>
      <vt:lpstr>The long-term financial aspects that make drone implementation a game changer in agriculture</vt:lpstr>
      <vt:lpstr>Benefits</vt:lpstr>
      <vt:lpstr>Cost – Benefit Analysis Conclusion</vt:lpstr>
      <vt:lpstr>Risks and Assumptions</vt:lpstr>
      <vt:lpstr>Recommendation</vt:lpstr>
      <vt:lpstr>Benefits &amp; Market Opportunities</vt:lpstr>
      <vt:lpstr>Implementation Timeline &amp; Compliance</vt:lpstr>
      <vt:lpstr>PowerPoint Presentation</vt:lpstr>
      <vt:lpstr>SWOT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Summary</dc:title>
  <dc:creator>ULStudent:ANNIKA.JUNGFLEISCH</dc:creator>
  <cp:lastModifiedBy>Egor Ru</cp:lastModifiedBy>
  <cp:revision>5</cp:revision>
  <dcterms:created xsi:type="dcterms:W3CDTF">2025-03-05T10:42:48Z</dcterms:created>
  <dcterms:modified xsi:type="dcterms:W3CDTF">2026-05-24T22:35:00Z</dcterms:modified>
</cp:coreProperties>
</file>